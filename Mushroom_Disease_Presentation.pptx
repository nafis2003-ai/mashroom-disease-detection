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4023360" cy="68580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023360" y="0"/>
            <a:ext cx="54864" cy="685800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88720" y="457200"/>
            <a:ext cx="1645920" cy="1097280"/>
          </a:xfrm>
          <a:prstGeom prst="rect">
            <a:avLst/>
          </a:prstGeom>
          <a:noFill/>
        </p:spPr>
        <p:txBody>
          <a:bodyPr wrap="square">
            <a:spAutoFit/>
          </a:bodyPr>
          <a:lstStyle/>
          <a:p>
            <a:pPr algn="ctr"/>
            <a:r>
              <a:rPr sz="5600" b="0" i="0">
                <a:solidFill>
                  <a:srgbClr val="2C3E50"/>
                </a:solidFill>
              </a:rPr>
              <a:t>🍄</a:t>
            </a:r>
          </a:p>
        </p:txBody>
      </p:sp>
      <p:sp>
        <p:nvSpPr>
          <p:cNvPr id="5" name="TextBox 4"/>
          <p:cNvSpPr txBox="1"/>
          <p:nvPr/>
        </p:nvSpPr>
        <p:spPr>
          <a:xfrm>
            <a:off x="182880" y="1508760"/>
            <a:ext cx="3657600" cy="365760"/>
          </a:xfrm>
          <a:prstGeom prst="rect">
            <a:avLst/>
          </a:prstGeom>
          <a:noFill/>
        </p:spPr>
        <p:txBody>
          <a:bodyPr wrap="square">
            <a:spAutoFit/>
          </a:bodyPr>
          <a:lstStyle/>
          <a:p>
            <a:pPr algn="ctr"/>
            <a:r>
              <a:rPr sz="1200" b="0" i="0">
                <a:solidFill>
                  <a:srgbClr val="ABC4DA"/>
                </a:solidFill>
              </a:rPr>
              <a:t>CSE 499B</a:t>
            </a:r>
          </a:p>
        </p:txBody>
      </p:sp>
      <p:sp>
        <p:nvSpPr>
          <p:cNvPr id="6" name="TextBox 5"/>
          <p:cNvSpPr txBox="1"/>
          <p:nvPr/>
        </p:nvSpPr>
        <p:spPr>
          <a:xfrm>
            <a:off x="182880" y="1828800"/>
            <a:ext cx="3657600" cy="365760"/>
          </a:xfrm>
          <a:prstGeom prst="rect">
            <a:avLst/>
          </a:prstGeom>
          <a:noFill/>
        </p:spPr>
        <p:txBody>
          <a:bodyPr wrap="square">
            <a:spAutoFit/>
          </a:bodyPr>
          <a:lstStyle/>
          <a:p>
            <a:pPr algn="ctr"/>
            <a:r>
              <a:rPr sz="1200" b="0" i="0">
                <a:solidFill>
                  <a:srgbClr val="ABC4DA"/>
                </a:solidFill>
              </a:rPr>
              <a:t>Final Year Project</a:t>
            </a:r>
          </a:p>
        </p:txBody>
      </p:sp>
      <p:sp>
        <p:nvSpPr>
          <p:cNvPr id="7" name="Rectangle 6"/>
          <p:cNvSpPr/>
          <p:nvPr/>
        </p:nvSpPr>
        <p:spPr>
          <a:xfrm>
            <a:off x="365760" y="2240280"/>
            <a:ext cx="3246120" cy="36576"/>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2880" y="2377440"/>
            <a:ext cx="3657600" cy="274320"/>
          </a:xfrm>
          <a:prstGeom prst="rect">
            <a:avLst/>
          </a:prstGeom>
          <a:noFill/>
        </p:spPr>
        <p:txBody>
          <a:bodyPr wrap="square">
            <a:spAutoFit/>
          </a:bodyPr>
          <a:lstStyle/>
          <a:p>
            <a:pPr algn="ctr"/>
            <a:r>
              <a:rPr sz="1000" b="1" i="0">
                <a:solidFill>
                  <a:srgbClr val="27AE60"/>
                </a:solidFill>
              </a:rPr>
              <a:t>Students</a:t>
            </a:r>
          </a:p>
        </p:txBody>
      </p:sp>
      <p:sp>
        <p:nvSpPr>
          <p:cNvPr id="9" name="TextBox 8"/>
          <p:cNvSpPr txBox="1"/>
          <p:nvPr/>
        </p:nvSpPr>
        <p:spPr>
          <a:xfrm>
            <a:off x="137160" y="2697480"/>
            <a:ext cx="3749039" cy="347472"/>
          </a:xfrm>
          <a:prstGeom prst="rect">
            <a:avLst/>
          </a:prstGeom>
          <a:noFill/>
        </p:spPr>
        <p:txBody>
          <a:bodyPr wrap="square">
            <a:spAutoFit/>
          </a:bodyPr>
          <a:lstStyle/>
          <a:p>
            <a:pPr algn="ctr"/>
            <a:r>
              <a:rPr sz="1100" b="0" i="0">
                <a:solidFill>
                  <a:srgbClr val="FFFFFF"/>
                </a:solidFill>
              </a:rPr>
              <a:t>Nafis Karim  ·  2221342642</a:t>
            </a:r>
          </a:p>
        </p:txBody>
      </p:sp>
      <p:sp>
        <p:nvSpPr>
          <p:cNvPr id="10" name="TextBox 9"/>
          <p:cNvSpPr txBox="1"/>
          <p:nvPr/>
        </p:nvSpPr>
        <p:spPr>
          <a:xfrm>
            <a:off x="137160" y="3063240"/>
            <a:ext cx="3749039" cy="347472"/>
          </a:xfrm>
          <a:prstGeom prst="rect">
            <a:avLst/>
          </a:prstGeom>
          <a:noFill/>
        </p:spPr>
        <p:txBody>
          <a:bodyPr wrap="square">
            <a:spAutoFit/>
          </a:bodyPr>
          <a:lstStyle/>
          <a:p>
            <a:pPr algn="ctr"/>
            <a:r>
              <a:rPr sz="1100" b="0" i="0">
                <a:solidFill>
                  <a:srgbClr val="FFFFFF"/>
                </a:solidFill>
              </a:rPr>
              <a:t>Susmita Goswami  ·  2221409042</a:t>
            </a:r>
          </a:p>
        </p:txBody>
      </p:sp>
      <p:sp>
        <p:nvSpPr>
          <p:cNvPr id="11" name="TextBox 10"/>
          <p:cNvSpPr txBox="1"/>
          <p:nvPr/>
        </p:nvSpPr>
        <p:spPr>
          <a:xfrm>
            <a:off x="137160" y="3429000"/>
            <a:ext cx="3749039" cy="347472"/>
          </a:xfrm>
          <a:prstGeom prst="rect">
            <a:avLst/>
          </a:prstGeom>
          <a:noFill/>
        </p:spPr>
        <p:txBody>
          <a:bodyPr wrap="square">
            <a:spAutoFit/>
          </a:bodyPr>
          <a:lstStyle/>
          <a:p>
            <a:pPr algn="ctr"/>
            <a:r>
              <a:rPr sz="1100" b="0" i="0">
                <a:solidFill>
                  <a:srgbClr val="FFFFFF"/>
                </a:solidFill>
              </a:rPr>
              <a:t>Ridwan Siddique  ·  2221665043</a:t>
            </a:r>
          </a:p>
        </p:txBody>
      </p:sp>
      <p:sp>
        <p:nvSpPr>
          <p:cNvPr id="12" name="Rectangle 11"/>
          <p:cNvSpPr/>
          <p:nvPr/>
        </p:nvSpPr>
        <p:spPr>
          <a:xfrm>
            <a:off x="365760" y="3867912"/>
            <a:ext cx="3246120" cy="36576"/>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82880" y="3977639"/>
            <a:ext cx="3657600" cy="320040"/>
          </a:xfrm>
          <a:prstGeom prst="rect">
            <a:avLst/>
          </a:prstGeom>
          <a:noFill/>
        </p:spPr>
        <p:txBody>
          <a:bodyPr wrap="square">
            <a:spAutoFit/>
          </a:bodyPr>
          <a:lstStyle/>
          <a:p>
            <a:pPr algn="ctr"/>
            <a:r>
              <a:rPr sz="1100" b="0" i="0">
                <a:solidFill>
                  <a:srgbClr val="ABC4DA"/>
                </a:solidFill>
              </a:rPr>
              <a:t>Supervisor: KAS</a:t>
            </a:r>
          </a:p>
        </p:txBody>
      </p:sp>
      <p:sp>
        <p:nvSpPr>
          <p:cNvPr id="14" name="TextBox 13"/>
          <p:cNvSpPr txBox="1"/>
          <p:nvPr/>
        </p:nvSpPr>
        <p:spPr>
          <a:xfrm>
            <a:off x="4297680" y="640080"/>
            <a:ext cx="7589520" cy="2560320"/>
          </a:xfrm>
          <a:prstGeom prst="rect">
            <a:avLst/>
          </a:prstGeom>
          <a:noFill/>
        </p:spPr>
        <p:txBody>
          <a:bodyPr wrap="square">
            <a:spAutoFit/>
          </a:bodyPr>
          <a:lstStyle/>
          <a:p>
            <a:pPr algn="l"/>
            <a:r>
              <a:rPr sz="3000" b="1" i="0">
                <a:solidFill>
                  <a:srgbClr val="1B3A5C"/>
                </a:solidFill>
              </a:rPr>
              <a:t>Mushroom Disease
Classification and
Ordinal Contamination
Grading System</a:t>
            </a:r>
          </a:p>
        </p:txBody>
      </p:sp>
      <p:sp>
        <p:nvSpPr>
          <p:cNvPr id="15" name="TextBox 14"/>
          <p:cNvSpPr txBox="1"/>
          <p:nvPr/>
        </p:nvSpPr>
        <p:spPr>
          <a:xfrm>
            <a:off x="4297680" y="3154680"/>
            <a:ext cx="7589520" cy="457200"/>
          </a:xfrm>
          <a:prstGeom prst="rect">
            <a:avLst/>
          </a:prstGeom>
          <a:noFill/>
        </p:spPr>
        <p:txBody>
          <a:bodyPr wrap="square">
            <a:spAutoFit/>
          </a:bodyPr>
          <a:lstStyle/>
          <a:p>
            <a:pPr algn="l"/>
            <a:r>
              <a:rPr sz="1600" b="0" i="1">
                <a:solidFill>
                  <a:srgbClr val="27AE60"/>
                </a:solidFill>
              </a:rPr>
              <a:t>with Intelligent Advisory Application</a:t>
            </a:r>
          </a:p>
        </p:txBody>
      </p:sp>
      <p:sp>
        <p:nvSpPr>
          <p:cNvPr id="16" name="Rectangle 15"/>
          <p:cNvSpPr/>
          <p:nvPr/>
        </p:nvSpPr>
        <p:spPr>
          <a:xfrm>
            <a:off x="4297680" y="3703320"/>
            <a:ext cx="7498079" cy="36576"/>
          </a:xfrm>
          <a:prstGeom prst="rect">
            <a:avLst/>
          </a:prstGeom>
          <a:solidFill>
            <a:srgbClr val="D5DB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297680" y="3840480"/>
            <a:ext cx="1737360" cy="777240"/>
          </a:xfrm>
          <a:prstGeom prst="rect">
            <a:avLst/>
          </a:prstGeom>
          <a:solidFill>
            <a:srgbClr val="EBF0F7"/>
          </a:solidFill>
          <a:ln w="6350">
            <a:solidFill>
              <a:srgbClr val="D5DB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297680" y="3840480"/>
            <a:ext cx="1737360" cy="54864"/>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297680" y="3931920"/>
            <a:ext cx="1737360" cy="384048"/>
          </a:xfrm>
          <a:prstGeom prst="rect">
            <a:avLst/>
          </a:prstGeom>
          <a:noFill/>
        </p:spPr>
        <p:txBody>
          <a:bodyPr wrap="square">
            <a:spAutoFit/>
          </a:bodyPr>
          <a:lstStyle/>
          <a:p>
            <a:pPr algn="ctr"/>
            <a:r>
              <a:rPr sz="1800" b="1" i="0">
                <a:solidFill>
                  <a:srgbClr val="1B3A5C"/>
                </a:solidFill>
              </a:rPr>
              <a:t>761</a:t>
            </a:r>
          </a:p>
        </p:txBody>
      </p:sp>
      <p:sp>
        <p:nvSpPr>
          <p:cNvPr id="20" name="TextBox 19"/>
          <p:cNvSpPr txBox="1"/>
          <p:nvPr/>
        </p:nvSpPr>
        <p:spPr>
          <a:xfrm>
            <a:off x="4297680" y="4297680"/>
            <a:ext cx="1737360" cy="292608"/>
          </a:xfrm>
          <a:prstGeom prst="rect">
            <a:avLst/>
          </a:prstGeom>
          <a:noFill/>
        </p:spPr>
        <p:txBody>
          <a:bodyPr wrap="square">
            <a:spAutoFit/>
          </a:bodyPr>
          <a:lstStyle/>
          <a:p>
            <a:pPr algn="ctr"/>
            <a:r>
              <a:rPr sz="1000" b="0" i="0">
                <a:solidFill>
                  <a:srgbClr val="5D6D7E"/>
                </a:solidFill>
              </a:rPr>
              <a:t>Images</a:t>
            </a:r>
          </a:p>
        </p:txBody>
      </p:sp>
      <p:sp>
        <p:nvSpPr>
          <p:cNvPr id="21" name="Rectangle 20"/>
          <p:cNvSpPr/>
          <p:nvPr/>
        </p:nvSpPr>
        <p:spPr>
          <a:xfrm>
            <a:off x="6190488" y="3840480"/>
            <a:ext cx="1737360" cy="777240"/>
          </a:xfrm>
          <a:prstGeom prst="rect">
            <a:avLst/>
          </a:prstGeom>
          <a:solidFill>
            <a:srgbClr val="EBF0F7"/>
          </a:solidFill>
          <a:ln w="6350">
            <a:solidFill>
              <a:srgbClr val="D5DB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90488" y="3840480"/>
            <a:ext cx="1737360" cy="54864"/>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190488" y="3931920"/>
            <a:ext cx="1737360" cy="384048"/>
          </a:xfrm>
          <a:prstGeom prst="rect">
            <a:avLst/>
          </a:prstGeom>
          <a:noFill/>
        </p:spPr>
        <p:txBody>
          <a:bodyPr wrap="square">
            <a:spAutoFit/>
          </a:bodyPr>
          <a:lstStyle/>
          <a:p>
            <a:pPr algn="ctr"/>
            <a:r>
              <a:rPr sz="1800" b="1" i="0">
                <a:solidFill>
                  <a:srgbClr val="1B3A5C"/>
                </a:solidFill>
              </a:rPr>
              <a:t>3</a:t>
            </a:r>
          </a:p>
        </p:txBody>
      </p:sp>
      <p:sp>
        <p:nvSpPr>
          <p:cNvPr id="24" name="TextBox 23"/>
          <p:cNvSpPr txBox="1"/>
          <p:nvPr/>
        </p:nvSpPr>
        <p:spPr>
          <a:xfrm>
            <a:off x="6190488" y="4297680"/>
            <a:ext cx="1737360" cy="292608"/>
          </a:xfrm>
          <a:prstGeom prst="rect">
            <a:avLst/>
          </a:prstGeom>
          <a:noFill/>
        </p:spPr>
        <p:txBody>
          <a:bodyPr wrap="square">
            <a:spAutoFit/>
          </a:bodyPr>
          <a:lstStyle/>
          <a:p>
            <a:pPr algn="ctr"/>
            <a:r>
              <a:rPr sz="1000" b="0" i="0">
                <a:solidFill>
                  <a:srgbClr val="5D6D7E"/>
                </a:solidFill>
              </a:rPr>
              <a:t>Classes</a:t>
            </a:r>
          </a:p>
        </p:txBody>
      </p:sp>
      <p:sp>
        <p:nvSpPr>
          <p:cNvPr id="25" name="Rectangle 24"/>
          <p:cNvSpPr/>
          <p:nvPr/>
        </p:nvSpPr>
        <p:spPr>
          <a:xfrm>
            <a:off x="8083296" y="3840480"/>
            <a:ext cx="1737360" cy="777240"/>
          </a:xfrm>
          <a:prstGeom prst="rect">
            <a:avLst/>
          </a:prstGeom>
          <a:solidFill>
            <a:srgbClr val="EBF0F7"/>
          </a:solidFill>
          <a:ln w="6350">
            <a:solidFill>
              <a:srgbClr val="D5DB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083296" y="3840480"/>
            <a:ext cx="1737360" cy="54864"/>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83296" y="3931920"/>
            <a:ext cx="1737360" cy="384048"/>
          </a:xfrm>
          <a:prstGeom prst="rect">
            <a:avLst/>
          </a:prstGeom>
          <a:noFill/>
        </p:spPr>
        <p:txBody>
          <a:bodyPr wrap="square">
            <a:spAutoFit/>
          </a:bodyPr>
          <a:lstStyle/>
          <a:p>
            <a:pPr algn="ctr"/>
            <a:r>
              <a:rPr sz="1800" b="1" i="0">
                <a:solidFill>
                  <a:srgbClr val="1B3A5C"/>
                </a:solidFill>
              </a:rPr>
              <a:t>88.03%</a:t>
            </a:r>
          </a:p>
        </p:txBody>
      </p:sp>
      <p:sp>
        <p:nvSpPr>
          <p:cNvPr id="28" name="TextBox 27"/>
          <p:cNvSpPr txBox="1"/>
          <p:nvPr/>
        </p:nvSpPr>
        <p:spPr>
          <a:xfrm>
            <a:off x="8083296" y="4297680"/>
            <a:ext cx="1737360" cy="292608"/>
          </a:xfrm>
          <a:prstGeom prst="rect">
            <a:avLst/>
          </a:prstGeom>
          <a:noFill/>
        </p:spPr>
        <p:txBody>
          <a:bodyPr wrap="square">
            <a:spAutoFit/>
          </a:bodyPr>
          <a:lstStyle/>
          <a:p>
            <a:pPr algn="ctr"/>
            <a:r>
              <a:rPr sz="1000" b="0" i="0">
                <a:solidFill>
                  <a:srgbClr val="5D6D7E"/>
                </a:solidFill>
              </a:rPr>
              <a:t>Test Accuracy</a:t>
            </a:r>
          </a:p>
        </p:txBody>
      </p:sp>
      <p:sp>
        <p:nvSpPr>
          <p:cNvPr id="29" name="Rectangle 28"/>
          <p:cNvSpPr/>
          <p:nvPr/>
        </p:nvSpPr>
        <p:spPr>
          <a:xfrm>
            <a:off x="9976104" y="3840480"/>
            <a:ext cx="1737360" cy="777240"/>
          </a:xfrm>
          <a:prstGeom prst="rect">
            <a:avLst/>
          </a:prstGeom>
          <a:solidFill>
            <a:srgbClr val="EBF0F7"/>
          </a:solidFill>
          <a:ln w="6350">
            <a:solidFill>
              <a:srgbClr val="D5DB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976104" y="3840480"/>
            <a:ext cx="1737360" cy="54864"/>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976104" y="3931920"/>
            <a:ext cx="1737360" cy="384048"/>
          </a:xfrm>
          <a:prstGeom prst="rect">
            <a:avLst/>
          </a:prstGeom>
          <a:noFill/>
        </p:spPr>
        <p:txBody>
          <a:bodyPr wrap="square">
            <a:spAutoFit/>
          </a:bodyPr>
          <a:lstStyle/>
          <a:p>
            <a:pPr algn="ctr"/>
            <a:r>
              <a:rPr sz="1800" b="1" i="0">
                <a:solidFill>
                  <a:srgbClr val="1B3A5C"/>
                </a:solidFill>
              </a:rPr>
              <a:t>224×224</a:t>
            </a:r>
          </a:p>
        </p:txBody>
      </p:sp>
      <p:sp>
        <p:nvSpPr>
          <p:cNvPr id="32" name="TextBox 31"/>
          <p:cNvSpPr txBox="1"/>
          <p:nvPr/>
        </p:nvSpPr>
        <p:spPr>
          <a:xfrm>
            <a:off x="9976104" y="4297680"/>
            <a:ext cx="1737360" cy="292608"/>
          </a:xfrm>
          <a:prstGeom prst="rect">
            <a:avLst/>
          </a:prstGeom>
          <a:noFill/>
        </p:spPr>
        <p:txBody>
          <a:bodyPr wrap="square">
            <a:spAutoFit/>
          </a:bodyPr>
          <a:lstStyle/>
          <a:p>
            <a:pPr algn="ctr"/>
            <a:r>
              <a:rPr sz="1000" b="0" i="0">
                <a:solidFill>
                  <a:srgbClr val="5D6D7E"/>
                </a:solidFill>
              </a:rPr>
              <a:t>Input Size</a:t>
            </a:r>
          </a:p>
        </p:txBody>
      </p:sp>
      <p:sp>
        <p:nvSpPr>
          <p:cNvPr id="33" name="TextBox 32"/>
          <p:cNvSpPr txBox="1"/>
          <p:nvPr/>
        </p:nvSpPr>
        <p:spPr>
          <a:xfrm>
            <a:off x="4297680" y="4800600"/>
            <a:ext cx="7498079" cy="347472"/>
          </a:xfrm>
          <a:prstGeom prst="rect">
            <a:avLst/>
          </a:prstGeom>
          <a:noFill/>
        </p:spPr>
        <p:txBody>
          <a:bodyPr wrap="square">
            <a:spAutoFit/>
          </a:bodyPr>
          <a:lstStyle/>
          <a:p>
            <a:pPr algn="l"/>
            <a:r>
              <a:rPr sz="1100" b="0" i="1">
                <a:solidFill>
                  <a:srgbClr val="5D6D7E"/>
                </a:solidFill>
              </a:rPr>
              <a:t>EfficientNetV2S  ·  CORN Loss  ·  RAG Advisory  ·  Streamlit Web App</a:t>
            </a:r>
          </a:p>
        </p:txBody>
      </p:sp>
      <p:sp>
        <p:nvSpPr>
          <p:cNvPr id="34" name="TextBox 33"/>
          <p:cNvSpPr txBox="1"/>
          <p:nvPr/>
        </p:nvSpPr>
        <p:spPr>
          <a:xfrm>
            <a:off x="4297680" y="5120640"/>
            <a:ext cx="7498079" cy="320040"/>
          </a:xfrm>
          <a:prstGeom prst="rect">
            <a:avLst/>
          </a:prstGeom>
          <a:noFill/>
        </p:spPr>
        <p:txBody>
          <a:bodyPr wrap="square">
            <a:spAutoFit/>
          </a:bodyPr>
          <a:lstStyle/>
          <a:p>
            <a:pPr algn="l"/>
            <a:r>
              <a:rPr sz="1100" b="0" i="0">
                <a:solidFill>
                  <a:srgbClr val="5D6D7E"/>
                </a:solidFill>
              </a:rPr>
              <a:t>Dataset: Mushroom Development Institute, Savar, Dhaka, Bangladesh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88952" cy="749808"/>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49808"/>
            <a:ext cx="12188952" cy="50292"/>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91440"/>
            <a:ext cx="11521440" cy="566928"/>
          </a:xfrm>
          <a:prstGeom prst="rect">
            <a:avLst/>
          </a:prstGeom>
          <a:noFill/>
        </p:spPr>
        <p:txBody>
          <a:bodyPr wrap="square">
            <a:spAutoFit/>
          </a:bodyPr>
          <a:lstStyle/>
          <a:p>
            <a:pPr algn="l"/>
            <a:r>
              <a:rPr sz="2600" b="1" i="0">
                <a:solidFill>
                  <a:srgbClr val="FFFFFF"/>
                </a:solidFill>
              </a:rPr>
              <a:t>Introduction &amp; Background</a:t>
            </a:r>
          </a:p>
        </p:txBody>
      </p:sp>
      <p:sp>
        <p:nvSpPr>
          <p:cNvPr id="5" name="TextBox 4"/>
          <p:cNvSpPr txBox="1"/>
          <p:nvPr/>
        </p:nvSpPr>
        <p:spPr>
          <a:xfrm>
            <a:off x="320040" y="512064"/>
            <a:ext cx="11521440" cy="256032"/>
          </a:xfrm>
          <a:prstGeom prst="rect">
            <a:avLst/>
          </a:prstGeom>
          <a:noFill/>
        </p:spPr>
        <p:txBody>
          <a:bodyPr wrap="square">
            <a:spAutoFit/>
          </a:bodyPr>
          <a:lstStyle/>
          <a:p>
            <a:pPr algn="l"/>
            <a:r>
              <a:rPr sz="1200" b="0" i="0">
                <a:solidFill>
                  <a:srgbClr val="ABC4DA"/>
                </a:solidFill>
              </a:rPr>
              <a:t>Why mushroom disease detection matters</a:t>
            </a:r>
          </a:p>
        </p:txBody>
      </p:sp>
      <p:sp>
        <p:nvSpPr>
          <p:cNvPr id="6" name="Rectangle 5"/>
          <p:cNvSpPr/>
          <p:nvPr/>
        </p:nvSpPr>
        <p:spPr>
          <a:xfrm>
            <a:off x="0" y="0"/>
            <a:ext cx="12188952" cy="749808"/>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749808"/>
            <a:ext cx="12188952" cy="50292"/>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0040" y="91440"/>
            <a:ext cx="11521440" cy="566928"/>
          </a:xfrm>
          <a:prstGeom prst="rect">
            <a:avLst/>
          </a:prstGeom>
          <a:noFill/>
        </p:spPr>
        <p:txBody>
          <a:bodyPr wrap="square">
            <a:spAutoFit/>
          </a:bodyPr>
          <a:lstStyle/>
          <a:p>
            <a:pPr algn="l"/>
            <a:r>
              <a:rPr sz="2600" b="1" i="0">
                <a:solidFill>
                  <a:srgbClr val="FFFFFF"/>
                </a:solidFill>
              </a:rPr>
              <a:t>Introduction &amp; Background</a:t>
            </a:r>
          </a:p>
        </p:txBody>
      </p:sp>
      <p:sp>
        <p:nvSpPr>
          <p:cNvPr id="9" name="Rectangle 8"/>
          <p:cNvSpPr/>
          <p:nvPr/>
        </p:nvSpPr>
        <p:spPr>
          <a:xfrm>
            <a:off x="274320" y="960120"/>
            <a:ext cx="11640312" cy="658368"/>
          </a:xfrm>
          <a:prstGeom prst="rect">
            <a:avLst/>
          </a:prstGeom>
          <a:solidFill>
            <a:srgbClr val="E8F8F0"/>
          </a:solidFill>
          <a:ln w="6350">
            <a:solidFill>
              <a:srgbClr val="D5DB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74320" y="960120"/>
            <a:ext cx="64008" cy="658368"/>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1005840"/>
            <a:ext cx="11247120" cy="566928"/>
          </a:xfrm>
          <a:prstGeom prst="rect">
            <a:avLst/>
          </a:prstGeom>
          <a:noFill/>
        </p:spPr>
        <p:txBody>
          <a:bodyPr wrap="square">
            <a:spAutoFit/>
          </a:bodyPr>
          <a:lstStyle/>
          <a:p>
            <a:pPr algn="l"/>
            <a:r>
              <a:rPr sz="1250" b="0" i="0">
                <a:solidFill>
                  <a:srgbClr val="2C3E50"/>
                </a:solidFill>
              </a:rPr>
              <a:t>Oyster mushrooms (Pleurotus ostreatus) are among the most widely cultivated edible fungi in Bangladesh. The Mushroom Development Institute (MDI), Savar, Dhaka produces thousands of substrate bags annually. Disease outbreaks can destroy entire batches within 24–48 hours.</a:t>
            </a:r>
          </a:p>
        </p:txBody>
      </p:sp>
      <p:sp>
        <p:nvSpPr>
          <p:cNvPr id="12" name="Rectangle 11"/>
          <p:cNvSpPr/>
          <p:nvPr/>
        </p:nvSpPr>
        <p:spPr>
          <a:xfrm>
            <a:off x="274320" y="1783080"/>
            <a:ext cx="3566160" cy="4754880"/>
          </a:xfrm>
          <a:prstGeom prst="rect">
            <a:avLst/>
          </a:prstGeom>
          <a:solidFill>
            <a:srgbClr val="E8F8F0"/>
          </a:solidFill>
          <a:ln w="6350">
            <a:solidFill>
              <a:srgbClr val="D5DB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4320" y="1783080"/>
            <a:ext cx="3566160" cy="54864"/>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1479" y="1828800"/>
            <a:ext cx="3383279" cy="411480"/>
          </a:xfrm>
          <a:prstGeom prst="rect">
            <a:avLst/>
          </a:prstGeom>
          <a:noFill/>
        </p:spPr>
        <p:txBody>
          <a:bodyPr wrap="square">
            <a:spAutoFit/>
          </a:bodyPr>
          <a:lstStyle/>
          <a:p>
            <a:pPr algn="l"/>
            <a:r>
              <a:rPr sz="1300" b="1" i="0">
                <a:solidFill>
                  <a:srgbClr val="27AE60"/>
                </a:solidFill>
              </a:rPr>
              <a:t>🌏  Real-World Scale</a:t>
            </a:r>
          </a:p>
        </p:txBody>
      </p:sp>
      <p:sp>
        <p:nvSpPr>
          <p:cNvPr id="15" name="Rectangle 14"/>
          <p:cNvSpPr/>
          <p:nvPr/>
        </p:nvSpPr>
        <p:spPr>
          <a:xfrm>
            <a:off x="411479" y="2450591"/>
            <a:ext cx="64008" cy="64008"/>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66928" y="2331720"/>
            <a:ext cx="3200400" cy="310896"/>
          </a:xfrm>
          <a:prstGeom prst="rect">
            <a:avLst/>
          </a:prstGeom>
          <a:noFill/>
        </p:spPr>
        <p:txBody>
          <a:bodyPr wrap="square">
            <a:spAutoFit/>
          </a:bodyPr>
          <a:lstStyle/>
          <a:p>
            <a:pPr algn="l"/>
            <a:r>
              <a:rPr sz="1150" b="0" i="0">
                <a:solidFill>
                  <a:srgbClr val="2C3E50"/>
                </a:solidFill>
              </a:rPr>
              <a:t>Bangladesh produces 10,000+ MT</a:t>
            </a:r>
          </a:p>
        </p:txBody>
      </p:sp>
      <p:sp>
        <p:nvSpPr>
          <p:cNvPr id="17" name="Rectangle 16"/>
          <p:cNvSpPr/>
          <p:nvPr/>
        </p:nvSpPr>
        <p:spPr>
          <a:xfrm>
            <a:off x="411479" y="2761487"/>
            <a:ext cx="64008" cy="64008"/>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66928" y="2642615"/>
            <a:ext cx="3200400" cy="310896"/>
          </a:xfrm>
          <a:prstGeom prst="rect">
            <a:avLst/>
          </a:prstGeom>
          <a:noFill/>
        </p:spPr>
        <p:txBody>
          <a:bodyPr wrap="square">
            <a:spAutoFit/>
          </a:bodyPr>
          <a:lstStyle/>
          <a:p>
            <a:pPr algn="l"/>
            <a:r>
              <a:rPr sz="1150" b="0" i="0">
                <a:solidFill>
                  <a:srgbClr val="2C3E50"/>
                </a:solidFill>
              </a:rPr>
              <a:t>of mushrooms annually</a:t>
            </a:r>
          </a:p>
        </p:txBody>
      </p:sp>
      <p:sp>
        <p:nvSpPr>
          <p:cNvPr id="19" name="Rectangle 18"/>
          <p:cNvSpPr/>
          <p:nvPr/>
        </p:nvSpPr>
        <p:spPr>
          <a:xfrm>
            <a:off x="411479" y="3182111"/>
            <a:ext cx="64008" cy="64008"/>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66928" y="3063239"/>
            <a:ext cx="3200400" cy="310896"/>
          </a:xfrm>
          <a:prstGeom prst="rect">
            <a:avLst/>
          </a:prstGeom>
          <a:noFill/>
        </p:spPr>
        <p:txBody>
          <a:bodyPr wrap="square">
            <a:spAutoFit/>
          </a:bodyPr>
          <a:lstStyle/>
          <a:p>
            <a:pPr algn="l"/>
            <a:r>
              <a:rPr sz="1150" b="0" i="0">
                <a:solidFill>
                  <a:srgbClr val="2C3E50"/>
                </a:solidFill>
              </a:rPr>
              <a:t>MDI Savar is the primary</a:t>
            </a:r>
          </a:p>
        </p:txBody>
      </p:sp>
      <p:sp>
        <p:nvSpPr>
          <p:cNvPr id="21" name="Rectangle 20"/>
          <p:cNvSpPr/>
          <p:nvPr/>
        </p:nvSpPr>
        <p:spPr>
          <a:xfrm>
            <a:off x="411479" y="3493007"/>
            <a:ext cx="64008" cy="64008"/>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66928" y="3374135"/>
            <a:ext cx="3200400" cy="310896"/>
          </a:xfrm>
          <a:prstGeom prst="rect">
            <a:avLst/>
          </a:prstGeom>
          <a:noFill/>
        </p:spPr>
        <p:txBody>
          <a:bodyPr wrap="square">
            <a:spAutoFit/>
          </a:bodyPr>
          <a:lstStyle/>
          <a:p>
            <a:pPr algn="l"/>
            <a:r>
              <a:rPr sz="1150" b="0" i="0">
                <a:solidFill>
                  <a:srgbClr val="2C3E50"/>
                </a:solidFill>
              </a:rPr>
              <a:t>research &amp; cultivation centre</a:t>
            </a:r>
          </a:p>
        </p:txBody>
      </p:sp>
      <p:sp>
        <p:nvSpPr>
          <p:cNvPr id="23" name="Rectangle 22"/>
          <p:cNvSpPr/>
          <p:nvPr/>
        </p:nvSpPr>
        <p:spPr>
          <a:xfrm>
            <a:off x="411479" y="3913631"/>
            <a:ext cx="64008" cy="64008"/>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66928" y="3794759"/>
            <a:ext cx="3200400" cy="310896"/>
          </a:xfrm>
          <a:prstGeom prst="rect">
            <a:avLst/>
          </a:prstGeom>
          <a:noFill/>
        </p:spPr>
        <p:txBody>
          <a:bodyPr wrap="square">
            <a:spAutoFit/>
          </a:bodyPr>
          <a:lstStyle/>
          <a:p>
            <a:pPr algn="l"/>
            <a:r>
              <a:rPr sz="1150" b="0" i="0">
                <a:solidFill>
                  <a:srgbClr val="2C3E50"/>
                </a:solidFill>
              </a:rPr>
              <a:t>Manual inspection of hundreds</a:t>
            </a:r>
          </a:p>
        </p:txBody>
      </p:sp>
      <p:sp>
        <p:nvSpPr>
          <p:cNvPr id="25" name="Rectangle 24"/>
          <p:cNvSpPr/>
          <p:nvPr/>
        </p:nvSpPr>
        <p:spPr>
          <a:xfrm>
            <a:off x="411479" y="4224527"/>
            <a:ext cx="64008" cy="64008"/>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66928" y="4105655"/>
            <a:ext cx="3200400" cy="310896"/>
          </a:xfrm>
          <a:prstGeom prst="rect">
            <a:avLst/>
          </a:prstGeom>
          <a:noFill/>
        </p:spPr>
        <p:txBody>
          <a:bodyPr wrap="square">
            <a:spAutoFit/>
          </a:bodyPr>
          <a:lstStyle/>
          <a:p>
            <a:pPr algn="l"/>
            <a:r>
              <a:rPr sz="1150" b="0" i="0">
                <a:solidFill>
                  <a:srgbClr val="2C3E50"/>
                </a:solidFill>
              </a:rPr>
              <a:t>of bags per day is unreliable</a:t>
            </a:r>
          </a:p>
        </p:txBody>
      </p:sp>
      <p:sp>
        <p:nvSpPr>
          <p:cNvPr id="27" name="Rectangle 26"/>
          <p:cNvSpPr/>
          <p:nvPr/>
        </p:nvSpPr>
        <p:spPr>
          <a:xfrm>
            <a:off x="4023359" y="1783080"/>
            <a:ext cx="3566160" cy="4754880"/>
          </a:xfrm>
          <a:prstGeom prst="rect">
            <a:avLst/>
          </a:prstGeom>
          <a:solidFill>
            <a:srgbClr val="EBF0F7"/>
          </a:solidFill>
          <a:ln w="6350">
            <a:solidFill>
              <a:srgbClr val="D5DB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023359" y="1783080"/>
            <a:ext cx="3566160" cy="54864"/>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160520" y="1828800"/>
            <a:ext cx="3383279" cy="411480"/>
          </a:xfrm>
          <a:prstGeom prst="rect">
            <a:avLst/>
          </a:prstGeom>
          <a:noFill/>
        </p:spPr>
        <p:txBody>
          <a:bodyPr wrap="square">
            <a:spAutoFit/>
          </a:bodyPr>
          <a:lstStyle/>
          <a:p>
            <a:pPr algn="l"/>
            <a:r>
              <a:rPr sz="1300" b="1" i="0">
                <a:solidFill>
                  <a:srgbClr val="1B3A5C"/>
                </a:solidFill>
              </a:rPr>
              <a:t>⚠️  The Disease Problem</a:t>
            </a:r>
          </a:p>
        </p:txBody>
      </p:sp>
      <p:sp>
        <p:nvSpPr>
          <p:cNvPr id="30" name="Rectangle 29"/>
          <p:cNvSpPr/>
          <p:nvPr/>
        </p:nvSpPr>
        <p:spPr>
          <a:xfrm>
            <a:off x="4160520" y="2450591"/>
            <a:ext cx="64008" cy="64008"/>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315968" y="2331720"/>
            <a:ext cx="3200400" cy="310896"/>
          </a:xfrm>
          <a:prstGeom prst="rect">
            <a:avLst/>
          </a:prstGeom>
          <a:noFill/>
        </p:spPr>
        <p:txBody>
          <a:bodyPr wrap="square">
            <a:spAutoFit/>
          </a:bodyPr>
          <a:lstStyle/>
          <a:p>
            <a:pPr algn="l"/>
            <a:r>
              <a:rPr sz="1150" b="0" i="0">
                <a:solidFill>
                  <a:srgbClr val="2C3E50"/>
                </a:solidFill>
              </a:rPr>
              <a:t>Trichoderma (green mold) can</a:t>
            </a:r>
          </a:p>
        </p:txBody>
      </p:sp>
      <p:sp>
        <p:nvSpPr>
          <p:cNvPr id="32" name="Rectangle 31"/>
          <p:cNvSpPr/>
          <p:nvPr/>
        </p:nvSpPr>
        <p:spPr>
          <a:xfrm>
            <a:off x="4160520" y="2761487"/>
            <a:ext cx="64008" cy="64008"/>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315968" y="2642615"/>
            <a:ext cx="3200400" cy="310896"/>
          </a:xfrm>
          <a:prstGeom prst="rect">
            <a:avLst/>
          </a:prstGeom>
          <a:noFill/>
        </p:spPr>
        <p:txBody>
          <a:bodyPr wrap="square">
            <a:spAutoFit/>
          </a:bodyPr>
          <a:lstStyle/>
          <a:p>
            <a:pPr algn="l"/>
            <a:r>
              <a:rPr sz="1150" b="0" i="0">
                <a:solidFill>
                  <a:srgbClr val="2C3E50"/>
                </a:solidFill>
              </a:rPr>
              <a:t>destroy a bag in 48 hours</a:t>
            </a:r>
          </a:p>
        </p:txBody>
      </p:sp>
      <p:sp>
        <p:nvSpPr>
          <p:cNvPr id="34" name="Rectangle 33"/>
          <p:cNvSpPr/>
          <p:nvPr/>
        </p:nvSpPr>
        <p:spPr>
          <a:xfrm>
            <a:off x="4160520" y="3182111"/>
            <a:ext cx="64008" cy="64008"/>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315968" y="3063239"/>
            <a:ext cx="3200400" cy="310896"/>
          </a:xfrm>
          <a:prstGeom prst="rect">
            <a:avLst/>
          </a:prstGeom>
          <a:noFill/>
        </p:spPr>
        <p:txBody>
          <a:bodyPr wrap="square">
            <a:spAutoFit/>
          </a:bodyPr>
          <a:lstStyle/>
          <a:p>
            <a:pPr algn="l"/>
            <a:r>
              <a:rPr sz="1150" b="0" i="0">
                <a:solidFill>
                  <a:srgbClr val="2C3E50"/>
                </a:solidFill>
              </a:rPr>
              <a:t>Mixed infections are hardest</a:t>
            </a:r>
          </a:p>
        </p:txBody>
      </p:sp>
      <p:sp>
        <p:nvSpPr>
          <p:cNvPr id="36" name="Rectangle 35"/>
          <p:cNvSpPr/>
          <p:nvPr/>
        </p:nvSpPr>
        <p:spPr>
          <a:xfrm>
            <a:off x="4160520" y="3493007"/>
            <a:ext cx="64008" cy="64008"/>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315968" y="3374135"/>
            <a:ext cx="3200400" cy="310896"/>
          </a:xfrm>
          <a:prstGeom prst="rect">
            <a:avLst/>
          </a:prstGeom>
          <a:noFill/>
        </p:spPr>
        <p:txBody>
          <a:bodyPr wrap="square">
            <a:spAutoFit/>
          </a:bodyPr>
          <a:lstStyle/>
          <a:p>
            <a:pPr algn="l"/>
            <a:r>
              <a:rPr sz="1150" b="0" i="0">
                <a:solidFill>
                  <a:srgbClr val="2C3E50"/>
                </a:solidFill>
              </a:rPr>
              <a:t>to identify visually</a:t>
            </a:r>
          </a:p>
        </p:txBody>
      </p:sp>
      <p:sp>
        <p:nvSpPr>
          <p:cNvPr id="38" name="Rectangle 37"/>
          <p:cNvSpPr/>
          <p:nvPr/>
        </p:nvSpPr>
        <p:spPr>
          <a:xfrm>
            <a:off x="4160520" y="3913631"/>
            <a:ext cx="64008" cy="64008"/>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315968" y="3794759"/>
            <a:ext cx="3200400" cy="310896"/>
          </a:xfrm>
          <a:prstGeom prst="rect">
            <a:avLst/>
          </a:prstGeom>
          <a:noFill/>
        </p:spPr>
        <p:txBody>
          <a:bodyPr wrap="square">
            <a:spAutoFit/>
          </a:bodyPr>
          <a:lstStyle/>
          <a:p>
            <a:pPr algn="l"/>
            <a:r>
              <a:rPr sz="1150" b="0" i="0">
                <a:solidFill>
                  <a:srgbClr val="2C3E50"/>
                </a:solidFill>
              </a:rPr>
              <a:t>Farmers often discard healthy</a:t>
            </a:r>
          </a:p>
        </p:txBody>
      </p:sp>
      <p:sp>
        <p:nvSpPr>
          <p:cNvPr id="40" name="Rectangle 39"/>
          <p:cNvSpPr/>
          <p:nvPr/>
        </p:nvSpPr>
        <p:spPr>
          <a:xfrm>
            <a:off x="4160520" y="4224527"/>
            <a:ext cx="64008" cy="64008"/>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315968" y="4105655"/>
            <a:ext cx="3200400" cy="310896"/>
          </a:xfrm>
          <a:prstGeom prst="rect">
            <a:avLst/>
          </a:prstGeom>
          <a:noFill/>
        </p:spPr>
        <p:txBody>
          <a:bodyPr wrap="square">
            <a:spAutoFit/>
          </a:bodyPr>
          <a:lstStyle/>
          <a:p>
            <a:pPr algn="l"/>
            <a:r>
              <a:rPr sz="1150" b="0" i="0">
                <a:solidFill>
                  <a:srgbClr val="2C3E50"/>
                </a:solidFill>
              </a:rPr>
              <a:t>bags out of caution — lost revenue</a:t>
            </a:r>
          </a:p>
        </p:txBody>
      </p:sp>
      <p:sp>
        <p:nvSpPr>
          <p:cNvPr id="42" name="Rectangle 41"/>
          <p:cNvSpPr/>
          <p:nvPr/>
        </p:nvSpPr>
        <p:spPr>
          <a:xfrm>
            <a:off x="7772400" y="1783080"/>
            <a:ext cx="3566160" cy="4754880"/>
          </a:xfrm>
          <a:prstGeom prst="rect">
            <a:avLst/>
          </a:prstGeom>
          <a:solidFill>
            <a:srgbClr val="E8F8F0"/>
          </a:solidFill>
          <a:ln w="6350">
            <a:solidFill>
              <a:srgbClr val="D5DB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7772400" y="1783080"/>
            <a:ext cx="3566160" cy="54864"/>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909560" y="1828800"/>
            <a:ext cx="3383279" cy="411480"/>
          </a:xfrm>
          <a:prstGeom prst="rect">
            <a:avLst/>
          </a:prstGeom>
          <a:noFill/>
        </p:spPr>
        <p:txBody>
          <a:bodyPr wrap="square">
            <a:spAutoFit/>
          </a:bodyPr>
          <a:lstStyle/>
          <a:p>
            <a:pPr algn="l"/>
            <a:r>
              <a:rPr sz="1300" b="1" i="0">
                <a:solidFill>
                  <a:srgbClr val="27AE60"/>
                </a:solidFill>
              </a:rPr>
              <a:t>🤖  AI Opportunity</a:t>
            </a:r>
          </a:p>
        </p:txBody>
      </p:sp>
      <p:sp>
        <p:nvSpPr>
          <p:cNvPr id="45" name="Rectangle 44"/>
          <p:cNvSpPr/>
          <p:nvPr/>
        </p:nvSpPr>
        <p:spPr>
          <a:xfrm>
            <a:off x="7909560" y="2450591"/>
            <a:ext cx="64008" cy="64008"/>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065008" y="2331720"/>
            <a:ext cx="3200400" cy="310896"/>
          </a:xfrm>
          <a:prstGeom prst="rect">
            <a:avLst/>
          </a:prstGeom>
          <a:noFill/>
        </p:spPr>
        <p:txBody>
          <a:bodyPr wrap="square">
            <a:spAutoFit/>
          </a:bodyPr>
          <a:lstStyle/>
          <a:p>
            <a:pPr algn="l"/>
            <a:r>
              <a:rPr sz="1150" b="0" i="0">
                <a:solidFill>
                  <a:srgbClr val="2C3E50"/>
                </a:solidFill>
              </a:rPr>
              <a:t>Computer vision can detect</a:t>
            </a:r>
          </a:p>
        </p:txBody>
      </p:sp>
      <p:sp>
        <p:nvSpPr>
          <p:cNvPr id="47" name="Rectangle 46"/>
          <p:cNvSpPr/>
          <p:nvPr/>
        </p:nvSpPr>
        <p:spPr>
          <a:xfrm>
            <a:off x="7909560" y="2761487"/>
            <a:ext cx="64008" cy="64008"/>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065008" y="2642615"/>
            <a:ext cx="3200400" cy="310896"/>
          </a:xfrm>
          <a:prstGeom prst="rect">
            <a:avLst/>
          </a:prstGeom>
          <a:noFill/>
        </p:spPr>
        <p:txBody>
          <a:bodyPr wrap="square">
            <a:spAutoFit/>
          </a:bodyPr>
          <a:lstStyle/>
          <a:p>
            <a:pPr algn="l"/>
            <a:r>
              <a:rPr sz="1150" b="0" i="0">
                <a:solidFill>
                  <a:srgbClr val="2C3E50"/>
                </a:solidFill>
              </a:rPr>
              <a:t>disease at Grade 0/1/2 severity</a:t>
            </a:r>
          </a:p>
        </p:txBody>
      </p:sp>
      <p:sp>
        <p:nvSpPr>
          <p:cNvPr id="49" name="Rectangle 48"/>
          <p:cNvSpPr/>
          <p:nvPr/>
        </p:nvSpPr>
        <p:spPr>
          <a:xfrm>
            <a:off x="7909560" y="3182111"/>
            <a:ext cx="64008" cy="64008"/>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065008" y="3063239"/>
            <a:ext cx="3200400" cy="310896"/>
          </a:xfrm>
          <a:prstGeom prst="rect">
            <a:avLst/>
          </a:prstGeom>
          <a:noFill/>
        </p:spPr>
        <p:txBody>
          <a:bodyPr wrap="square">
            <a:spAutoFit/>
          </a:bodyPr>
          <a:lstStyle/>
          <a:p>
            <a:pPr algn="l"/>
            <a:r>
              <a:rPr sz="1150" b="0" i="0">
                <a:solidFill>
                  <a:srgbClr val="2C3E50"/>
                </a:solidFill>
              </a:rPr>
              <a:t>Ordinal grading gives actionable</a:t>
            </a:r>
          </a:p>
        </p:txBody>
      </p:sp>
      <p:sp>
        <p:nvSpPr>
          <p:cNvPr id="51" name="Rectangle 50"/>
          <p:cNvSpPr/>
          <p:nvPr/>
        </p:nvSpPr>
        <p:spPr>
          <a:xfrm>
            <a:off x="7909560" y="3493007"/>
            <a:ext cx="64008" cy="64008"/>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065008" y="3374135"/>
            <a:ext cx="3200400" cy="310896"/>
          </a:xfrm>
          <a:prstGeom prst="rect">
            <a:avLst/>
          </a:prstGeom>
          <a:noFill/>
        </p:spPr>
        <p:txBody>
          <a:bodyPr wrap="square">
            <a:spAutoFit/>
          </a:bodyPr>
          <a:lstStyle/>
          <a:p>
            <a:pPr algn="l"/>
            <a:r>
              <a:rPr sz="1150" b="0" i="0">
                <a:solidFill>
                  <a:srgbClr val="2C3E50"/>
                </a:solidFill>
              </a:rPr>
              <a:t>advice (isolate vs. discard)</a:t>
            </a:r>
          </a:p>
        </p:txBody>
      </p:sp>
      <p:sp>
        <p:nvSpPr>
          <p:cNvPr id="53" name="Rectangle 52"/>
          <p:cNvSpPr/>
          <p:nvPr/>
        </p:nvSpPr>
        <p:spPr>
          <a:xfrm>
            <a:off x="7909560" y="3913631"/>
            <a:ext cx="64008" cy="64008"/>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065008" y="3794759"/>
            <a:ext cx="3200400" cy="310896"/>
          </a:xfrm>
          <a:prstGeom prst="rect">
            <a:avLst/>
          </a:prstGeom>
          <a:noFill/>
        </p:spPr>
        <p:txBody>
          <a:bodyPr wrap="square">
            <a:spAutoFit/>
          </a:bodyPr>
          <a:lstStyle/>
          <a:p>
            <a:pPr algn="l"/>
            <a:r>
              <a:rPr sz="1150" b="0" i="0">
                <a:solidFill>
                  <a:srgbClr val="2C3E50"/>
                </a:solidFill>
              </a:rPr>
              <a:t>RAG chatbot provides expert</a:t>
            </a:r>
          </a:p>
        </p:txBody>
      </p:sp>
      <p:sp>
        <p:nvSpPr>
          <p:cNvPr id="55" name="Rectangle 54"/>
          <p:cNvSpPr/>
          <p:nvPr/>
        </p:nvSpPr>
        <p:spPr>
          <a:xfrm>
            <a:off x="7909560" y="4224527"/>
            <a:ext cx="64008" cy="64008"/>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065008" y="4105655"/>
            <a:ext cx="3200400" cy="310896"/>
          </a:xfrm>
          <a:prstGeom prst="rect">
            <a:avLst/>
          </a:prstGeom>
          <a:noFill/>
        </p:spPr>
        <p:txBody>
          <a:bodyPr wrap="square">
            <a:spAutoFit/>
          </a:bodyPr>
          <a:lstStyle/>
          <a:p>
            <a:pPr algn="l"/>
            <a:r>
              <a:rPr sz="1150" b="0" i="0">
                <a:solidFill>
                  <a:srgbClr val="2C3E50"/>
                </a:solidFill>
              </a:rPr>
              <a:t>knowledge on demand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88952" cy="749808"/>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49808"/>
            <a:ext cx="12188952" cy="50292"/>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91440"/>
            <a:ext cx="11521440" cy="566928"/>
          </a:xfrm>
          <a:prstGeom prst="rect">
            <a:avLst/>
          </a:prstGeom>
          <a:noFill/>
        </p:spPr>
        <p:txBody>
          <a:bodyPr wrap="square">
            <a:spAutoFit/>
          </a:bodyPr>
          <a:lstStyle/>
          <a:p>
            <a:pPr algn="l"/>
            <a:r>
              <a:rPr sz="2600" b="1" i="0">
                <a:solidFill>
                  <a:srgbClr val="FFFFFF"/>
                </a:solidFill>
              </a:rPr>
              <a:t>Problem Statement</a:t>
            </a:r>
          </a:p>
        </p:txBody>
      </p:sp>
      <p:sp>
        <p:nvSpPr>
          <p:cNvPr id="5" name="Rectangle 4"/>
          <p:cNvSpPr/>
          <p:nvPr/>
        </p:nvSpPr>
        <p:spPr>
          <a:xfrm>
            <a:off x="914400" y="960120"/>
            <a:ext cx="10332720" cy="9144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1005840"/>
            <a:ext cx="9966960" cy="822960"/>
          </a:xfrm>
          <a:prstGeom prst="rect">
            <a:avLst/>
          </a:prstGeom>
          <a:noFill/>
        </p:spPr>
        <p:txBody>
          <a:bodyPr wrap="square">
            <a:spAutoFit/>
          </a:bodyPr>
          <a:lstStyle/>
          <a:p>
            <a:pPr algn="ctr"/>
            <a:r>
              <a:rPr sz="1400" b="1" i="0">
                <a:solidFill>
                  <a:srgbClr val="FFFFFF"/>
                </a:solidFill>
              </a:rPr>
              <a:t>How can we automatically classify and grade the severity of mushroom substrate bag disease using deep learning — providing actionable ordinal grades and expert advisory — to support farmers in real time?</a:t>
            </a:r>
          </a:p>
        </p:txBody>
      </p:sp>
      <p:sp>
        <p:nvSpPr>
          <p:cNvPr id="7" name="Rectangle 6"/>
          <p:cNvSpPr/>
          <p:nvPr/>
        </p:nvSpPr>
        <p:spPr>
          <a:xfrm>
            <a:off x="274320" y="2057400"/>
            <a:ext cx="5669280" cy="2011680"/>
          </a:xfrm>
          <a:prstGeom prst="rect">
            <a:avLst/>
          </a:prstGeom>
          <a:solidFill>
            <a:srgbClr val="EBF0F7"/>
          </a:solidFill>
          <a:ln w="6350">
            <a:solidFill>
              <a:srgbClr val="D5DB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4320" y="2057400"/>
            <a:ext cx="5669280" cy="64008"/>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74320" y="2057400"/>
            <a:ext cx="64008" cy="201168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167128"/>
            <a:ext cx="5303520" cy="384048"/>
          </a:xfrm>
          <a:prstGeom prst="rect">
            <a:avLst/>
          </a:prstGeom>
          <a:noFill/>
        </p:spPr>
        <p:txBody>
          <a:bodyPr wrap="square">
            <a:spAutoFit/>
          </a:bodyPr>
          <a:lstStyle/>
          <a:p>
            <a:pPr algn="l"/>
            <a:r>
              <a:rPr sz="1300" b="1" i="0">
                <a:solidFill>
                  <a:srgbClr val="1B3A5C"/>
                </a:solidFill>
              </a:rPr>
              <a:t>1.  Manual Detection is Subjective</a:t>
            </a:r>
          </a:p>
        </p:txBody>
      </p:sp>
      <p:sp>
        <p:nvSpPr>
          <p:cNvPr id="11" name="TextBox 10"/>
          <p:cNvSpPr txBox="1"/>
          <p:nvPr/>
        </p:nvSpPr>
        <p:spPr>
          <a:xfrm>
            <a:off x="457200" y="2587752"/>
            <a:ext cx="5303520" cy="1371600"/>
          </a:xfrm>
          <a:prstGeom prst="rect">
            <a:avLst/>
          </a:prstGeom>
          <a:noFill/>
        </p:spPr>
        <p:txBody>
          <a:bodyPr wrap="square">
            <a:spAutoFit/>
          </a:bodyPr>
          <a:lstStyle/>
          <a:p>
            <a:pPr algn="l"/>
            <a:r>
              <a:rPr sz="1200" b="0" i="0">
                <a:solidFill>
                  <a:srgbClr val="2C3E50"/>
                </a:solidFill>
              </a:rPr>
              <a:t>Farmers identify disease by eye. Different observers give different assessments. No standardised severity scale exists in practice.</a:t>
            </a:r>
          </a:p>
        </p:txBody>
      </p:sp>
      <p:sp>
        <p:nvSpPr>
          <p:cNvPr id="12" name="Rectangle 11"/>
          <p:cNvSpPr/>
          <p:nvPr/>
        </p:nvSpPr>
        <p:spPr>
          <a:xfrm>
            <a:off x="6263640" y="2057400"/>
            <a:ext cx="5669280" cy="2011680"/>
          </a:xfrm>
          <a:prstGeom prst="rect">
            <a:avLst/>
          </a:prstGeom>
          <a:solidFill>
            <a:srgbClr val="EBF0F7"/>
          </a:solidFill>
          <a:ln w="6350">
            <a:solidFill>
              <a:srgbClr val="D5DB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2057400"/>
            <a:ext cx="5669280" cy="64008"/>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2057400"/>
            <a:ext cx="64008" cy="20116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46520" y="2167128"/>
            <a:ext cx="5303520" cy="384048"/>
          </a:xfrm>
          <a:prstGeom prst="rect">
            <a:avLst/>
          </a:prstGeom>
          <a:noFill/>
        </p:spPr>
        <p:txBody>
          <a:bodyPr wrap="square">
            <a:spAutoFit/>
          </a:bodyPr>
          <a:lstStyle/>
          <a:p>
            <a:pPr algn="l"/>
            <a:r>
              <a:rPr sz="1300" b="1" i="0">
                <a:solidFill>
                  <a:srgbClr val="1B3A5C"/>
                </a:solidFill>
              </a:rPr>
              <a:t>2.  No Ordinal Grading System</a:t>
            </a:r>
          </a:p>
        </p:txBody>
      </p:sp>
      <p:sp>
        <p:nvSpPr>
          <p:cNvPr id="16" name="TextBox 15"/>
          <p:cNvSpPr txBox="1"/>
          <p:nvPr/>
        </p:nvSpPr>
        <p:spPr>
          <a:xfrm>
            <a:off x="6446520" y="2587752"/>
            <a:ext cx="5303520" cy="1371600"/>
          </a:xfrm>
          <a:prstGeom prst="rect">
            <a:avLst/>
          </a:prstGeom>
          <a:noFill/>
        </p:spPr>
        <p:txBody>
          <a:bodyPr wrap="square">
            <a:spAutoFit/>
          </a:bodyPr>
          <a:lstStyle/>
          <a:p>
            <a:pPr algn="l"/>
            <a:r>
              <a:rPr sz="1200" b="0" i="0">
                <a:solidFill>
                  <a:srgbClr val="2C3E50"/>
                </a:solidFill>
              </a:rPr>
              <a:t>Existing AI work classifies healthy vs. diseased (binary). No system grades contamination severity as Grade 0, 1, or 2.</a:t>
            </a:r>
          </a:p>
        </p:txBody>
      </p:sp>
      <p:sp>
        <p:nvSpPr>
          <p:cNvPr id="17" name="Rectangle 16"/>
          <p:cNvSpPr/>
          <p:nvPr/>
        </p:nvSpPr>
        <p:spPr>
          <a:xfrm>
            <a:off x="274320" y="4297680"/>
            <a:ext cx="5669280" cy="2011680"/>
          </a:xfrm>
          <a:prstGeom prst="rect">
            <a:avLst/>
          </a:prstGeom>
          <a:solidFill>
            <a:srgbClr val="EBF0F7"/>
          </a:solidFill>
          <a:ln w="6350">
            <a:solidFill>
              <a:srgbClr val="D5DB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74320" y="4297680"/>
            <a:ext cx="5669280" cy="64008"/>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74320" y="4297680"/>
            <a:ext cx="64008" cy="201168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4407408"/>
            <a:ext cx="5303520" cy="384048"/>
          </a:xfrm>
          <a:prstGeom prst="rect">
            <a:avLst/>
          </a:prstGeom>
          <a:noFill/>
        </p:spPr>
        <p:txBody>
          <a:bodyPr wrap="square">
            <a:spAutoFit/>
          </a:bodyPr>
          <a:lstStyle/>
          <a:p>
            <a:pPr algn="l"/>
            <a:r>
              <a:rPr sz="1300" b="1" i="0">
                <a:solidFill>
                  <a:srgbClr val="1B3A5C"/>
                </a:solidFill>
              </a:rPr>
              <a:t>3.  Mixed Infection Overlooked</a:t>
            </a:r>
          </a:p>
        </p:txBody>
      </p:sp>
      <p:sp>
        <p:nvSpPr>
          <p:cNvPr id="21" name="TextBox 20"/>
          <p:cNvSpPr txBox="1"/>
          <p:nvPr/>
        </p:nvSpPr>
        <p:spPr>
          <a:xfrm>
            <a:off x="457200" y="4828032"/>
            <a:ext cx="5303520" cy="1371600"/>
          </a:xfrm>
          <a:prstGeom prst="rect">
            <a:avLst/>
          </a:prstGeom>
          <a:noFill/>
        </p:spPr>
        <p:txBody>
          <a:bodyPr wrap="square">
            <a:spAutoFit/>
          </a:bodyPr>
          <a:lstStyle/>
          <a:p>
            <a:pPr algn="l"/>
            <a:r>
              <a:rPr sz="1200" b="0" i="0">
                <a:solidFill>
                  <a:srgbClr val="2C3E50"/>
                </a:solidFill>
              </a:rPr>
              <a:t>Literature ignores bags infected with multiple pathogens simultaneously — the most common and most dangerous scenario on real farms.</a:t>
            </a:r>
          </a:p>
        </p:txBody>
      </p:sp>
      <p:sp>
        <p:nvSpPr>
          <p:cNvPr id="22" name="Rectangle 21"/>
          <p:cNvSpPr/>
          <p:nvPr/>
        </p:nvSpPr>
        <p:spPr>
          <a:xfrm>
            <a:off x="6263640" y="4297680"/>
            <a:ext cx="5669280" cy="2011680"/>
          </a:xfrm>
          <a:prstGeom prst="rect">
            <a:avLst/>
          </a:prstGeom>
          <a:solidFill>
            <a:srgbClr val="EBF0F7"/>
          </a:solidFill>
          <a:ln w="6350">
            <a:solidFill>
              <a:srgbClr val="D5DB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63640" y="4297680"/>
            <a:ext cx="5669280" cy="64008"/>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63640" y="4297680"/>
            <a:ext cx="64008" cy="20116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46520" y="4407408"/>
            <a:ext cx="5303520" cy="384048"/>
          </a:xfrm>
          <a:prstGeom prst="rect">
            <a:avLst/>
          </a:prstGeom>
          <a:noFill/>
        </p:spPr>
        <p:txBody>
          <a:bodyPr wrap="square">
            <a:spAutoFit/>
          </a:bodyPr>
          <a:lstStyle/>
          <a:p>
            <a:pPr algn="l"/>
            <a:r>
              <a:rPr sz="1300" b="1" i="0">
                <a:solidFill>
                  <a:srgbClr val="1B3A5C"/>
                </a:solidFill>
              </a:rPr>
              <a:t>4.  No Integrated Expert Advisory</a:t>
            </a:r>
          </a:p>
        </p:txBody>
      </p:sp>
      <p:sp>
        <p:nvSpPr>
          <p:cNvPr id="26" name="TextBox 25"/>
          <p:cNvSpPr txBox="1"/>
          <p:nvPr/>
        </p:nvSpPr>
        <p:spPr>
          <a:xfrm>
            <a:off x="6446520" y="4828032"/>
            <a:ext cx="5303520" cy="1371600"/>
          </a:xfrm>
          <a:prstGeom prst="rect">
            <a:avLst/>
          </a:prstGeom>
          <a:noFill/>
        </p:spPr>
        <p:txBody>
          <a:bodyPr wrap="square">
            <a:spAutoFit/>
          </a:bodyPr>
          <a:lstStyle/>
          <a:p>
            <a:pPr algn="l"/>
            <a:r>
              <a:rPr sz="1200" b="0" i="0">
                <a:solidFill>
                  <a:srgbClr val="2C3E50"/>
                </a:solidFill>
              </a:rPr>
              <a:t>Farmers lack access to expert knowledge at the point of detection. A chatbot grounded in mycology literature fills this critical gap.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88952" cy="749808"/>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49808"/>
            <a:ext cx="12188952" cy="50292"/>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91440"/>
            <a:ext cx="11521440" cy="566928"/>
          </a:xfrm>
          <a:prstGeom prst="rect">
            <a:avLst/>
          </a:prstGeom>
          <a:noFill/>
        </p:spPr>
        <p:txBody>
          <a:bodyPr wrap="square">
            <a:spAutoFit/>
          </a:bodyPr>
          <a:lstStyle/>
          <a:p>
            <a:pPr algn="l"/>
            <a:r>
              <a:rPr sz="2600" b="1" i="0">
                <a:solidFill>
                  <a:srgbClr val="FFFFFF"/>
                </a:solidFill>
              </a:rPr>
              <a:t>Objectives</a:t>
            </a:r>
          </a:p>
        </p:txBody>
      </p:sp>
      <p:sp>
        <p:nvSpPr>
          <p:cNvPr id="5" name="Rectangle 4"/>
          <p:cNvSpPr/>
          <p:nvPr/>
        </p:nvSpPr>
        <p:spPr>
          <a:xfrm>
            <a:off x="274320" y="960120"/>
            <a:ext cx="11640312" cy="1207008"/>
          </a:xfrm>
          <a:prstGeom prst="rect">
            <a:avLst/>
          </a:prstGeom>
          <a:solidFill>
            <a:srgbClr val="E8F8F0"/>
          </a:solidFill>
          <a:ln w="6350">
            <a:solidFill>
              <a:srgbClr val="D5DB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960120"/>
            <a:ext cx="64008" cy="1207008"/>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216152"/>
            <a:ext cx="566928" cy="566928"/>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11480" y="1216152"/>
            <a:ext cx="566928" cy="566928"/>
          </a:xfrm>
          <a:prstGeom prst="rect">
            <a:avLst/>
          </a:prstGeom>
          <a:noFill/>
        </p:spPr>
        <p:txBody>
          <a:bodyPr wrap="square">
            <a:spAutoFit/>
          </a:bodyPr>
          <a:lstStyle/>
          <a:p>
            <a:pPr algn="ctr"/>
            <a:r>
              <a:rPr sz="1600" b="1" i="0">
                <a:solidFill>
                  <a:srgbClr val="FFFFFF"/>
                </a:solidFill>
              </a:rPr>
              <a:t>O1</a:t>
            </a:r>
          </a:p>
        </p:txBody>
      </p:sp>
      <p:sp>
        <p:nvSpPr>
          <p:cNvPr id="9" name="TextBox 8"/>
          <p:cNvSpPr txBox="1"/>
          <p:nvPr/>
        </p:nvSpPr>
        <p:spPr>
          <a:xfrm>
            <a:off x="1143000" y="1051560"/>
            <a:ext cx="10515600" cy="384048"/>
          </a:xfrm>
          <a:prstGeom prst="rect">
            <a:avLst/>
          </a:prstGeom>
          <a:noFill/>
        </p:spPr>
        <p:txBody>
          <a:bodyPr wrap="square">
            <a:spAutoFit/>
          </a:bodyPr>
          <a:lstStyle/>
          <a:p>
            <a:pPr algn="l"/>
            <a:r>
              <a:rPr sz="1400" b="1" i="0">
                <a:solidFill>
                  <a:srgbClr val="27AE60"/>
                </a:solidFill>
              </a:rPr>
              <a:t>Build a 3-Class Ordinal Grading System</a:t>
            </a:r>
          </a:p>
        </p:txBody>
      </p:sp>
      <p:sp>
        <p:nvSpPr>
          <p:cNvPr id="10" name="TextBox 9"/>
          <p:cNvSpPr txBox="1"/>
          <p:nvPr/>
        </p:nvSpPr>
        <p:spPr>
          <a:xfrm>
            <a:off x="1143000" y="1472184"/>
            <a:ext cx="10515600" cy="658368"/>
          </a:xfrm>
          <a:prstGeom prst="rect">
            <a:avLst/>
          </a:prstGeom>
          <a:noFill/>
        </p:spPr>
        <p:txBody>
          <a:bodyPr wrap="square">
            <a:spAutoFit/>
          </a:bodyPr>
          <a:lstStyle/>
          <a:p>
            <a:pPr algn="l"/>
            <a:r>
              <a:rPr sz="1250" b="0" i="0">
                <a:solidFill>
                  <a:srgbClr val="2C3E50"/>
                </a:solidFill>
              </a:rPr>
              <a:t>Classify substrate bags as Healthy (Grade 0), Single Infected (Grade 1), or Mixed Infected (Grade 2) using a severity-aware loss function (CORN).</a:t>
            </a:r>
          </a:p>
        </p:txBody>
      </p:sp>
      <p:sp>
        <p:nvSpPr>
          <p:cNvPr id="11" name="Rectangle 10"/>
          <p:cNvSpPr/>
          <p:nvPr/>
        </p:nvSpPr>
        <p:spPr>
          <a:xfrm>
            <a:off x="274320" y="2331720"/>
            <a:ext cx="11640312" cy="1207008"/>
          </a:xfrm>
          <a:prstGeom prst="rect">
            <a:avLst/>
          </a:prstGeom>
          <a:solidFill>
            <a:srgbClr val="EBF0F7"/>
          </a:solidFill>
          <a:ln w="6350">
            <a:solidFill>
              <a:srgbClr val="D5DB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74320" y="2331720"/>
            <a:ext cx="64008" cy="1207008"/>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11480" y="2587752"/>
            <a:ext cx="566928" cy="566928"/>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1480" y="2587752"/>
            <a:ext cx="566928" cy="566928"/>
          </a:xfrm>
          <a:prstGeom prst="rect">
            <a:avLst/>
          </a:prstGeom>
          <a:noFill/>
        </p:spPr>
        <p:txBody>
          <a:bodyPr wrap="square">
            <a:spAutoFit/>
          </a:bodyPr>
          <a:lstStyle/>
          <a:p>
            <a:pPr algn="ctr"/>
            <a:r>
              <a:rPr sz="1600" b="1" i="0">
                <a:solidFill>
                  <a:srgbClr val="FFFFFF"/>
                </a:solidFill>
              </a:rPr>
              <a:t>O2</a:t>
            </a:r>
          </a:p>
        </p:txBody>
      </p:sp>
      <p:sp>
        <p:nvSpPr>
          <p:cNvPr id="15" name="TextBox 14"/>
          <p:cNvSpPr txBox="1"/>
          <p:nvPr/>
        </p:nvSpPr>
        <p:spPr>
          <a:xfrm>
            <a:off x="1143000" y="2423160"/>
            <a:ext cx="10515600" cy="384048"/>
          </a:xfrm>
          <a:prstGeom prst="rect">
            <a:avLst/>
          </a:prstGeom>
          <a:noFill/>
        </p:spPr>
        <p:txBody>
          <a:bodyPr wrap="square">
            <a:spAutoFit/>
          </a:bodyPr>
          <a:lstStyle/>
          <a:p>
            <a:pPr algn="l"/>
            <a:r>
              <a:rPr sz="1400" b="1" i="0">
                <a:solidFill>
                  <a:srgbClr val="1B3A5C"/>
                </a:solidFill>
              </a:rPr>
              <a:t>Apply Transfer Learning with Ordinal Regression</a:t>
            </a:r>
          </a:p>
        </p:txBody>
      </p:sp>
      <p:sp>
        <p:nvSpPr>
          <p:cNvPr id="16" name="TextBox 15"/>
          <p:cNvSpPr txBox="1"/>
          <p:nvPr/>
        </p:nvSpPr>
        <p:spPr>
          <a:xfrm>
            <a:off x="1143000" y="2843784"/>
            <a:ext cx="10515600" cy="658368"/>
          </a:xfrm>
          <a:prstGeom prst="rect">
            <a:avLst/>
          </a:prstGeom>
          <a:noFill/>
        </p:spPr>
        <p:txBody>
          <a:bodyPr wrap="square">
            <a:spAutoFit/>
          </a:bodyPr>
          <a:lstStyle/>
          <a:p>
            <a:pPr algn="l"/>
            <a:r>
              <a:rPr sz="1250" b="0" i="0">
                <a:solidFill>
                  <a:srgbClr val="2C3E50"/>
                </a:solidFill>
              </a:rPr>
              <a:t>Fine-tune EfficientNetV2S on our real-farm dataset using CORN loss — a method that explicitly models the ordinal relationship between grades.</a:t>
            </a:r>
          </a:p>
        </p:txBody>
      </p:sp>
      <p:sp>
        <p:nvSpPr>
          <p:cNvPr id="17" name="Rectangle 16"/>
          <p:cNvSpPr/>
          <p:nvPr/>
        </p:nvSpPr>
        <p:spPr>
          <a:xfrm>
            <a:off x="274320" y="3703320"/>
            <a:ext cx="11640312" cy="1207008"/>
          </a:xfrm>
          <a:prstGeom prst="rect">
            <a:avLst/>
          </a:prstGeom>
          <a:solidFill>
            <a:srgbClr val="E8F8F0"/>
          </a:solidFill>
          <a:ln w="6350">
            <a:solidFill>
              <a:srgbClr val="D5DB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74320" y="3703320"/>
            <a:ext cx="64008" cy="1207008"/>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11480" y="3959352"/>
            <a:ext cx="566928" cy="566928"/>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11480" y="3959352"/>
            <a:ext cx="566928" cy="566928"/>
          </a:xfrm>
          <a:prstGeom prst="rect">
            <a:avLst/>
          </a:prstGeom>
          <a:noFill/>
        </p:spPr>
        <p:txBody>
          <a:bodyPr wrap="square">
            <a:spAutoFit/>
          </a:bodyPr>
          <a:lstStyle/>
          <a:p>
            <a:pPr algn="ctr"/>
            <a:r>
              <a:rPr sz="1600" b="1" i="0">
                <a:solidFill>
                  <a:srgbClr val="FFFFFF"/>
                </a:solidFill>
              </a:rPr>
              <a:t>O3</a:t>
            </a:r>
          </a:p>
        </p:txBody>
      </p:sp>
      <p:sp>
        <p:nvSpPr>
          <p:cNvPr id="21" name="TextBox 20"/>
          <p:cNvSpPr txBox="1"/>
          <p:nvPr/>
        </p:nvSpPr>
        <p:spPr>
          <a:xfrm>
            <a:off x="1143000" y="3794759"/>
            <a:ext cx="10515600" cy="384048"/>
          </a:xfrm>
          <a:prstGeom prst="rect">
            <a:avLst/>
          </a:prstGeom>
          <a:noFill/>
        </p:spPr>
        <p:txBody>
          <a:bodyPr wrap="square">
            <a:spAutoFit/>
          </a:bodyPr>
          <a:lstStyle/>
          <a:p>
            <a:pPr algn="l"/>
            <a:r>
              <a:rPr sz="1400" b="1" i="0">
                <a:solidFill>
                  <a:srgbClr val="27AE60"/>
                </a:solidFill>
              </a:rPr>
              <a:t>Develop a Web Application with Visual Explanation</a:t>
            </a:r>
          </a:p>
        </p:txBody>
      </p:sp>
      <p:sp>
        <p:nvSpPr>
          <p:cNvPr id="22" name="TextBox 21"/>
          <p:cNvSpPr txBox="1"/>
          <p:nvPr/>
        </p:nvSpPr>
        <p:spPr>
          <a:xfrm>
            <a:off x="1143000" y="4215383"/>
            <a:ext cx="10515600" cy="658368"/>
          </a:xfrm>
          <a:prstGeom prst="rect">
            <a:avLst/>
          </a:prstGeom>
          <a:noFill/>
        </p:spPr>
        <p:txBody>
          <a:bodyPr wrap="square">
            <a:spAutoFit/>
          </a:bodyPr>
          <a:lstStyle/>
          <a:p>
            <a:pPr algn="l"/>
            <a:r>
              <a:rPr sz="1250" b="0" i="0">
                <a:solidFill>
                  <a:srgbClr val="2C3E50"/>
                </a:solidFill>
              </a:rPr>
              <a:t>Deploy a Streamlit app with image upload, grade prediction, Grad-CAM heatmaps, and per-class confidence scores for farmers.</a:t>
            </a:r>
          </a:p>
        </p:txBody>
      </p:sp>
      <p:sp>
        <p:nvSpPr>
          <p:cNvPr id="23" name="Rectangle 22"/>
          <p:cNvSpPr/>
          <p:nvPr/>
        </p:nvSpPr>
        <p:spPr>
          <a:xfrm>
            <a:off x="274320" y="5074920"/>
            <a:ext cx="11640312" cy="1207008"/>
          </a:xfrm>
          <a:prstGeom prst="rect">
            <a:avLst/>
          </a:prstGeom>
          <a:solidFill>
            <a:srgbClr val="EBF0F7"/>
          </a:solidFill>
          <a:ln w="6350">
            <a:solidFill>
              <a:srgbClr val="D5DB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274320" y="5074920"/>
            <a:ext cx="64008" cy="1207008"/>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11480" y="5330952"/>
            <a:ext cx="566928" cy="566928"/>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11480" y="5330952"/>
            <a:ext cx="566928" cy="566928"/>
          </a:xfrm>
          <a:prstGeom prst="rect">
            <a:avLst/>
          </a:prstGeom>
          <a:noFill/>
        </p:spPr>
        <p:txBody>
          <a:bodyPr wrap="square">
            <a:spAutoFit/>
          </a:bodyPr>
          <a:lstStyle/>
          <a:p>
            <a:pPr algn="ctr"/>
            <a:r>
              <a:rPr sz="1600" b="1" i="0">
                <a:solidFill>
                  <a:srgbClr val="FFFFFF"/>
                </a:solidFill>
              </a:rPr>
              <a:t>O4</a:t>
            </a:r>
          </a:p>
        </p:txBody>
      </p:sp>
      <p:sp>
        <p:nvSpPr>
          <p:cNvPr id="27" name="TextBox 26"/>
          <p:cNvSpPr txBox="1"/>
          <p:nvPr/>
        </p:nvSpPr>
        <p:spPr>
          <a:xfrm>
            <a:off x="1143000" y="5166359"/>
            <a:ext cx="10515600" cy="384048"/>
          </a:xfrm>
          <a:prstGeom prst="rect">
            <a:avLst/>
          </a:prstGeom>
          <a:noFill/>
        </p:spPr>
        <p:txBody>
          <a:bodyPr wrap="square">
            <a:spAutoFit/>
          </a:bodyPr>
          <a:lstStyle/>
          <a:p>
            <a:pPr algn="l"/>
            <a:r>
              <a:rPr sz="1400" b="1" i="0">
                <a:solidFill>
                  <a:srgbClr val="1B3A5C"/>
                </a:solidFill>
              </a:rPr>
              <a:t>Integrate a RAG-Based Expert Advisory Chatbot</a:t>
            </a:r>
          </a:p>
        </p:txBody>
      </p:sp>
      <p:sp>
        <p:nvSpPr>
          <p:cNvPr id="28" name="TextBox 27"/>
          <p:cNvSpPr txBox="1"/>
          <p:nvPr/>
        </p:nvSpPr>
        <p:spPr>
          <a:xfrm>
            <a:off x="1143000" y="5586983"/>
            <a:ext cx="10515600" cy="658368"/>
          </a:xfrm>
          <a:prstGeom prst="rect">
            <a:avLst/>
          </a:prstGeom>
          <a:noFill/>
        </p:spPr>
        <p:txBody>
          <a:bodyPr wrap="square">
            <a:spAutoFit/>
          </a:bodyPr>
          <a:lstStyle/>
          <a:p>
            <a:pPr algn="l"/>
            <a:r>
              <a:rPr sz="1250" b="0" i="0">
                <a:solidFill>
                  <a:srgbClr val="2C3E50"/>
                </a:solidFill>
              </a:rPr>
              <a:t>Build a Retrieval-Augmented Generation pipeline (ChromaDB + Groq LLM) that answers disease questions grounded in mycology literature.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88952" cy="749808"/>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49808"/>
            <a:ext cx="12188952" cy="50292"/>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91440"/>
            <a:ext cx="11521440" cy="566928"/>
          </a:xfrm>
          <a:prstGeom prst="rect">
            <a:avLst/>
          </a:prstGeom>
          <a:noFill/>
        </p:spPr>
        <p:txBody>
          <a:bodyPr wrap="square">
            <a:spAutoFit/>
          </a:bodyPr>
          <a:lstStyle/>
          <a:p>
            <a:pPr algn="l"/>
            <a:r>
              <a:rPr sz="2600" b="1" i="0">
                <a:solidFill>
                  <a:srgbClr val="FFFFFF"/>
                </a:solidFill>
              </a:rPr>
              <a:t>Literature Review  /  Related Work</a:t>
            </a:r>
          </a:p>
        </p:txBody>
      </p:sp>
      <p:sp>
        <p:nvSpPr>
          <p:cNvPr id="5" name="Rectangle 4"/>
          <p:cNvSpPr/>
          <p:nvPr/>
        </p:nvSpPr>
        <p:spPr>
          <a:xfrm>
            <a:off x="274320" y="960120"/>
            <a:ext cx="11640312" cy="1737360"/>
          </a:xfrm>
          <a:prstGeom prst="rect">
            <a:avLst/>
          </a:prstGeom>
          <a:solidFill>
            <a:srgbClr val="EBF0F7"/>
          </a:solidFill>
          <a:ln w="6350">
            <a:solidFill>
              <a:srgbClr val="D5DB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960120"/>
            <a:ext cx="11640312" cy="54864"/>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960120"/>
            <a:ext cx="502920" cy="1737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1508760"/>
            <a:ext cx="502920" cy="640080"/>
          </a:xfrm>
          <a:prstGeom prst="rect">
            <a:avLst/>
          </a:prstGeom>
          <a:noFill/>
        </p:spPr>
        <p:txBody>
          <a:bodyPr wrap="square">
            <a:spAutoFit/>
          </a:bodyPr>
          <a:lstStyle/>
          <a:p>
            <a:pPr algn="ctr"/>
            <a:r>
              <a:rPr sz="2200" b="1" i="0">
                <a:solidFill>
                  <a:srgbClr val="FFFFFF"/>
                </a:solidFill>
              </a:rPr>
              <a:t>1</a:t>
            </a:r>
          </a:p>
        </p:txBody>
      </p:sp>
      <p:sp>
        <p:nvSpPr>
          <p:cNvPr id="9" name="TextBox 8"/>
          <p:cNvSpPr txBox="1"/>
          <p:nvPr/>
        </p:nvSpPr>
        <p:spPr>
          <a:xfrm>
            <a:off x="914400" y="1033272"/>
            <a:ext cx="10424160" cy="347472"/>
          </a:xfrm>
          <a:prstGeom prst="rect">
            <a:avLst/>
          </a:prstGeom>
          <a:noFill/>
        </p:spPr>
        <p:txBody>
          <a:bodyPr wrap="square">
            <a:spAutoFit/>
          </a:bodyPr>
          <a:lstStyle/>
          <a:p>
            <a:pPr algn="l"/>
            <a:r>
              <a:rPr sz="1300" b="1" i="0">
                <a:solidFill>
                  <a:srgbClr val="1B3A5C"/>
                </a:solidFill>
              </a:rPr>
              <a:t>Vidanapathirana et al., 2023</a:t>
            </a:r>
          </a:p>
        </p:txBody>
      </p:sp>
      <p:sp>
        <p:nvSpPr>
          <p:cNvPr id="10" name="TextBox 9"/>
          <p:cNvSpPr txBox="1"/>
          <p:nvPr/>
        </p:nvSpPr>
        <p:spPr>
          <a:xfrm>
            <a:off x="914400" y="1417320"/>
            <a:ext cx="1691640" cy="256032"/>
          </a:xfrm>
          <a:prstGeom prst="rect">
            <a:avLst/>
          </a:prstGeom>
          <a:noFill/>
        </p:spPr>
        <p:txBody>
          <a:bodyPr wrap="square">
            <a:spAutoFit/>
          </a:bodyPr>
          <a:lstStyle/>
          <a:p>
            <a:pPr algn="l"/>
            <a:r>
              <a:rPr sz="1100" b="1" i="0">
                <a:solidFill>
                  <a:srgbClr val="5D6D7E"/>
                </a:solidFill>
              </a:rPr>
              <a:t>What they did:  </a:t>
            </a:r>
          </a:p>
        </p:txBody>
      </p:sp>
      <p:sp>
        <p:nvSpPr>
          <p:cNvPr id="11" name="TextBox 10"/>
          <p:cNvSpPr txBox="1"/>
          <p:nvPr/>
        </p:nvSpPr>
        <p:spPr>
          <a:xfrm>
            <a:off x="2560320" y="1417320"/>
            <a:ext cx="9052560" cy="365760"/>
          </a:xfrm>
          <a:prstGeom prst="rect">
            <a:avLst/>
          </a:prstGeom>
          <a:noFill/>
        </p:spPr>
        <p:txBody>
          <a:bodyPr wrap="square">
            <a:spAutoFit/>
          </a:bodyPr>
          <a:lstStyle/>
          <a:p>
            <a:pPr algn="l"/>
            <a:r>
              <a:rPr sz="1150" b="0" i="0">
                <a:solidFill>
                  <a:srgbClr val="2C3E50"/>
                </a:solidFill>
              </a:rPr>
              <a:t>VGG16, ResNet50, InceptionV3 for mushroom species/disease classification. Transfer learning on Sri Lankan mushroom images.</a:t>
            </a:r>
          </a:p>
        </p:txBody>
      </p:sp>
      <p:sp>
        <p:nvSpPr>
          <p:cNvPr id="12" name="Rectangle 11"/>
          <p:cNvSpPr/>
          <p:nvPr/>
        </p:nvSpPr>
        <p:spPr>
          <a:xfrm>
            <a:off x="914400" y="1801368"/>
            <a:ext cx="777240" cy="2286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1801368"/>
            <a:ext cx="777240" cy="228600"/>
          </a:xfrm>
          <a:prstGeom prst="rect">
            <a:avLst/>
          </a:prstGeom>
          <a:noFill/>
        </p:spPr>
        <p:txBody>
          <a:bodyPr wrap="square">
            <a:spAutoFit/>
          </a:bodyPr>
          <a:lstStyle/>
          <a:p>
            <a:pPr algn="ctr"/>
            <a:r>
              <a:rPr sz="900" b="1" i="0">
                <a:solidFill>
                  <a:srgbClr val="FFFFFF"/>
                </a:solidFill>
              </a:rPr>
              <a:t>Limitation</a:t>
            </a:r>
          </a:p>
        </p:txBody>
      </p:sp>
      <p:sp>
        <p:nvSpPr>
          <p:cNvPr id="14" name="TextBox 13"/>
          <p:cNvSpPr txBox="1"/>
          <p:nvPr/>
        </p:nvSpPr>
        <p:spPr>
          <a:xfrm>
            <a:off x="1783080" y="1801368"/>
            <a:ext cx="9875520" cy="365760"/>
          </a:xfrm>
          <a:prstGeom prst="rect">
            <a:avLst/>
          </a:prstGeom>
          <a:noFill/>
        </p:spPr>
        <p:txBody>
          <a:bodyPr wrap="square">
            <a:spAutoFit/>
          </a:bodyPr>
          <a:lstStyle/>
          <a:p>
            <a:pPr algn="l"/>
            <a:r>
              <a:rPr sz="1150" b="0" i="1">
                <a:solidFill>
                  <a:srgbClr val="1B3A5C"/>
                </a:solidFill>
              </a:rPr>
              <a:t>Binary classification only (healthy vs. diseased). No severity grading. No mixed-infection class.</a:t>
            </a:r>
          </a:p>
        </p:txBody>
      </p:sp>
      <p:sp>
        <p:nvSpPr>
          <p:cNvPr id="15" name="Rectangle 14"/>
          <p:cNvSpPr/>
          <p:nvPr/>
        </p:nvSpPr>
        <p:spPr>
          <a:xfrm>
            <a:off x="274320" y="2834639"/>
            <a:ext cx="11640312" cy="1737360"/>
          </a:xfrm>
          <a:prstGeom prst="rect">
            <a:avLst/>
          </a:prstGeom>
          <a:solidFill>
            <a:srgbClr val="EBF0F7"/>
          </a:solidFill>
          <a:ln w="6350">
            <a:solidFill>
              <a:srgbClr val="D5DB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74320" y="2834639"/>
            <a:ext cx="11640312" cy="54864"/>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74320" y="2834639"/>
            <a:ext cx="502920" cy="1737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4320" y="3383279"/>
            <a:ext cx="502920" cy="640080"/>
          </a:xfrm>
          <a:prstGeom prst="rect">
            <a:avLst/>
          </a:prstGeom>
          <a:noFill/>
        </p:spPr>
        <p:txBody>
          <a:bodyPr wrap="square">
            <a:spAutoFit/>
          </a:bodyPr>
          <a:lstStyle/>
          <a:p>
            <a:pPr algn="ctr"/>
            <a:r>
              <a:rPr sz="2200" b="1" i="0">
                <a:solidFill>
                  <a:srgbClr val="FFFFFF"/>
                </a:solidFill>
              </a:rPr>
              <a:t>2</a:t>
            </a:r>
          </a:p>
        </p:txBody>
      </p:sp>
      <p:sp>
        <p:nvSpPr>
          <p:cNvPr id="19" name="TextBox 18"/>
          <p:cNvSpPr txBox="1"/>
          <p:nvPr/>
        </p:nvSpPr>
        <p:spPr>
          <a:xfrm>
            <a:off x="914400" y="2907791"/>
            <a:ext cx="10424160" cy="347472"/>
          </a:xfrm>
          <a:prstGeom prst="rect">
            <a:avLst/>
          </a:prstGeom>
          <a:noFill/>
        </p:spPr>
        <p:txBody>
          <a:bodyPr wrap="square">
            <a:spAutoFit/>
          </a:bodyPr>
          <a:lstStyle/>
          <a:p>
            <a:pPr algn="l"/>
            <a:r>
              <a:rPr sz="1300" b="1" i="0">
                <a:solidFill>
                  <a:srgbClr val="1B3A5C"/>
                </a:solidFill>
              </a:rPr>
              <a:t>Wongpanya et al., 2025</a:t>
            </a:r>
          </a:p>
        </p:txBody>
      </p:sp>
      <p:sp>
        <p:nvSpPr>
          <p:cNvPr id="20" name="TextBox 19"/>
          <p:cNvSpPr txBox="1"/>
          <p:nvPr/>
        </p:nvSpPr>
        <p:spPr>
          <a:xfrm>
            <a:off x="914400" y="3291839"/>
            <a:ext cx="1691640" cy="256032"/>
          </a:xfrm>
          <a:prstGeom prst="rect">
            <a:avLst/>
          </a:prstGeom>
          <a:noFill/>
        </p:spPr>
        <p:txBody>
          <a:bodyPr wrap="square">
            <a:spAutoFit/>
          </a:bodyPr>
          <a:lstStyle/>
          <a:p>
            <a:pPr algn="l"/>
            <a:r>
              <a:rPr sz="1100" b="1" i="0">
                <a:solidFill>
                  <a:srgbClr val="5D6D7E"/>
                </a:solidFill>
              </a:rPr>
              <a:t>What they did:  </a:t>
            </a:r>
          </a:p>
        </p:txBody>
      </p:sp>
      <p:sp>
        <p:nvSpPr>
          <p:cNvPr id="21" name="TextBox 20"/>
          <p:cNvSpPr txBox="1"/>
          <p:nvPr/>
        </p:nvSpPr>
        <p:spPr>
          <a:xfrm>
            <a:off x="2560320" y="3291839"/>
            <a:ext cx="9052560" cy="365760"/>
          </a:xfrm>
          <a:prstGeom prst="rect">
            <a:avLst/>
          </a:prstGeom>
          <a:noFill/>
        </p:spPr>
        <p:txBody>
          <a:bodyPr wrap="square">
            <a:spAutoFit/>
          </a:bodyPr>
          <a:lstStyle/>
          <a:p>
            <a:pPr algn="l"/>
            <a:r>
              <a:rPr sz="1150" b="0" i="0">
                <a:solidFill>
                  <a:srgbClr val="2C3E50"/>
                </a:solidFill>
              </a:rPr>
              <a:t>DenseNet201 achieving 92.5% accuracy on oyster mushroom disease detection. Focused on substrate bag images.</a:t>
            </a:r>
          </a:p>
        </p:txBody>
      </p:sp>
      <p:sp>
        <p:nvSpPr>
          <p:cNvPr id="22" name="Rectangle 21"/>
          <p:cNvSpPr/>
          <p:nvPr/>
        </p:nvSpPr>
        <p:spPr>
          <a:xfrm>
            <a:off x="914400" y="3675887"/>
            <a:ext cx="777240" cy="2286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4400" y="3675887"/>
            <a:ext cx="777240" cy="228600"/>
          </a:xfrm>
          <a:prstGeom prst="rect">
            <a:avLst/>
          </a:prstGeom>
          <a:noFill/>
        </p:spPr>
        <p:txBody>
          <a:bodyPr wrap="square">
            <a:spAutoFit/>
          </a:bodyPr>
          <a:lstStyle/>
          <a:p>
            <a:pPr algn="ctr"/>
            <a:r>
              <a:rPr sz="900" b="1" i="0">
                <a:solidFill>
                  <a:srgbClr val="FFFFFF"/>
                </a:solidFill>
              </a:rPr>
              <a:t>Limitation</a:t>
            </a:r>
          </a:p>
        </p:txBody>
      </p:sp>
      <p:sp>
        <p:nvSpPr>
          <p:cNvPr id="24" name="TextBox 23"/>
          <p:cNvSpPr txBox="1"/>
          <p:nvPr/>
        </p:nvSpPr>
        <p:spPr>
          <a:xfrm>
            <a:off x="1783080" y="3675887"/>
            <a:ext cx="9875520" cy="365760"/>
          </a:xfrm>
          <a:prstGeom prst="rect">
            <a:avLst/>
          </a:prstGeom>
          <a:noFill/>
        </p:spPr>
        <p:txBody>
          <a:bodyPr wrap="square">
            <a:spAutoFit/>
          </a:bodyPr>
          <a:lstStyle/>
          <a:p>
            <a:pPr algn="l"/>
            <a:r>
              <a:rPr sz="1150" b="0" i="1">
                <a:solidFill>
                  <a:srgbClr val="1B3A5C"/>
                </a:solidFill>
              </a:rPr>
              <a:t>No ordinal contamination grading. Dataset is lab-controlled — does not reflect real farm variability.</a:t>
            </a:r>
          </a:p>
        </p:txBody>
      </p:sp>
      <p:sp>
        <p:nvSpPr>
          <p:cNvPr id="25" name="Rectangle 24"/>
          <p:cNvSpPr/>
          <p:nvPr/>
        </p:nvSpPr>
        <p:spPr>
          <a:xfrm>
            <a:off x="274320" y="4709159"/>
            <a:ext cx="11640312" cy="1737360"/>
          </a:xfrm>
          <a:prstGeom prst="rect">
            <a:avLst/>
          </a:prstGeom>
          <a:solidFill>
            <a:srgbClr val="EBF0F7"/>
          </a:solidFill>
          <a:ln w="6350">
            <a:solidFill>
              <a:srgbClr val="D5DB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74320" y="4709159"/>
            <a:ext cx="11640312" cy="54864"/>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74320" y="4709159"/>
            <a:ext cx="502920" cy="1737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74320" y="5257799"/>
            <a:ext cx="502920" cy="640080"/>
          </a:xfrm>
          <a:prstGeom prst="rect">
            <a:avLst/>
          </a:prstGeom>
          <a:noFill/>
        </p:spPr>
        <p:txBody>
          <a:bodyPr wrap="square">
            <a:spAutoFit/>
          </a:bodyPr>
          <a:lstStyle/>
          <a:p>
            <a:pPr algn="ctr"/>
            <a:r>
              <a:rPr sz="2200" b="1" i="0">
                <a:solidFill>
                  <a:srgbClr val="FFFFFF"/>
                </a:solidFill>
              </a:rPr>
              <a:t>3</a:t>
            </a:r>
          </a:p>
        </p:txBody>
      </p:sp>
      <p:sp>
        <p:nvSpPr>
          <p:cNvPr id="29" name="TextBox 28"/>
          <p:cNvSpPr txBox="1"/>
          <p:nvPr/>
        </p:nvSpPr>
        <p:spPr>
          <a:xfrm>
            <a:off x="914400" y="4782312"/>
            <a:ext cx="10424160" cy="347472"/>
          </a:xfrm>
          <a:prstGeom prst="rect">
            <a:avLst/>
          </a:prstGeom>
          <a:noFill/>
        </p:spPr>
        <p:txBody>
          <a:bodyPr wrap="square">
            <a:spAutoFit/>
          </a:bodyPr>
          <a:lstStyle/>
          <a:p>
            <a:pPr algn="l"/>
            <a:r>
              <a:rPr sz="1300" b="1" i="0">
                <a:solidFill>
                  <a:srgbClr val="1B3A5C"/>
                </a:solidFill>
              </a:rPr>
              <a:t>Guragain et al., 2024</a:t>
            </a:r>
          </a:p>
        </p:txBody>
      </p:sp>
      <p:sp>
        <p:nvSpPr>
          <p:cNvPr id="30" name="TextBox 29"/>
          <p:cNvSpPr txBox="1"/>
          <p:nvPr/>
        </p:nvSpPr>
        <p:spPr>
          <a:xfrm>
            <a:off x="914400" y="5166359"/>
            <a:ext cx="1691640" cy="256032"/>
          </a:xfrm>
          <a:prstGeom prst="rect">
            <a:avLst/>
          </a:prstGeom>
          <a:noFill/>
        </p:spPr>
        <p:txBody>
          <a:bodyPr wrap="square">
            <a:spAutoFit/>
          </a:bodyPr>
          <a:lstStyle/>
          <a:p>
            <a:pPr algn="l"/>
            <a:r>
              <a:rPr sz="1100" b="1" i="0">
                <a:solidFill>
                  <a:srgbClr val="5D6D7E"/>
                </a:solidFill>
              </a:rPr>
              <a:t>What they did:  </a:t>
            </a:r>
          </a:p>
        </p:txBody>
      </p:sp>
      <p:sp>
        <p:nvSpPr>
          <p:cNvPr id="31" name="TextBox 30"/>
          <p:cNvSpPr txBox="1"/>
          <p:nvPr/>
        </p:nvSpPr>
        <p:spPr>
          <a:xfrm>
            <a:off x="2560320" y="5166359"/>
            <a:ext cx="9052560" cy="365760"/>
          </a:xfrm>
          <a:prstGeom prst="rect">
            <a:avLst/>
          </a:prstGeom>
          <a:noFill/>
        </p:spPr>
        <p:txBody>
          <a:bodyPr wrap="square">
            <a:spAutoFit/>
          </a:bodyPr>
          <a:lstStyle/>
          <a:p>
            <a:pPr algn="l"/>
            <a:r>
              <a:rPr sz="1150" b="0" i="0">
                <a:solidFill>
                  <a:srgbClr val="2C3E50"/>
                </a:solidFill>
              </a:rPr>
              <a:t>Custom CNN + DenseNet hybrid achieving 98.33% accuracy on mushroom disease images. High accuracy on small dataset.</a:t>
            </a:r>
          </a:p>
        </p:txBody>
      </p:sp>
      <p:sp>
        <p:nvSpPr>
          <p:cNvPr id="32" name="Rectangle 31"/>
          <p:cNvSpPr/>
          <p:nvPr/>
        </p:nvSpPr>
        <p:spPr>
          <a:xfrm>
            <a:off x="914400" y="5550407"/>
            <a:ext cx="777240" cy="2286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14400" y="5550407"/>
            <a:ext cx="777240" cy="228600"/>
          </a:xfrm>
          <a:prstGeom prst="rect">
            <a:avLst/>
          </a:prstGeom>
          <a:noFill/>
        </p:spPr>
        <p:txBody>
          <a:bodyPr wrap="square">
            <a:spAutoFit/>
          </a:bodyPr>
          <a:lstStyle/>
          <a:p>
            <a:pPr algn="ctr"/>
            <a:r>
              <a:rPr sz="900" b="1" i="0">
                <a:solidFill>
                  <a:srgbClr val="FFFFFF"/>
                </a:solidFill>
              </a:rPr>
              <a:t>Limitation</a:t>
            </a:r>
          </a:p>
        </p:txBody>
      </p:sp>
      <p:sp>
        <p:nvSpPr>
          <p:cNvPr id="34" name="TextBox 33"/>
          <p:cNvSpPr txBox="1"/>
          <p:nvPr/>
        </p:nvSpPr>
        <p:spPr>
          <a:xfrm>
            <a:off x="1783080" y="5550407"/>
            <a:ext cx="9875520" cy="365760"/>
          </a:xfrm>
          <a:prstGeom prst="rect">
            <a:avLst/>
          </a:prstGeom>
          <a:noFill/>
        </p:spPr>
        <p:txBody>
          <a:bodyPr wrap="square">
            <a:spAutoFit/>
          </a:bodyPr>
          <a:lstStyle/>
          <a:p>
            <a:pPr algn="l"/>
            <a:r>
              <a:rPr sz="1150" b="0" i="1">
                <a:solidFill>
                  <a:srgbClr val="1B3A5C"/>
                </a:solidFill>
              </a:rPr>
              <a:t>Controlled studio images — not real farm conditions. No mixed infection class. No deployment / advisory system.</a:t>
            </a:r>
          </a:p>
        </p:txBody>
      </p:sp>
      <p:sp>
        <p:nvSpPr>
          <p:cNvPr id="35" name="Rectangle 34"/>
          <p:cNvSpPr/>
          <p:nvPr/>
        </p:nvSpPr>
        <p:spPr>
          <a:xfrm>
            <a:off x="274320" y="6583680"/>
            <a:ext cx="11640312" cy="201168"/>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11480" y="6601968"/>
            <a:ext cx="11338560" cy="182880"/>
          </a:xfrm>
          <a:prstGeom prst="rect">
            <a:avLst/>
          </a:prstGeom>
          <a:noFill/>
        </p:spPr>
        <p:txBody>
          <a:bodyPr wrap="square">
            <a:spAutoFit/>
          </a:bodyPr>
          <a:lstStyle/>
          <a:p>
            <a:pPr algn="l"/>
            <a:r>
              <a:rPr sz="1100" b="1" i="0">
                <a:solidFill>
                  <a:srgbClr val="FFFFFF"/>
                </a:solidFill>
              </a:rPr>
              <a:t>Our Contribution:  All three papers lack ordinal grading, the Mixed Infected class, and an integrated expert advisory system — gaps this work directly addresses.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88952" cy="749808"/>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49808"/>
            <a:ext cx="12188952" cy="50292"/>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91440"/>
            <a:ext cx="11521440" cy="566928"/>
          </a:xfrm>
          <a:prstGeom prst="rect">
            <a:avLst/>
          </a:prstGeom>
          <a:noFill/>
        </p:spPr>
        <p:txBody>
          <a:bodyPr wrap="square">
            <a:spAutoFit/>
          </a:bodyPr>
          <a:lstStyle/>
          <a:p>
            <a:pPr algn="l"/>
            <a:r>
              <a:rPr sz="2600" b="1" i="0">
                <a:solidFill>
                  <a:srgbClr val="FFFFFF"/>
                </a:solidFill>
              </a:rPr>
              <a:t>Methodology  /  Proposed System</a:t>
            </a:r>
          </a:p>
        </p:txBody>
      </p:sp>
      <p:sp>
        <p:nvSpPr>
          <p:cNvPr id="5" name="Rectangle 4"/>
          <p:cNvSpPr/>
          <p:nvPr/>
        </p:nvSpPr>
        <p:spPr>
          <a:xfrm>
            <a:off x="274320" y="914400"/>
            <a:ext cx="5577840" cy="5623560"/>
          </a:xfrm>
          <a:prstGeom prst="rect">
            <a:avLst/>
          </a:prstGeom>
          <a:solidFill>
            <a:srgbClr val="EBF0F7"/>
          </a:solidFill>
          <a:ln w="6350">
            <a:solidFill>
              <a:srgbClr val="D5DB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914400"/>
            <a:ext cx="5577840" cy="54864"/>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987552"/>
            <a:ext cx="5212080" cy="347472"/>
          </a:xfrm>
          <a:prstGeom prst="rect">
            <a:avLst/>
          </a:prstGeom>
          <a:noFill/>
        </p:spPr>
        <p:txBody>
          <a:bodyPr wrap="square">
            <a:spAutoFit/>
          </a:bodyPr>
          <a:lstStyle/>
          <a:p>
            <a:pPr algn="l"/>
            <a:r>
              <a:rPr sz="1400" b="1" i="0">
                <a:solidFill>
                  <a:srgbClr val="1B3A5C"/>
                </a:solidFill>
              </a:rPr>
              <a:t>Model Architecture</a:t>
            </a:r>
          </a:p>
        </p:txBody>
      </p:sp>
      <p:sp>
        <p:nvSpPr>
          <p:cNvPr id="8" name="Rectangle 7"/>
          <p:cNvSpPr/>
          <p:nvPr/>
        </p:nvSpPr>
        <p:spPr>
          <a:xfrm>
            <a:off x="411480" y="1417320"/>
            <a:ext cx="64008" cy="347472"/>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417320"/>
            <a:ext cx="1417320" cy="201168"/>
          </a:xfrm>
          <a:prstGeom prst="rect">
            <a:avLst/>
          </a:prstGeom>
          <a:noFill/>
        </p:spPr>
        <p:txBody>
          <a:bodyPr wrap="square">
            <a:spAutoFit/>
          </a:bodyPr>
          <a:lstStyle/>
          <a:p>
            <a:pPr algn="l"/>
            <a:r>
              <a:rPr sz="1100" b="1" i="0">
                <a:solidFill>
                  <a:srgbClr val="1B3A5C"/>
                </a:solidFill>
              </a:rPr>
              <a:t>Backbone:</a:t>
            </a:r>
          </a:p>
        </p:txBody>
      </p:sp>
      <p:sp>
        <p:nvSpPr>
          <p:cNvPr id="10" name="TextBox 9"/>
          <p:cNvSpPr txBox="1"/>
          <p:nvPr/>
        </p:nvSpPr>
        <p:spPr>
          <a:xfrm>
            <a:off x="548640" y="1600200"/>
            <a:ext cx="5120640" cy="475488"/>
          </a:xfrm>
          <a:prstGeom prst="rect">
            <a:avLst/>
          </a:prstGeom>
          <a:noFill/>
        </p:spPr>
        <p:txBody>
          <a:bodyPr wrap="square">
            <a:spAutoFit/>
          </a:bodyPr>
          <a:lstStyle/>
          <a:p>
            <a:pPr algn="l"/>
            <a:r>
              <a:rPr sz="1050" b="0" i="0">
                <a:solidFill>
                  <a:srgbClr val="2C3E50"/>
                </a:solidFill>
              </a:rPr>
              <a:t>EfficientNetV2S pre-trained on ImageNet (21M params). Frozen in Stage 1; top 60% unfrozen in Stage 2.</a:t>
            </a:r>
          </a:p>
        </p:txBody>
      </p:sp>
      <p:sp>
        <p:nvSpPr>
          <p:cNvPr id="11" name="Rectangle 10"/>
          <p:cNvSpPr/>
          <p:nvPr/>
        </p:nvSpPr>
        <p:spPr>
          <a:xfrm>
            <a:off x="411480" y="2084832"/>
            <a:ext cx="64008" cy="347472"/>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2084832"/>
            <a:ext cx="1417320" cy="201168"/>
          </a:xfrm>
          <a:prstGeom prst="rect">
            <a:avLst/>
          </a:prstGeom>
          <a:noFill/>
        </p:spPr>
        <p:txBody>
          <a:bodyPr wrap="square">
            <a:spAutoFit/>
          </a:bodyPr>
          <a:lstStyle/>
          <a:p>
            <a:pPr algn="l"/>
            <a:r>
              <a:rPr sz="1100" b="1" i="0">
                <a:solidFill>
                  <a:srgbClr val="1B3A5C"/>
                </a:solidFill>
              </a:rPr>
              <a:t>Loss Function:</a:t>
            </a:r>
          </a:p>
        </p:txBody>
      </p:sp>
      <p:sp>
        <p:nvSpPr>
          <p:cNvPr id="13" name="TextBox 12"/>
          <p:cNvSpPr txBox="1"/>
          <p:nvPr/>
        </p:nvSpPr>
        <p:spPr>
          <a:xfrm>
            <a:off x="548640" y="2267712"/>
            <a:ext cx="5120640" cy="475488"/>
          </a:xfrm>
          <a:prstGeom prst="rect">
            <a:avLst/>
          </a:prstGeom>
          <a:noFill/>
        </p:spPr>
        <p:txBody>
          <a:bodyPr wrap="square">
            <a:spAutoFit/>
          </a:bodyPr>
          <a:lstStyle/>
          <a:p>
            <a:pPr algn="l"/>
            <a:r>
              <a:rPr sz="1050" b="0" i="0">
                <a:solidFill>
                  <a:srgbClr val="2C3E50"/>
                </a:solidFill>
              </a:rPr>
              <a:t>CORN Loss (Conditional Ordinal Regression for Neural Networks). K-1 binary sub-tasks model ordinal severity structure.</a:t>
            </a:r>
          </a:p>
        </p:txBody>
      </p:sp>
      <p:sp>
        <p:nvSpPr>
          <p:cNvPr id="14" name="Rectangle 13"/>
          <p:cNvSpPr/>
          <p:nvPr/>
        </p:nvSpPr>
        <p:spPr>
          <a:xfrm>
            <a:off x="411480" y="2752344"/>
            <a:ext cx="64008" cy="347472"/>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2752344"/>
            <a:ext cx="1417320" cy="201168"/>
          </a:xfrm>
          <a:prstGeom prst="rect">
            <a:avLst/>
          </a:prstGeom>
          <a:noFill/>
        </p:spPr>
        <p:txBody>
          <a:bodyPr wrap="square">
            <a:spAutoFit/>
          </a:bodyPr>
          <a:lstStyle/>
          <a:p>
            <a:pPr algn="l"/>
            <a:r>
              <a:rPr sz="1100" b="1" i="0">
                <a:solidFill>
                  <a:srgbClr val="1B3A5C"/>
                </a:solidFill>
              </a:rPr>
              <a:t>Input:</a:t>
            </a:r>
          </a:p>
        </p:txBody>
      </p:sp>
      <p:sp>
        <p:nvSpPr>
          <p:cNvPr id="16" name="TextBox 15"/>
          <p:cNvSpPr txBox="1"/>
          <p:nvPr/>
        </p:nvSpPr>
        <p:spPr>
          <a:xfrm>
            <a:off x="548640" y="2935224"/>
            <a:ext cx="5120640" cy="475488"/>
          </a:xfrm>
          <a:prstGeom prst="rect">
            <a:avLst/>
          </a:prstGeom>
          <a:noFill/>
        </p:spPr>
        <p:txBody>
          <a:bodyPr wrap="square">
            <a:spAutoFit/>
          </a:bodyPr>
          <a:lstStyle/>
          <a:p>
            <a:pPr algn="l"/>
            <a:r>
              <a:rPr sz="1050" b="0" i="0">
                <a:solidFill>
                  <a:srgbClr val="2C3E50"/>
                </a:solidFill>
              </a:rPr>
              <a:t>224×224 RGB images. Phase 3C normalised to [−1, 1]; Phase 3D uses raw [0, 255] (EfficientNet built-in preprocessing).</a:t>
            </a:r>
          </a:p>
        </p:txBody>
      </p:sp>
      <p:sp>
        <p:nvSpPr>
          <p:cNvPr id="17" name="Rectangle 16"/>
          <p:cNvSpPr/>
          <p:nvPr/>
        </p:nvSpPr>
        <p:spPr>
          <a:xfrm>
            <a:off x="411480" y="3419856"/>
            <a:ext cx="64008" cy="347472"/>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3419856"/>
            <a:ext cx="1417320" cy="201168"/>
          </a:xfrm>
          <a:prstGeom prst="rect">
            <a:avLst/>
          </a:prstGeom>
          <a:noFill/>
        </p:spPr>
        <p:txBody>
          <a:bodyPr wrap="square">
            <a:spAutoFit/>
          </a:bodyPr>
          <a:lstStyle/>
          <a:p>
            <a:pPr algn="l"/>
            <a:r>
              <a:rPr sz="1100" b="1" i="0">
                <a:solidFill>
                  <a:srgbClr val="1B3A5C"/>
                </a:solidFill>
              </a:rPr>
              <a:t>Head:</a:t>
            </a:r>
          </a:p>
        </p:txBody>
      </p:sp>
      <p:sp>
        <p:nvSpPr>
          <p:cNvPr id="19" name="TextBox 18"/>
          <p:cNvSpPr txBox="1"/>
          <p:nvPr/>
        </p:nvSpPr>
        <p:spPr>
          <a:xfrm>
            <a:off x="548640" y="3602736"/>
            <a:ext cx="5120640" cy="475488"/>
          </a:xfrm>
          <a:prstGeom prst="rect">
            <a:avLst/>
          </a:prstGeom>
          <a:noFill/>
        </p:spPr>
        <p:txBody>
          <a:bodyPr wrap="square">
            <a:spAutoFit/>
          </a:bodyPr>
          <a:lstStyle/>
          <a:p>
            <a:pPr algn="l"/>
            <a:r>
              <a:rPr sz="1050" b="0" i="0">
                <a:solidFill>
                  <a:srgbClr val="2C3E50"/>
                </a:solidFill>
              </a:rPr>
              <a:t>GlobalAveragePooling → Dense(256, ReLU) → Dropout(0.3) → Dense(2 logits).</a:t>
            </a:r>
          </a:p>
        </p:txBody>
      </p:sp>
      <p:sp>
        <p:nvSpPr>
          <p:cNvPr id="20" name="Rectangle 19"/>
          <p:cNvSpPr/>
          <p:nvPr/>
        </p:nvSpPr>
        <p:spPr>
          <a:xfrm>
            <a:off x="411480" y="4087368"/>
            <a:ext cx="64008" cy="347472"/>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8640" y="4087368"/>
            <a:ext cx="1417320" cy="201168"/>
          </a:xfrm>
          <a:prstGeom prst="rect">
            <a:avLst/>
          </a:prstGeom>
          <a:noFill/>
        </p:spPr>
        <p:txBody>
          <a:bodyPr wrap="square">
            <a:spAutoFit/>
          </a:bodyPr>
          <a:lstStyle/>
          <a:p>
            <a:pPr algn="l"/>
            <a:r>
              <a:rPr sz="1100" b="1" i="0">
                <a:solidFill>
                  <a:srgbClr val="1B3A5C"/>
                </a:solidFill>
              </a:rPr>
              <a:t>Training:</a:t>
            </a:r>
          </a:p>
        </p:txBody>
      </p:sp>
      <p:sp>
        <p:nvSpPr>
          <p:cNvPr id="22" name="TextBox 21"/>
          <p:cNvSpPr txBox="1"/>
          <p:nvPr/>
        </p:nvSpPr>
        <p:spPr>
          <a:xfrm>
            <a:off x="548640" y="4270248"/>
            <a:ext cx="5120640" cy="475488"/>
          </a:xfrm>
          <a:prstGeom prst="rect">
            <a:avLst/>
          </a:prstGeom>
          <a:noFill/>
        </p:spPr>
        <p:txBody>
          <a:bodyPr wrap="square">
            <a:spAutoFit/>
          </a:bodyPr>
          <a:lstStyle/>
          <a:p>
            <a:pPr algn="l"/>
            <a:r>
              <a:rPr sz="1050" b="0" i="0">
                <a:solidFill>
                  <a:srgbClr val="2C3E50"/>
                </a:solidFill>
              </a:rPr>
              <a:t>Stage 1: frozen backbone, LR=1e-3, 15 epochs, patience 6.
Stage 2: top 60% unfrozen, LR=5e-5, 35 epochs, patience 12.</a:t>
            </a:r>
          </a:p>
        </p:txBody>
      </p:sp>
      <p:sp>
        <p:nvSpPr>
          <p:cNvPr id="23" name="Rectangle 22"/>
          <p:cNvSpPr/>
          <p:nvPr/>
        </p:nvSpPr>
        <p:spPr>
          <a:xfrm>
            <a:off x="411480" y="4892040"/>
            <a:ext cx="64008" cy="347472"/>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8640" y="4892040"/>
            <a:ext cx="1417320" cy="201168"/>
          </a:xfrm>
          <a:prstGeom prst="rect">
            <a:avLst/>
          </a:prstGeom>
          <a:noFill/>
        </p:spPr>
        <p:txBody>
          <a:bodyPr wrap="square">
            <a:spAutoFit/>
          </a:bodyPr>
          <a:lstStyle/>
          <a:p>
            <a:pPr algn="l"/>
            <a:r>
              <a:rPr sz="1100" b="1" i="0">
                <a:solidFill>
                  <a:srgbClr val="1B3A5C"/>
                </a:solidFill>
              </a:rPr>
              <a:t>Augmentation:</a:t>
            </a:r>
          </a:p>
        </p:txBody>
      </p:sp>
      <p:sp>
        <p:nvSpPr>
          <p:cNvPr id="25" name="TextBox 24"/>
          <p:cNvSpPr txBox="1"/>
          <p:nvPr/>
        </p:nvSpPr>
        <p:spPr>
          <a:xfrm>
            <a:off x="548640" y="5074920"/>
            <a:ext cx="5120640" cy="475488"/>
          </a:xfrm>
          <a:prstGeom prst="rect">
            <a:avLst/>
          </a:prstGeom>
          <a:noFill/>
        </p:spPr>
        <p:txBody>
          <a:bodyPr wrap="square">
            <a:spAutoFit/>
          </a:bodyPr>
          <a:lstStyle/>
          <a:p>
            <a:pPr algn="l"/>
            <a:r>
              <a:rPr sz="1050" b="0" i="0">
                <a:solidFill>
                  <a:srgbClr val="2C3E50"/>
                </a:solidFill>
              </a:rPr>
              <a:t>9 techniques (flip, rotate, zoom, brightness, contrast, translate). DDPM synthetic images generated at 64×64.</a:t>
            </a:r>
          </a:p>
        </p:txBody>
      </p:sp>
      <p:sp>
        <p:nvSpPr>
          <p:cNvPr id="26" name="Rectangle 25"/>
          <p:cNvSpPr/>
          <p:nvPr/>
        </p:nvSpPr>
        <p:spPr>
          <a:xfrm>
            <a:off x="6126480" y="914400"/>
            <a:ext cx="5760720" cy="5623560"/>
          </a:xfrm>
          <a:prstGeom prst="rect">
            <a:avLst/>
          </a:prstGeom>
          <a:solidFill>
            <a:srgbClr val="E8F8F0"/>
          </a:solidFill>
          <a:ln w="6350">
            <a:solidFill>
              <a:srgbClr val="D5DB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126480" y="914400"/>
            <a:ext cx="5760720" cy="54864"/>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09360" y="987552"/>
            <a:ext cx="5394960" cy="347472"/>
          </a:xfrm>
          <a:prstGeom prst="rect">
            <a:avLst/>
          </a:prstGeom>
          <a:noFill/>
        </p:spPr>
        <p:txBody>
          <a:bodyPr wrap="square">
            <a:spAutoFit/>
          </a:bodyPr>
          <a:lstStyle/>
          <a:p>
            <a:pPr algn="l"/>
            <a:r>
              <a:rPr sz="1400" b="1" i="0">
                <a:solidFill>
                  <a:srgbClr val="27AE60"/>
                </a:solidFill>
              </a:rPr>
              <a:t>CORN Loss — How It Works</a:t>
            </a:r>
          </a:p>
        </p:txBody>
      </p:sp>
      <p:sp>
        <p:nvSpPr>
          <p:cNvPr id="29" name="Rectangle 28"/>
          <p:cNvSpPr/>
          <p:nvPr/>
        </p:nvSpPr>
        <p:spPr>
          <a:xfrm>
            <a:off x="6583680" y="1463040"/>
            <a:ext cx="484632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83680" y="1463040"/>
            <a:ext cx="4846320" cy="502920"/>
          </a:xfrm>
          <a:prstGeom prst="rect">
            <a:avLst/>
          </a:prstGeom>
          <a:noFill/>
        </p:spPr>
        <p:txBody>
          <a:bodyPr wrap="square">
            <a:spAutoFit/>
          </a:bodyPr>
          <a:lstStyle/>
          <a:p>
            <a:pPr algn="ctr"/>
            <a:r>
              <a:rPr sz="1200" b="1" i="0">
                <a:solidFill>
                  <a:srgbClr val="FFFFFF"/>
                </a:solidFill>
              </a:rPr>
              <a:t>Input Image  (224×224)</a:t>
            </a:r>
          </a:p>
        </p:txBody>
      </p:sp>
      <p:sp>
        <p:nvSpPr>
          <p:cNvPr id="31" name="TextBox 30"/>
          <p:cNvSpPr txBox="1"/>
          <p:nvPr/>
        </p:nvSpPr>
        <p:spPr>
          <a:xfrm>
            <a:off x="8686800" y="1993392"/>
            <a:ext cx="548640" cy="292608"/>
          </a:xfrm>
          <a:prstGeom prst="rect">
            <a:avLst/>
          </a:prstGeom>
          <a:noFill/>
        </p:spPr>
        <p:txBody>
          <a:bodyPr wrap="square">
            <a:spAutoFit/>
          </a:bodyPr>
          <a:lstStyle/>
          <a:p>
            <a:pPr algn="ctr"/>
            <a:r>
              <a:rPr sz="1400" b="1" i="0">
                <a:solidFill>
                  <a:srgbClr val="1B3A5C"/>
                </a:solidFill>
              </a:rPr>
              <a:t>▼</a:t>
            </a:r>
          </a:p>
        </p:txBody>
      </p:sp>
      <p:sp>
        <p:nvSpPr>
          <p:cNvPr id="32" name="Rectangle 31"/>
          <p:cNvSpPr/>
          <p:nvPr/>
        </p:nvSpPr>
        <p:spPr>
          <a:xfrm>
            <a:off x="6583680" y="2304288"/>
            <a:ext cx="484632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583680" y="2304288"/>
            <a:ext cx="4846320" cy="502920"/>
          </a:xfrm>
          <a:prstGeom prst="rect">
            <a:avLst/>
          </a:prstGeom>
          <a:noFill/>
        </p:spPr>
        <p:txBody>
          <a:bodyPr wrap="square">
            <a:spAutoFit/>
          </a:bodyPr>
          <a:lstStyle/>
          <a:p>
            <a:pPr algn="ctr"/>
            <a:r>
              <a:rPr sz="1200" b="1" i="0">
                <a:solidFill>
                  <a:srgbClr val="FFFFFF"/>
                </a:solidFill>
              </a:rPr>
              <a:t>EfficientNetV2S Backbone</a:t>
            </a:r>
          </a:p>
        </p:txBody>
      </p:sp>
      <p:sp>
        <p:nvSpPr>
          <p:cNvPr id="34" name="TextBox 33"/>
          <p:cNvSpPr txBox="1"/>
          <p:nvPr/>
        </p:nvSpPr>
        <p:spPr>
          <a:xfrm>
            <a:off x="8686800" y="2834640"/>
            <a:ext cx="548640" cy="292608"/>
          </a:xfrm>
          <a:prstGeom prst="rect">
            <a:avLst/>
          </a:prstGeom>
          <a:noFill/>
        </p:spPr>
        <p:txBody>
          <a:bodyPr wrap="square">
            <a:spAutoFit/>
          </a:bodyPr>
          <a:lstStyle/>
          <a:p>
            <a:pPr algn="ctr"/>
            <a:r>
              <a:rPr sz="1400" b="1" i="0">
                <a:solidFill>
                  <a:srgbClr val="1B3A5C"/>
                </a:solidFill>
              </a:rPr>
              <a:t>▼</a:t>
            </a:r>
          </a:p>
        </p:txBody>
      </p:sp>
      <p:sp>
        <p:nvSpPr>
          <p:cNvPr id="35" name="Rectangle 34"/>
          <p:cNvSpPr/>
          <p:nvPr/>
        </p:nvSpPr>
        <p:spPr>
          <a:xfrm>
            <a:off x="6583680" y="3145536"/>
            <a:ext cx="4846320" cy="457200"/>
          </a:xfrm>
          <a:prstGeom prst="rect">
            <a:avLst/>
          </a:prstGeom>
          <a:solidFill>
            <a:srgbClr val="EBF0F7"/>
          </a:solidFill>
          <a:ln w="6350">
            <a:solidFill>
              <a:srgbClr val="D5DB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583680" y="3145536"/>
            <a:ext cx="4846320" cy="457200"/>
          </a:xfrm>
          <a:prstGeom prst="rect">
            <a:avLst/>
          </a:prstGeom>
          <a:noFill/>
        </p:spPr>
        <p:txBody>
          <a:bodyPr wrap="square">
            <a:spAutoFit/>
          </a:bodyPr>
          <a:lstStyle/>
          <a:p>
            <a:pPr algn="ctr"/>
            <a:r>
              <a:rPr sz="1100" b="0" i="0">
                <a:solidFill>
                  <a:srgbClr val="2C3E50"/>
                </a:solidFill>
              </a:rPr>
              <a:t>GAP → Dense(256, ReLU) → Dropout</a:t>
            </a:r>
          </a:p>
        </p:txBody>
      </p:sp>
      <p:sp>
        <p:nvSpPr>
          <p:cNvPr id="37" name="TextBox 36"/>
          <p:cNvSpPr txBox="1"/>
          <p:nvPr/>
        </p:nvSpPr>
        <p:spPr>
          <a:xfrm>
            <a:off x="8686800" y="3630168"/>
            <a:ext cx="548640" cy="292608"/>
          </a:xfrm>
          <a:prstGeom prst="rect">
            <a:avLst/>
          </a:prstGeom>
          <a:noFill/>
        </p:spPr>
        <p:txBody>
          <a:bodyPr wrap="square">
            <a:spAutoFit/>
          </a:bodyPr>
          <a:lstStyle/>
          <a:p>
            <a:pPr algn="ctr"/>
            <a:r>
              <a:rPr sz="1400" b="1" i="0">
                <a:solidFill>
                  <a:srgbClr val="27AE60"/>
                </a:solidFill>
              </a:rPr>
              <a:t>▼</a:t>
            </a:r>
          </a:p>
        </p:txBody>
      </p:sp>
      <p:sp>
        <p:nvSpPr>
          <p:cNvPr id="38" name="Rectangle 37"/>
          <p:cNvSpPr/>
          <p:nvPr/>
        </p:nvSpPr>
        <p:spPr>
          <a:xfrm>
            <a:off x="6583680" y="3941063"/>
            <a:ext cx="4846320" cy="45720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583680" y="3941063"/>
            <a:ext cx="4846320" cy="457200"/>
          </a:xfrm>
          <a:prstGeom prst="rect">
            <a:avLst/>
          </a:prstGeom>
          <a:noFill/>
        </p:spPr>
        <p:txBody>
          <a:bodyPr wrap="square">
            <a:spAutoFit/>
          </a:bodyPr>
          <a:lstStyle/>
          <a:p>
            <a:pPr algn="ctr"/>
            <a:r>
              <a:rPr sz="1200" b="1" i="0">
                <a:solidFill>
                  <a:srgbClr val="FFFFFF"/>
                </a:solidFill>
              </a:rPr>
              <a:t>CORN Logits  (2 values)</a:t>
            </a:r>
          </a:p>
        </p:txBody>
      </p:sp>
      <p:sp>
        <p:nvSpPr>
          <p:cNvPr id="40" name="TextBox 39"/>
          <p:cNvSpPr txBox="1"/>
          <p:nvPr/>
        </p:nvSpPr>
        <p:spPr>
          <a:xfrm>
            <a:off x="8686800" y="4425696"/>
            <a:ext cx="548640" cy="292608"/>
          </a:xfrm>
          <a:prstGeom prst="rect">
            <a:avLst/>
          </a:prstGeom>
          <a:noFill/>
        </p:spPr>
        <p:txBody>
          <a:bodyPr wrap="square">
            <a:spAutoFit/>
          </a:bodyPr>
          <a:lstStyle/>
          <a:p>
            <a:pPr algn="ctr"/>
            <a:r>
              <a:rPr sz="1400" b="1" i="0">
                <a:solidFill>
                  <a:srgbClr val="27AE60"/>
                </a:solidFill>
              </a:rPr>
              <a:t>▼</a:t>
            </a:r>
          </a:p>
        </p:txBody>
      </p:sp>
      <p:sp>
        <p:nvSpPr>
          <p:cNvPr id="41" name="Rectangle 40"/>
          <p:cNvSpPr/>
          <p:nvPr/>
        </p:nvSpPr>
        <p:spPr>
          <a:xfrm>
            <a:off x="6492240" y="4736592"/>
            <a:ext cx="1508760" cy="59436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492240" y="4736592"/>
            <a:ext cx="1508760" cy="594360"/>
          </a:xfrm>
          <a:prstGeom prst="rect">
            <a:avLst/>
          </a:prstGeom>
          <a:noFill/>
        </p:spPr>
        <p:txBody>
          <a:bodyPr wrap="square">
            <a:spAutoFit/>
          </a:bodyPr>
          <a:lstStyle/>
          <a:p>
            <a:pPr algn="ctr"/>
            <a:r>
              <a:rPr sz="1000" b="1" i="0">
                <a:solidFill>
                  <a:srgbClr val="FFFFFF"/>
                </a:solidFill>
              </a:rPr>
              <a:t>Grade 0
Healthy</a:t>
            </a:r>
          </a:p>
        </p:txBody>
      </p:sp>
      <p:sp>
        <p:nvSpPr>
          <p:cNvPr id="43" name="Rectangle 42"/>
          <p:cNvSpPr/>
          <p:nvPr/>
        </p:nvSpPr>
        <p:spPr>
          <a:xfrm>
            <a:off x="8119871" y="4736592"/>
            <a:ext cx="1508760"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119871" y="4736592"/>
            <a:ext cx="1508760" cy="594360"/>
          </a:xfrm>
          <a:prstGeom prst="rect">
            <a:avLst/>
          </a:prstGeom>
          <a:noFill/>
        </p:spPr>
        <p:txBody>
          <a:bodyPr wrap="square">
            <a:spAutoFit/>
          </a:bodyPr>
          <a:lstStyle/>
          <a:p>
            <a:pPr algn="ctr"/>
            <a:r>
              <a:rPr sz="1000" b="1" i="0">
                <a:solidFill>
                  <a:srgbClr val="FFFFFF"/>
                </a:solidFill>
              </a:rPr>
              <a:t>Grade 1
Single Infected</a:t>
            </a:r>
          </a:p>
        </p:txBody>
      </p:sp>
      <p:sp>
        <p:nvSpPr>
          <p:cNvPr id="45" name="Rectangle 44"/>
          <p:cNvSpPr/>
          <p:nvPr/>
        </p:nvSpPr>
        <p:spPr>
          <a:xfrm>
            <a:off x="9747504" y="4736592"/>
            <a:ext cx="1508760" cy="594360"/>
          </a:xfrm>
          <a:prstGeom prst="rect">
            <a:avLst/>
          </a:prstGeom>
          <a:solidFill>
            <a:srgbClr val="5D6D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747504" y="4736592"/>
            <a:ext cx="1508760" cy="594360"/>
          </a:xfrm>
          <a:prstGeom prst="rect">
            <a:avLst/>
          </a:prstGeom>
          <a:noFill/>
        </p:spPr>
        <p:txBody>
          <a:bodyPr wrap="square">
            <a:spAutoFit/>
          </a:bodyPr>
          <a:lstStyle/>
          <a:p>
            <a:pPr algn="ctr"/>
            <a:r>
              <a:rPr sz="1000" b="1" i="0">
                <a:solidFill>
                  <a:srgbClr val="FFFFFF"/>
                </a:solidFill>
              </a:rPr>
              <a:t>Grade 2
Mixed Infected</a:t>
            </a:r>
          </a:p>
        </p:txBody>
      </p:sp>
      <p:sp>
        <p:nvSpPr>
          <p:cNvPr id="47" name="Rectangle 46"/>
          <p:cNvSpPr/>
          <p:nvPr/>
        </p:nvSpPr>
        <p:spPr>
          <a:xfrm>
            <a:off x="6172200" y="5468112"/>
            <a:ext cx="5669280" cy="822960"/>
          </a:xfrm>
          <a:prstGeom prst="rect">
            <a:avLst/>
          </a:prstGeom>
          <a:solidFill>
            <a:srgbClr val="EBF0F7"/>
          </a:solidFill>
          <a:ln w="6350">
            <a:solidFill>
              <a:srgbClr val="D5DB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291072" y="5504688"/>
            <a:ext cx="5394960" cy="749808"/>
          </a:xfrm>
          <a:prstGeom prst="rect">
            <a:avLst/>
          </a:prstGeom>
          <a:noFill/>
        </p:spPr>
        <p:txBody>
          <a:bodyPr wrap="square">
            <a:spAutoFit/>
          </a:bodyPr>
          <a:lstStyle/>
          <a:p>
            <a:pPr algn="l">
              <a:spcBef>
                <a:spcPts val="200"/>
              </a:spcBef>
            </a:pPr>
            <a:r>
              <a:rPr sz="1100" b="0">
                <a:solidFill>
                  <a:srgbClr val="1B3A5C"/>
                </a:solidFill>
              </a:rPr>
              <a:t>P(Grade=0) = 1 − σ(l₀)</a:t>
            </a:r>
          </a:p>
          <a:p>
            <a:pPr algn="l">
              <a:spcBef>
                <a:spcPts val="200"/>
              </a:spcBef>
            </a:pPr>
            <a:r>
              <a:rPr sz="1100" b="0">
                <a:solidFill>
                  <a:srgbClr val="1B3A5C"/>
                </a:solidFill>
              </a:rPr>
              <a:t>P(Grade=1) = σ(l₀) · (1 − σ(l₁))</a:t>
            </a:r>
          </a:p>
          <a:p>
            <a:pPr algn="l">
              <a:spcBef>
                <a:spcPts val="200"/>
              </a:spcBef>
            </a:pPr>
            <a:r>
              <a:rPr sz="1100" b="0">
                <a:solidFill>
                  <a:srgbClr val="1B3A5C"/>
                </a:solidFill>
              </a:rPr>
              <a:t>P(Grade=2) = σ(l₀) · σ(l₁)</a:t>
            </a:r>
          </a:p>
        </p:txBody>
      </p:sp>
      <p:sp>
        <p:nvSpPr>
          <p:cNvPr id="49" name="Rectangle 48"/>
          <p:cNvSpPr/>
          <p:nvPr/>
        </p:nvSpPr>
        <p:spPr>
          <a:xfrm>
            <a:off x="274320" y="6601968"/>
            <a:ext cx="11640312" cy="201168"/>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11480" y="6620256"/>
            <a:ext cx="11338560" cy="164592"/>
          </a:xfrm>
          <a:prstGeom prst="rect">
            <a:avLst/>
          </a:prstGeom>
          <a:noFill/>
        </p:spPr>
        <p:txBody>
          <a:bodyPr wrap="square">
            <a:spAutoFit/>
          </a:bodyPr>
          <a:lstStyle/>
          <a:p>
            <a:pPr algn="ctr"/>
            <a:r>
              <a:rPr sz="1000" b="0" i="0">
                <a:solidFill>
                  <a:srgbClr val="ABC4DA"/>
                </a:solidFill>
              </a:rPr>
              <a:t>Tools:  TensorFlow 2.21  ·  Keras  ·  EfficientNetV2S  ·  ChromaDB  ·  Groq (Llama-3.3-70B)  ·  Streamlit  ·  Python 3.11  ·  NVIDIA RTX 5060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88952" cy="749808"/>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49808"/>
            <a:ext cx="12188952" cy="50292"/>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91440"/>
            <a:ext cx="11521440" cy="566928"/>
          </a:xfrm>
          <a:prstGeom prst="rect">
            <a:avLst/>
          </a:prstGeom>
          <a:noFill/>
        </p:spPr>
        <p:txBody>
          <a:bodyPr wrap="square">
            <a:spAutoFit/>
          </a:bodyPr>
          <a:lstStyle/>
          <a:p>
            <a:pPr algn="l"/>
            <a:r>
              <a:rPr sz="2600" b="1" i="0">
                <a:solidFill>
                  <a:srgbClr val="FFFFFF"/>
                </a:solidFill>
              </a:rPr>
              <a:t>System Design  /  Workflow</a:t>
            </a:r>
          </a:p>
        </p:txBody>
      </p:sp>
      <p:sp>
        <p:nvSpPr>
          <p:cNvPr id="5" name="Rectangle 4"/>
          <p:cNvSpPr/>
          <p:nvPr/>
        </p:nvSpPr>
        <p:spPr>
          <a:xfrm>
            <a:off x="274320" y="960120"/>
            <a:ext cx="2066543" cy="137160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960120"/>
            <a:ext cx="2066543" cy="1371600"/>
          </a:xfrm>
          <a:prstGeom prst="rect">
            <a:avLst/>
          </a:prstGeom>
          <a:noFill/>
        </p:spPr>
        <p:txBody>
          <a:bodyPr wrap="square">
            <a:spAutoFit/>
          </a:bodyPr>
          <a:lstStyle/>
          <a:p>
            <a:pPr algn="ctr"/>
            <a:r>
              <a:rPr sz="1200" b="1" i="0">
                <a:solidFill>
                  <a:srgbClr val="FFFFFF"/>
                </a:solidFill>
              </a:rPr>
              <a:t>1
Data
Collection</a:t>
            </a:r>
          </a:p>
        </p:txBody>
      </p:sp>
      <p:sp>
        <p:nvSpPr>
          <p:cNvPr id="7" name="Rectangle 6"/>
          <p:cNvSpPr/>
          <p:nvPr/>
        </p:nvSpPr>
        <p:spPr>
          <a:xfrm>
            <a:off x="274320" y="2423160"/>
            <a:ext cx="2066543" cy="960120"/>
          </a:xfrm>
          <a:prstGeom prst="rect">
            <a:avLst/>
          </a:prstGeom>
          <a:solidFill>
            <a:srgbClr val="E8F8F0"/>
          </a:solidFill>
          <a:ln w="6350">
            <a:solidFill>
              <a:srgbClr val="D5DB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0040" y="2468880"/>
            <a:ext cx="1975103" cy="914400"/>
          </a:xfrm>
          <a:prstGeom prst="rect">
            <a:avLst/>
          </a:prstGeom>
          <a:noFill/>
        </p:spPr>
        <p:txBody>
          <a:bodyPr wrap="square">
            <a:spAutoFit/>
          </a:bodyPr>
          <a:lstStyle/>
          <a:p>
            <a:pPr algn="ctr"/>
            <a:r>
              <a:rPr sz="1100" b="0" i="0">
                <a:solidFill>
                  <a:srgbClr val="2C3E50"/>
                </a:solidFill>
              </a:rPr>
              <a:t>761 images
MDI Savar
Dhaka</a:t>
            </a:r>
          </a:p>
        </p:txBody>
      </p:sp>
      <p:sp>
        <p:nvSpPr>
          <p:cNvPr id="9" name="TextBox 8"/>
          <p:cNvSpPr txBox="1"/>
          <p:nvPr/>
        </p:nvSpPr>
        <p:spPr>
          <a:xfrm>
            <a:off x="2340863" y="1417320"/>
            <a:ext cx="109728" cy="365760"/>
          </a:xfrm>
          <a:prstGeom prst="rect">
            <a:avLst/>
          </a:prstGeom>
          <a:noFill/>
        </p:spPr>
        <p:txBody>
          <a:bodyPr wrap="square">
            <a:spAutoFit/>
          </a:bodyPr>
          <a:lstStyle/>
          <a:p>
            <a:pPr algn="ctr"/>
            <a:r>
              <a:rPr sz="1300" b="1" i="0">
                <a:solidFill>
                  <a:srgbClr val="5D6D7E"/>
                </a:solidFill>
              </a:rPr>
              <a:t>▶</a:t>
            </a:r>
          </a:p>
        </p:txBody>
      </p:sp>
      <p:sp>
        <p:nvSpPr>
          <p:cNvPr id="10" name="Rectangle 9"/>
          <p:cNvSpPr/>
          <p:nvPr/>
        </p:nvSpPr>
        <p:spPr>
          <a:xfrm>
            <a:off x="2450591" y="960120"/>
            <a:ext cx="2066543" cy="13716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450591" y="960120"/>
            <a:ext cx="2066543" cy="1371600"/>
          </a:xfrm>
          <a:prstGeom prst="rect">
            <a:avLst/>
          </a:prstGeom>
          <a:noFill/>
        </p:spPr>
        <p:txBody>
          <a:bodyPr wrap="square">
            <a:spAutoFit/>
          </a:bodyPr>
          <a:lstStyle/>
          <a:p>
            <a:pPr algn="ctr"/>
            <a:r>
              <a:rPr sz="1200" b="1" i="0">
                <a:solidFill>
                  <a:srgbClr val="FFFFFF"/>
                </a:solidFill>
              </a:rPr>
              <a:t>2
Preprocess
&amp; Augment</a:t>
            </a:r>
          </a:p>
        </p:txBody>
      </p:sp>
      <p:sp>
        <p:nvSpPr>
          <p:cNvPr id="12" name="Rectangle 11"/>
          <p:cNvSpPr/>
          <p:nvPr/>
        </p:nvSpPr>
        <p:spPr>
          <a:xfrm>
            <a:off x="2450591" y="2423160"/>
            <a:ext cx="2066543" cy="960120"/>
          </a:xfrm>
          <a:prstGeom prst="rect">
            <a:avLst/>
          </a:prstGeom>
          <a:solidFill>
            <a:srgbClr val="EBF0F7"/>
          </a:solidFill>
          <a:ln w="6350">
            <a:solidFill>
              <a:srgbClr val="D5DB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496311" y="2468880"/>
            <a:ext cx="1975103" cy="914400"/>
          </a:xfrm>
          <a:prstGeom prst="rect">
            <a:avLst/>
          </a:prstGeom>
          <a:noFill/>
        </p:spPr>
        <p:txBody>
          <a:bodyPr wrap="square">
            <a:spAutoFit/>
          </a:bodyPr>
          <a:lstStyle/>
          <a:p>
            <a:pPr algn="ctr"/>
            <a:r>
              <a:rPr sz="1100" b="0" i="0">
                <a:solidFill>
                  <a:srgbClr val="2C3E50"/>
                </a:solidFill>
              </a:rPr>
              <a:t>Resize 224×224
2,400 train
images</a:t>
            </a:r>
          </a:p>
        </p:txBody>
      </p:sp>
      <p:sp>
        <p:nvSpPr>
          <p:cNvPr id="14" name="TextBox 13"/>
          <p:cNvSpPr txBox="1"/>
          <p:nvPr/>
        </p:nvSpPr>
        <p:spPr>
          <a:xfrm>
            <a:off x="4517136" y="1417320"/>
            <a:ext cx="109728" cy="365760"/>
          </a:xfrm>
          <a:prstGeom prst="rect">
            <a:avLst/>
          </a:prstGeom>
          <a:noFill/>
        </p:spPr>
        <p:txBody>
          <a:bodyPr wrap="square">
            <a:spAutoFit/>
          </a:bodyPr>
          <a:lstStyle/>
          <a:p>
            <a:pPr algn="ctr"/>
            <a:r>
              <a:rPr sz="1300" b="1" i="0">
                <a:solidFill>
                  <a:srgbClr val="5D6D7E"/>
                </a:solidFill>
              </a:rPr>
              <a:t>▶</a:t>
            </a:r>
          </a:p>
        </p:txBody>
      </p:sp>
      <p:sp>
        <p:nvSpPr>
          <p:cNvPr id="15" name="Rectangle 14"/>
          <p:cNvSpPr/>
          <p:nvPr/>
        </p:nvSpPr>
        <p:spPr>
          <a:xfrm>
            <a:off x="4626864" y="960120"/>
            <a:ext cx="2066543" cy="137160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26864" y="960120"/>
            <a:ext cx="2066543" cy="1371600"/>
          </a:xfrm>
          <a:prstGeom prst="rect">
            <a:avLst/>
          </a:prstGeom>
          <a:noFill/>
        </p:spPr>
        <p:txBody>
          <a:bodyPr wrap="square">
            <a:spAutoFit/>
          </a:bodyPr>
          <a:lstStyle/>
          <a:p>
            <a:pPr algn="ctr"/>
            <a:r>
              <a:rPr sz="1200" b="1" i="0">
                <a:solidFill>
                  <a:srgbClr val="FFFFFF"/>
                </a:solidFill>
              </a:rPr>
              <a:t>3
Model
Training</a:t>
            </a:r>
          </a:p>
        </p:txBody>
      </p:sp>
      <p:sp>
        <p:nvSpPr>
          <p:cNvPr id="17" name="Rectangle 16"/>
          <p:cNvSpPr/>
          <p:nvPr/>
        </p:nvSpPr>
        <p:spPr>
          <a:xfrm>
            <a:off x="4626864" y="2423160"/>
            <a:ext cx="2066543" cy="960120"/>
          </a:xfrm>
          <a:prstGeom prst="rect">
            <a:avLst/>
          </a:prstGeom>
          <a:solidFill>
            <a:srgbClr val="E8F8F0"/>
          </a:solidFill>
          <a:ln w="6350">
            <a:solidFill>
              <a:srgbClr val="D5DB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72583" y="2468880"/>
            <a:ext cx="1975103" cy="914400"/>
          </a:xfrm>
          <a:prstGeom prst="rect">
            <a:avLst/>
          </a:prstGeom>
          <a:noFill/>
        </p:spPr>
        <p:txBody>
          <a:bodyPr wrap="square">
            <a:spAutoFit/>
          </a:bodyPr>
          <a:lstStyle/>
          <a:p>
            <a:pPr algn="ctr"/>
            <a:r>
              <a:rPr sz="1100" b="0" i="0">
                <a:solidFill>
                  <a:srgbClr val="2C3E50"/>
                </a:solidFill>
              </a:rPr>
              <a:t>EfficientNetV2S
+ CORN Loss
2-stage fine-tune</a:t>
            </a:r>
          </a:p>
        </p:txBody>
      </p:sp>
      <p:sp>
        <p:nvSpPr>
          <p:cNvPr id="19" name="TextBox 18"/>
          <p:cNvSpPr txBox="1"/>
          <p:nvPr/>
        </p:nvSpPr>
        <p:spPr>
          <a:xfrm>
            <a:off x="6693407" y="1417320"/>
            <a:ext cx="109728" cy="365760"/>
          </a:xfrm>
          <a:prstGeom prst="rect">
            <a:avLst/>
          </a:prstGeom>
          <a:noFill/>
        </p:spPr>
        <p:txBody>
          <a:bodyPr wrap="square">
            <a:spAutoFit/>
          </a:bodyPr>
          <a:lstStyle/>
          <a:p>
            <a:pPr algn="ctr"/>
            <a:r>
              <a:rPr sz="1300" b="1" i="0">
                <a:solidFill>
                  <a:srgbClr val="5D6D7E"/>
                </a:solidFill>
              </a:rPr>
              <a:t>▶</a:t>
            </a:r>
          </a:p>
        </p:txBody>
      </p:sp>
      <p:sp>
        <p:nvSpPr>
          <p:cNvPr id="20" name="Rectangle 19"/>
          <p:cNvSpPr/>
          <p:nvPr/>
        </p:nvSpPr>
        <p:spPr>
          <a:xfrm>
            <a:off x="6803136" y="960120"/>
            <a:ext cx="2066543" cy="13716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03136" y="960120"/>
            <a:ext cx="2066543" cy="1371600"/>
          </a:xfrm>
          <a:prstGeom prst="rect">
            <a:avLst/>
          </a:prstGeom>
          <a:noFill/>
        </p:spPr>
        <p:txBody>
          <a:bodyPr wrap="square">
            <a:spAutoFit/>
          </a:bodyPr>
          <a:lstStyle/>
          <a:p>
            <a:pPr algn="ctr"/>
            <a:r>
              <a:rPr sz="1200" b="1" i="0">
                <a:solidFill>
                  <a:srgbClr val="FFFFFF"/>
                </a:solidFill>
              </a:rPr>
              <a:t>4
Inference
&amp; Grade</a:t>
            </a:r>
          </a:p>
        </p:txBody>
      </p:sp>
      <p:sp>
        <p:nvSpPr>
          <p:cNvPr id="22" name="Rectangle 21"/>
          <p:cNvSpPr/>
          <p:nvPr/>
        </p:nvSpPr>
        <p:spPr>
          <a:xfrm>
            <a:off x="6803136" y="2423160"/>
            <a:ext cx="2066543" cy="960120"/>
          </a:xfrm>
          <a:prstGeom prst="rect">
            <a:avLst/>
          </a:prstGeom>
          <a:solidFill>
            <a:srgbClr val="EBF0F7"/>
          </a:solidFill>
          <a:ln w="6350">
            <a:solidFill>
              <a:srgbClr val="D5DB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48855" y="2468880"/>
            <a:ext cx="1975103" cy="914400"/>
          </a:xfrm>
          <a:prstGeom prst="rect">
            <a:avLst/>
          </a:prstGeom>
          <a:noFill/>
        </p:spPr>
        <p:txBody>
          <a:bodyPr wrap="square">
            <a:spAutoFit/>
          </a:bodyPr>
          <a:lstStyle/>
          <a:p>
            <a:pPr algn="ctr"/>
            <a:r>
              <a:rPr sz="1100" b="0" i="0">
                <a:solidFill>
                  <a:srgbClr val="2C3E50"/>
                </a:solidFill>
              </a:rPr>
              <a:t>Upload image
Predict Grade
0 / 1 / 2</a:t>
            </a:r>
          </a:p>
        </p:txBody>
      </p:sp>
      <p:sp>
        <p:nvSpPr>
          <p:cNvPr id="24" name="TextBox 23"/>
          <p:cNvSpPr txBox="1"/>
          <p:nvPr/>
        </p:nvSpPr>
        <p:spPr>
          <a:xfrm>
            <a:off x="8869680" y="1417320"/>
            <a:ext cx="109728" cy="365760"/>
          </a:xfrm>
          <a:prstGeom prst="rect">
            <a:avLst/>
          </a:prstGeom>
          <a:noFill/>
        </p:spPr>
        <p:txBody>
          <a:bodyPr wrap="square">
            <a:spAutoFit/>
          </a:bodyPr>
          <a:lstStyle/>
          <a:p>
            <a:pPr algn="ctr"/>
            <a:r>
              <a:rPr sz="1300" b="1" i="0">
                <a:solidFill>
                  <a:srgbClr val="5D6D7E"/>
                </a:solidFill>
              </a:rPr>
              <a:t>▶</a:t>
            </a:r>
          </a:p>
        </p:txBody>
      </p:sp>
      <p:sp>
        <p:nvSpPr>
          <p:cNvPr id="25" name="Rectangle 24"/>
          <p:cNvSpPr/>
          <p:nvPr/>
        </p:nvSpPr>
        <p:spPr>
          <a:xfrm>
            <a:off x="8979408" y="960120"/>
            <a:ext cx="2066543" cy="137160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979408" y="960120"/>
            <a:ext cx="2066543" cy="1371600"/>
          </a:xfrm>
          <a:prstGeom prst="rect">
            <a:avLst/>
          </a:prstGeom>
          <a:noFill/>
        </p:spPr>
        <p:txBody>
          <a:bodyPr wrap="square">
            <a:spAutoFit/>
          </a:bodyPr>
          <a:lstStyle/>
          <a:p>
            <a:pPr algn="ctr"/>
            <a:r>
              <a:rPr sz="1200" b="1" i="0">
                <a:solidFill>
                  <a:srgbClr val="FFFFFF"/>
                </a:solidFill>
              </a:rPr>
              <a:t>5
Advisory
Output</a:t>
            </a:r>
          </a:p>
        </p:txBody>
      </p:sp>
      <p:sp>
        <p:nvSpPr>
          <p:cNvPr id="27" name="Rectangle 26"/>
          <p:cNvSpPr/>
          <p:nvPr/>
        </p:nvSpPr>
        <p:spPr>
          <a:xfrm>
            <a:off x="8979408" y="2423160"/>
            <a:ext cx="2066543" cy="960120"/>
          </a:xfrm>
          <a:prstGeom prst="rect">
            <a:avLst/>
          </a:prstGeom>
          <a:solidFill>
            <a:srgbClr val="E8F8F0"/>
          </a:solidFill>
          <a:ln w="6350">
            <a:solidFill>
              <a:srgbClr val="D5DB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25128" y="2468880"/>
            <a:ext cx="1975103" cy="914400"/>
          </a:xfrm>
          <a:prstGeom prst="rect">
            <a:avLst/>
          </a:prstGeom>
          <a:noFill/>
        </p:spPr>
        <p:txBody>
          <a:bodyPr wrap="square">
            <a:spAutoFit/>
          </a:bodyPr>
          <a:lstStyle/>
          <a:p>
            <a:pPr algn="ctr"/>
            <a:r>
              <a:rPr sz="1100" b="0" i="0">
                <a:solidFill>
                  <a:srgbClr val="2C3E50"/>
                </a:solidFill>
              </a:rPr>
              <a:t>Grad-CAM
+ RAG Chat
+ Recommendations</a:t>
            </a:r>
          </a:p>
        </p:txBody>
      </p:sp>
      <p:sp>
        <p:nvSpPr>
          <p:cNvPr id="29" name="Rectangle 28"/>
          <p:cNvSpPr/>
          <p:nvPr/>
        </p:nvSpPr>
        <p:spPr>
          <a:xfrm>
            <a:off x="274320" y="3547872"/>
            <a:ext cx="11640312" cy="36576"/>
          </a:xfrm>
          <a:prstGeom prst="rect">
            <a:avLst/>
          </a:prstGeom>
          <a:solidFill>
            <a:srgbClr val="D5DB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74320" y="3639312"/>
            <a:ext cx="3200400" cy="320040"/>
          </a:xfrm>
          <a:prstGeom prst="rect">
            <a:avLst/>
          </a:prstGeom>
          <a:noFill/>
        </p:spPr>
        <p:txBody>
          <a:bodyPr wrap="square">
            <a:spAutoFit/>
          </a:bodyPr>
          <a:lstStyle/>
          <a:p>
            <a:pPr algn="l"/>
            <a:r>
              <a:rPr sz="1300" b="1" i="0">
                <a:solidFill>
                  <a:srgbClr val="1B3A5C"/>
                </a:solidFill>
              </a:rPr>
              <a:t>Sub-System Detail</a:t>
            </a:r>
          </a:p>
        </p:txBody>
      </p:sp>
      <p:sp>
        <p:nvSpPr>
          <p:cNvPr id="31" name="Rectangle 30"/>
          <p:cNvSpPr/>
          <p:nvPr/>
        </p:nvSpPr>
        <p:spPr>
          <a:xfrm>
            <a:off x="274320" y="4005072"/>
            <a:ext cx="3794760" cy="2624328"/>
          </a:xfrm>
          <a:prstGeom prst="rect">
            <a:avLst/>
          </a:prstGeom>
          <a:solidFill>
            <a:srgbClr val="EBF0F7"/>
          </a:solidFill>
          <a:ln w="6350">
            <a:solidFill>
              <a:srgbClr val="D5DB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274320" y="4005072"/>
            <a:ext cx="3794760" cy="54864"/>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11479" y="4059936"/>
            <a:ext cx="3566160" cy="329184"/>
          </a:xfrm>
          <a:prstGeom prst="rect">
            <a:avLst/>
          </a:prstGeom>
          <a:noFill/>
        </p:spPr>
        <p:txBody>
          <a:bodyPr wrap="square">
            <a:spAutoFit/>
          </a:bodyPr>
          <a:lstStyle/>
          <a:p>
            <a:pPr algn="l"/>
            <a:r>
              <a:rPr sz="1300" b="1" i="0">
                <a:solidFill>
                  <a:srgbClr val="1B3A5C"/>
                </a:solidFill>
              </a:rPr>
              <a:t>Training Pipeline</a:t>
            </a:r>
          </a:p>
        </p:txBody>
      </p:sp>
      <p:sp>
        <p:nvSpPr>
          <p:cNvPr id="34" name="Rectangle 33"/>
          <p:cNvSpPr/>
          <p:nvPr/>
        </p:nvSpPr>
        <p:spPr>
          <a:xfrm>
            <a:off x="438912" y="4572000"/>
            <a:ext cx="64008" cy="64008"/>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94359" y="4462272"/>
            <a:ext cx="3337560" cy="310896"/>
          </a:xfrm>
          <a:prstGeom prst="rect">
            <a:avLst/>
          </a:prstGeom>
          <a:noFill/>
        </p:spPr>
        <p:txBody>
          <a:bodyPr wrap="square">
            <a:spAutoFit/>
          </a:bodyPr>
          <a:lstStyle/>
          <a:p>
            <a:pPr algn="l"/>
            <a:r>
              <a:rPr sz="1150" b="0" i="0">
                <a:solidFill>
                  <a:srgbClr val="2C3E50"/>
                </a:solidFill>
              </a:rPr>
              <a:t>image_dataset_from_directory</a:t>
            </a:r>
          </a:p>
        </p:txBody>
      </p:sp>
      <p:sp>
        <p:nvSpPr>
          <p:cNvPr id="36" name="Rectangle 35"/>
          <p:cNvSpPr/>
          <p:nvPr/>
        </p:nvSpPr>
        <p:spPr>
          <a:xfrm>
            <a:off x="438912" y="4882896"/>
            <a:ext cx="64008" cy="64008"/>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94359" y="4773168"/>
            <a:ext cx="3337560" cy="310896"/>
          </a:xfrm>
          <a:prstGeom prst="rect">
            <a:avLst/>
          </a:prstGeom>
          <a:noFill/>
        </p:spPr>
        <p:txBody>
          <a:bodyPr wrap="square">
            <a:spAutoFit/>
          </a:bodyPr>
          <a:lstStyle/>
          <a:p>
            <a:pPr algn="l"/>
            <a:r>
              <a:rPr sz="1150" b="0" i="0">
                <a:solidFill>
                  <a:srgbClr val="2C3E50"/>
                </a:solidFill>
              </a:rPr>
              <a:t>ALPHA_TO_ORDINAL label mapping</a:t>
            </a:r>
          </a:p>
        </p:txBody>
      </p:sp>
      <p:sp>
        <p:nvSpPr>
          <p:cNvPr id="38" name="Rectangle 37"/>
          <p:cNvSpPr/>
          <p:nvPr/>
        </p:nvSpPr>
        <p:spPr>
          <a:xfrm>
            <a:off x="438912" y="5193792"/>
            <a:ext cx="64008" cy="64008"/>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94359" y="5084064"/>
            <a:ext cx="3337560" cy="310896"/>
          </a:xfrm>
          <a:prstGeom prst="rect">
            <a:avLst/>
          </a:prstGeom>
          <a:noFill/>
        </p:spPr>
        <p:txBody>
          <a:bodyPr wrap="square">
            <a:spAutoFit/>
          </a:bodyPr>
          <a:lstStyle/>
          <a:p>
            <a:pPr algn="l"/>
            <a:r>
              <a:rPr sz="1150" b="0" i="0">
                <a:solidFill>
                  <a:srgbClr val="2C3E50"/>
                </a:solidFill>
              </a:rPr>
              <a:t>Mixed precision (fp16) on GPU</a:t>
            </a:r>
          </a:p>
        </p:txBody>
      </p:sp>
      <p:sp>
        <p:nvSpPr>
          <p:cNvPr id="40" name="Rectangle 39"/>
          <p:cNvSpPr/>
          <p:nvPr/>
        </p:nvSpPr>
        <p:spPr>
          <a:xfrm>
            <a:off x="438912" y="5504688"/>
            <a:ext cx="64008" cy="64008"/>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94359" y="5394959"/>
            <a:ext cx="3337560" cy="310896"/>
          </a:xfrm>
          <a:prstGeom prst="rect">
            <a:avLst/>
          </a:prstGeom>
          <a:noFill/>
        </p:spPr>
        <p:txBody>
          <a:bodyPr wrap="square">
            <a:spAutoFit/>
          </a:bodyPr>
          <a:lstStyle/>
          <a:p>
            <a:pPr algn="l"/>
            <a:r>
              <a:rPr sz="1150" b="0" i="0">
                <a:solidFill>
                  <a:srgbClr val="2C3E50"/>
                </a:solidFill>
              </a:rPr>
              <a:t>Early stopping + weight save</a:t>
            </a:r>
          </a:p>
        </p:txBody>
      </p:sp>
      <p:sp>
        <p:nvSpPr>
          <p:cNvPr id="42" name="Rectangle 41"/>
          <p:cNvSpPr/>
          <p:nvPr/>
        </p:nvSpPr>
        <p:spPr>
          <a:xfrm>
            <a:off x="4279392" y="4005072"/>
            <a:ext cx="3794760" cy="2624328"/>
          </a:xfrm>
          <a:prstGeom prst="rect">
            <a:avLst/>
          </a:prstGeom>
          <a:solidFill>
            <a:srgbClr val="E8F8F0"/>
          </a:solidFill>
          <a:ln w="6350">
            <a:solidFill>
              <a:srgbClr val="D5DB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4279392" y="4005072"/>
            <a:ext cx="3794760" cy="54864"/>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416552" y="4059936"/>
            <a:ext cx="3566160" cy="329184"/>
          </a:xfrm>
          <a:prstGeom prst="rect">
            <a:avLst/>
          </a:prstGeom>
          <a:noFill/>
        </p:spPr>
        <p:txBody>
          <a:bodyPr wrap="square">
            <a:spAutoFit/>
          </a:bodyPr>
          <a:lstStyle/>
          <a:p>
            <a:pPr algn="l"/>
            <a:r>
              <a:rPr sz="1300" b="1" i="0">
                <a:solidFill>
                  <a:srgbClr val="27AE60"/>
                </a:solidFill>
              </a:rPr>
              <a:t>Inference Pipeline</a:t>
            </a:r>
          </a:p>
        </p:txBody>
      </p:sp>
      <p:sp>
        <p:nvSpPr>
          <p:cNvPr id="45" name="Rectangle 44"/>
          <p:cNvSpPr/>
          <p:nvPr/>
        </p:nvSpPr>
        <p:spPr>
          <a:xfrm>
            <a:off x="4443983" y="4572000"/>
            <a:ext cx="64008" cy="64008"/>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599431" y="4462272"/>
            <a:ext cx="3337560" cy="310896"/>
          </a:xfrm>
          <a:prstGeom prst="rect">
            <a:avLst/>
          </a:prstGeom>
          <a:noFill/>
        </p:spPr>
        <p:txBody>
          <a:bodyPr wrap="square">
            <a:spAutoFit/>
          </a:bodyPr>
          <a:lstStyle/>
          <a:p>
            <a:pPr algn="l"/>
            <a:r>
              <a:rPr sz="1150" b="0" i="0">
                <a:solidFill>
                  <a:srgbClr val="2C3E50"/>
                </a:solidFill>
              </a:rPr>
              <a:t>PIL → resize → normalize</a:t>
            </a:r>
          </a:p>
        </p:txBody>
      </p:sp>
      <p:sp>
        <p:nvSpPr>
          <p:cNvPr id="47" name="Rectangle 46"/>
          <p:cNvSpPr/>
          <p:nvPr/>
        </p:nvSpPr>
        <p:spPr>
          <a:xfrm>
            <a:off x="4443983" y="4882896"/>
            <a:ext cx="64008" cy="64008"/>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599431" y="4773168"/>
            <a:ext cx="3337560" cy="310896"/>
          </a:xfrm>
          <a:prstGeom prst="rect">
            <a:avLst/>
          </a:prstGeom>
          <a:noFill/>
        </p:spPr>
        <p:txBody>
          <a:bodyPr wrap="square">
            <a:spAutoFit/>
          </a:bodyPr>
          <a:lstStyle/>
          <a:p>
            <a:pPr algn="l"/>
            <a:r>
              <a:rPr sz="1150" b="0" i="0">
                <a:solidFill>
                  <a:srgbClr val="2C3E50"/>
                </a:solidFill>
              </a:rPr>
              <a:t>corn_predict() → class probs</a:t>
            </a:r>
          </a:p>
        </p:txBody>
      </p:sp>
      <p:sp>
        <p:nvSpPr>
          <p:cNvPr id="49" name="Rectangle 48"/>
          <p:cNvSpPr/>
          <p:nvPr/>
        </p:nvSpPr>
        <p:spPr>
          <a:xfrm>
            <a:off x="4443983" y="5193792"/>
            <a:ext cx="64008" cy="64008"/>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599431" y="5084064"/>
            <a:ext cx="3337560" cy="310896"/>
          </a:xfrm>
          <a:prstGeom prst="rect">
            <a:avLst/>
          </a:prstGeom>
          <a:noFill/>
        </p:spPr>
        <p:txBody>
          <a:bodyPr wrap="square">
            <a:spAutoFit/>
          </a:bodyPr>
          <a:lstStyle/>
          <a:p>
            <a:pPr algn="l"/>
            <a:r>
              <a:rPr sz="1150" b="0" i="0">
                <a:solidFill>
                  <a:srgbClr val="2C3E50"/>
                </a:solidFill>
              </a:rPr>
              <a:t>argmax → Grade 0 / 1 / 2</a:t>
            </a:r>
          </a:p>
        </p:txBody>
      </p:sp>
      <p:sp>
        <p:nvSpPr>
          <p:cNvPr id="51" name="Rectangle 50"/>
          <p:cNvSpPr/>
          <p:nvPr/>
        </p:nvSpPr>
        <p:spPr>
          <a:xfrm>
            <a:off x="4443983" y="5504688"/>
            <a:ext cx="64008" cy="64008"/>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4599431" y="5394959"/>
            <a:ext cx="3337560" cy="310896"/>
          </a:xfrm>
          <a:prstGeom prst="rect">
            <a:avLst/>
          </a:prstGeom>
          <a:noFill/>
        </p:spPr>
        <p:txBody>
          <a:bodyPr wrap="square">
            <a:spAutoFit/>
          </a:bodyPr>
          <a:lstStyle/>
          <a:p>
            <a:pPr algn="l"/>
            <a:r>
              <a:rPr sz="1150" b="0" i="0">
                <a:solidFill>
                  <a:srgbClr val="2C3E50"/>
                </a:solidFill>
              </a:rPr>
              <a:t>Grad-CAM / saliency overlay</a:t>
            </a:r>
          </a:p>
        </p:txBody>
      </p:sp>
      <p:sp>
        <p:nvSpPr>
          <p:cNvPr id="53" name="Rectangle 52"/>
          <p:cNvSpPr/>
          <p:nvPr/>
        </p:nvSpPr>
        <p:spPr>
          <a:xfrm>
            <a:off x="8284464" y="4005072"/>
            <a:ext cx="3794760" cy="2624328"/>
          </a:xfrm>
          <a:prstGeom prst="rect">
            <a:avLst/>
          </a:prstGeom>
          <a:solidFill>
            <a:srgbClr val="EBF0F7"/>
          </a:solidFill>
          <a:ln w="6350">
            <a:solidFill>
              <a:srgbClr val="D5DB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8284464" y="4005072"/>
            <a:ext cx="3794760" cy="54864"/>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421624" y="4059936"/>
            <a:ext cx="3566160" cy="329184"/>
          </a:xfrm>
          <a:prstGeom prst="rect">
            <a:avLst/>
          </a:prstGeom>
          <a:noFill/>
        </p:spPr>
        <p:txBody>
          <a:bodyPr wrap="square">
            <a:spAutoFit/>
          </a:bodyPr>
          <a:lstStyle/>
          <a:p>
            <a:pPr algn="l"/>
            <a:r>
              <a:rPr sz="1300" b="1" i="0">
                <a:solidFill>
                  <a:srgbClr val="1B3A5C"/>
                </a:solidFill>
              </a:rPr>
              <a:t>RAG Advisory Pipeline</a:t>
            </a:r>
          </a:p>
        </p:txBody>
      </p:sp>
      <p:sp>
        <p:nvSpPr>
          <p:cNvPr id="56" name="Rectangle 55"/>
          <p:cNvSpPr/>
          <p:nvPr/>
        </p:nvSpPr>
        <p:spPr>
          <a:xfrm>
            <a:off x="8449056" y="4572000"/>
            <a:ext cx="64008" cy="64008"/>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604504" y="4462272"/>
            <a:ext cx="3337560" cy="310896"/>
          </a:xfrm>
          <a:prstGeom prst="rect">
            <a:avLst/>
          </a:prstGeom>
          <a:noFill/>
        </p:spPr>
        <p:txBody>
          <a:bodyPr wrap="square">
            <a:spAutoFit/>
          </a:bodyPr>
          <a:lstStyle/>
          <a:p>
            <a:pPr algn="l"/>
            <a:r>
              <a:rPr sz="1150" b="0" i="0">
                <a:solidFill>
                  <a:srgbClr val="2C3E50"/>
                </a:solidFill>
              </a:rPr>
              <a:t>Query → SentenceTransformer</a:t>
            </a:r>
          </a:p>
        </p:txBody>
      </p:sp>
      <p:sp>
        <p:nvSpPr>
          <p:cNvPr id="58" name="Rectangle 57"/>
          <p:cNvSpPr/>
          <p:nvPr/>
        </p:nvSpPr>
        <p:spPr>
          <a:xfrm>
            <a:off x="8449056" y="4882896"/>
            <a:ext cx="64008" cy="64008"/>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8604504" y="4773168"/>
            <a:ext cx="3337560" cy="310896"/>
          </a:xfrm>
          <a:prstGeom prst="rect">
            <a:avLst/>
          </a:prstGeom>
          <a:noFill/>
        </p:spPr>
        <p:txBody>
          <a:bodyPr wrap="square">
            <a:spAutoFit/>
          </a:bodyPr>
          <a:lstStyle/>
          <a:p>
            <a:pPr algn="l"/>
            <a:r>
              <a:rPr sz="1150" b="0" i="0">
                <a:solidFill>
                  <a:srgbClr val="2C3E50"/>
                </a:solidFill>
              </a:rPr>
              <a:t>ChromaDB cosine similarity</a:t>
            </a:r>
          </a:p>
        </p:txBody>
      </p:sp>
      <p:sp>
        <p:nvSpPr>
          <p:cNvPr id="60" name="Rectangle 59"/>
          <p:cNvSpPr/>
          <p:nvPr/>
        </p:nvSpPr>
        <p:spPr>
          <a:xfrm>
            <a:off x="8449056" y="5193792"/>
            <a:ext cx="64008" cy="64008"/>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8604504" y="5084064"/>
            <a:ext cx="3337560" cy="310896"/>
          </a:xfrm>
          <a:prstGeom prst="rect">
            <a:avLst/>
          </a:prstGeom>
          <a:noFill/>
        </p:spPr>
        <p:txBody>
          <a:bodyPr wrap="square">
            <a:spAutoFit/>
          </a:bodyPr>
          <a:lstStyle/>
          <a:p>
            <a:pPr algn="l"/>
            <a:r>
              <a:rPr sz="1150" b="0" i="0">
                <a:solidFill>
                  <a:srgbClr val="2C3E50"/>
                </a:solidFill>
              </a:rPr>
              <a:t>Top-4 chunks → Groq LLM</a:t>
            </a:r>
          </a:p>
        </p:txBody>
      </p:sp>
      <p:sp>
        <p:nvSpPr>
          <p:cNvPr id="62" name="Rectangle 61"/>
          <p:cNvSpPr/>
          <p:nvPr/>
        </p:nvSpPr>
        <p:spPr>
          <a:xfrm>
            <a:off x="8449056" y="5504688"/>
            <a:ext cx="64008" cy="64008"/>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8604504" y="5394959"/>
            <a:ext cx="3337560" cy="310896"/>
          </a:xfrm>
          <a:prstGeom prst="rect">
            <a:avLst/>
          </a:prstGeom>
          <a:noFill/>
        </p:spPr>
        <p:txBody>
          <a:bodyPr wrap="square">
            <a:spAutoFit/>
          </a:bodyPr>
          <a:lstStyle/>
          <a:p>
            <a:pPr algn="l"/>
            <a:r>
              <a:rPr sz="1150" b="0" i="0">
                <a:solidFill>
                  <a:srgbClr val="2C3E50"/>
                </a:solidFill>
              </a:rPr>
              <a:t>Grounded answer + sources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88952" cy="749808"/>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49808"/>
            <a:ext cx="12188952" cy="50292"/>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91440"/>
            <a:ext cx="11521440" cy="566928"/>
          </a:xfrm>
          <a:prstGeom prst="rect">
            <a:avLst/>
          </a:prstGeom>
          <a:noFill/>
        </p:spPr>
        <p:txBody>
          <a:bodyPr wrap="square">
            <a:spAutoFit/>
          </a:bodyPr>
          <a:lstStyle/>
          <a:p>
            <a:pPr algn="l"/>
            <a:r>
              <a:rPr sz="2600" b="1" i="0">
                <a:solidFill>
                  <a:srgbClr val="FFFFFF"/>
                </a:solidFill>
              </a:rPr>
              <a:t>Implementation</a:t>
            </a:r>
          </a:p>
        </p:txBody>
      </p:sp>
      <p:sp>
        <p:nvSpPr>
          <p:cNvPr id="5" name="Rectangle 4"/>
          <p:cNvSpPr/>
          <p:nvPr/>
        </p:nvSpPr>
        <p:spPr>
          <a:xfrm>
            <a:off x="274320" y="914400"/>
            <a:ext cx="5486400" cy="5623560"/>
          </a:xfrm>
          <a:prstGeom prst="rect">
            <a:avLst/>
          </a:prstGeom>
          <a:solidFill>
            <a:srgbClr val="EBF0F7"/>
          </a:solidFill>
          <a:ln w="6350">
            <a:solidFill>
              <a:srgbClr val="D5DB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914400"/>
            <a:ext cx="5486400" cy="54864"/>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987552"/>
            <a:ext cx="5212080" cy="347472"/>
          </a:xfrm>
          <a:prstGeom prst="rect">
            <a:avLst/>
          </a:prstGeom>
          <a:noFill/>
        </p:spPr>
        <p:txBody>
          <a:bodyPr wrap="square">
            <a:spAutoFit/>
          </a:bodyPr>
          <a:lstStyle/>
          <a:p>
            <a:pPr algn="l"/>
            <a:r>
              <a:rPr sz="1300" b="1" i="0">
                <a:solidFill>
                  <a:srgbClr val="1B3A5C"/>
                </a:solidFill>
              </a:rPr>
              <a:t>Web Application Features (Streamlit)</a:t>
            </a:r>
          </a:p>
        </p:txBody>
      </p:sp>
      <p:sp>
        <p:nvSpPr>
          <p:cNvPr id="8" name="Rectangle 7"/>
          <p:cNvSpPr/>
          <p:nvPr/>
        </p:nvSpPr>
        <p:spPr>
          <a:xfrm>
            <a:off x="411480" y="1417320"/>
            <a:ext cx="64008" cy="329184"/>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1417320"/>
            <a:ext cx="4983480" cy="256032"/>
          </a:xfrm>
          <a:prstGeom prst="rect">
            <a:avLst/>
          </a:prstGeom>
          <a:noFill/>
        </p:spPr>
        <p:txBody>
          <a:bodyPr wrap="square">
            <a:spAutoFit/>
          </a:bodyPr>
          <a:lstStyle/>
          <a:p>
            <a:pPr algn="l"/>
            <a:r>
              <a:rPr sz="1200" b="1" i="0">
                <a:solidFill>
                  <a:srgbClr val="1B3A5C"/>
                </a:solidFill>
              </a:rPr>
              <a:t>Image Upload &amp; Detection</a:t>
            </a:r>
          </a:p>
        </p:txBody>
      </p:sp>
      <p:sp>
        <p:nvSpPr>
          <p:cNvPr id="10" name="TextBox 9"/>
          <p:cNvSpPr txBox="1"/>
          <p:nvPr/>
        </p:nvSpPr>
        <p:spPr>
          <a:xfrm>
            <a:off x="566928" y="1673352"/>
            <a:ext cx="4983480" cy="457200"/>
          </a:xfrm>
          <a:prstGeom prst="rect">
            <a:avLst/>
          </a:prstGeom>
          <a:noFill/>
        </p:spPr>
        <p:txBody>
          <a:bodyPr wrap="square">
            <a:spAutoFit/>
          </a:bodyPr>
          <a:lstStyle/>
          <a:p>
            <a:pPr algn="l"/>
            <a:r>
              <a:rPr sz="1100" b="0" i="0">
                <a:solidFill>
                  <a:srgbClr val="2C3E50"/>
                </a:solidFill>
              </a:rPr>
              <a:t>Upload JPG/PNG → preprocess → model inference → display Grade 0/1/2 with colour-coded banner and confidence bars.</a:t>
            </a:r>
          </a:p>
        </p:txBody>
      </p:sp>
      <p:sp>
        <p:nvSpPr>
          <p:cNvPr id="11" name="Rectangle 10"/>
          <p:cNvSpPr/>
          <p:nvPr/>
        </p:nvSpPr>
        <p:spPr>
          <a:xfrm>
            <a:off x="411480" y="2240280"/>
            <a:ext cx="64008" cy="329184"/>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66928" y="2240280"/>
            <a:ext cx="4983480" cy="256032"/>
          </a:xfrm>
          <a:prstGeom prst="rect">
            <a:avLst/>
          </a:prstGeom>
          <a:noFill/>
        </p:spPr>
        <p:txBody>
          <a:bodyPr wrap="square">
            <a:spAutoFit/>
          </a:bodyPr>
          <a:lstStyle/>
          <a:p>
            <a:pPr algn="l"/>
            <a:r>
              <a:rPr sz="1200" b="1" i="0">
                <a:solidFill>
                  <a:srgbClr val="1B3A5C"/>
                </a:solidFill>
              </a:rPr>
              <a:t>Grad-CAM / Saliency Heatmap</a:t>
            </a:r>
          </a:p>
        </p:txBody>
      </p:sp>
      <p:sp>
        <p:nvSpPr>
          <p:cNvPr id="13" name="TextBox 12"/>
          <p:cNvSpPr txBox="1"/>
          <p:nvPr/>
        </p:nvSpPr>
        <p:spPr>
          <a:xfrm>
            <a:off x="566928" y="2496312"/>
            <a:ext cx="4983480" cy="457200"/>
          </a:xfrm>
          <a:prstGeom prst="rect">
            <a:avLst/>
          </a:prstGeom>
          <a:noFill/>
        </p:spPr>
        <p:txBody>
          <a:bodyPr wrap="square">
            <a:spAutoFit/>
          </a:bodyPr>
          <a:lstStyle/>
          <a:p>
            <a:pPr algn="l"/>
            <a:r>
              <a:rPr sz="1100" b="0" i="0">
                <a:solidFill>
                  <a:srgbClr val="2C3E50"/>
                </a:solidFill>
              </a:rPr>
              <a:t>Visual explanation showing which regions influenced the prediction. 3-tier fallback: Grad-CAM → saliency map → error message.</a:t>
            </a:r>
          </a:p>
        </p:txBody>
      </p:sp>
      <p:sp>
        <p:nvSpPr>
          <p:cNvPr id="14" name="Rectangle 13"/>
          <p:cNvSpPr/>
          <p:nvPr/>
        </p:nvSpPr>
        <p:spPr>
          <a:xfrm>
            <a:off x="411480" y="3063240"/>
            <a:ext cx="64008" cy="329184"/>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 y="3063240"/>
            <a:ext cx="4983480" cy="256032"/>
          </a:xfrm>
          <a:prstGeom prst="rect">
            <a:avLst/>
          </a:prstGeom>
          <a:noFill/>
        </p:spPr>
        <p:txBody>
          <a:bodyPr wrap="square">
            <a:spAutoFit/>
          </a:bodyPr>
          <a:lstStyle/>
          <a:p>
            <a:pPr algn="l"/>
            <a:r>
              <a:rPr sz="1200" b="1" i="0">
                <a:solidFill>
                  <a:srgbClr val="1B3A5C"/>
                </a:solidFill>
              </a:rPr>
              <a:t>AI Expert Advisory</a:t>
            </a:r>
          </a:p>
        </p:txBody>
      </p:sp>
      <p:sp>
        <p:nvSpPr>
          <p:cNvPr id="16" name="TextBox 15"/>
          <p:cNvSpPr txBox="1"/>
          <p:nvPr/>
        </p:nvSpPr>
        <p:spPr>
          <a:xfrm>
            <a:off x="566928" y="3319272"/>
            <a:ext cx="4983480" cy="457200"/>
          </a:xfrm>
          <a:prstGeom prst="rect">
            <a:avLst/>
          </a:prstGeom>
          <a:noFill/>
        </p:spPr>
        <p:txBody>
          <a:bodyPr wrap="square">
            <a:spAutoFit/>
          </a:bodyPr>
          <a:lstStyle/>
          <a:p>
            <a:pPr algn="l"/>
            <a:r>
              <a:rPr sz="1100" b="0" i="0">
                <a:solidFill>
                  <a:srgbClr val="2C3E50"/>
                </a:solidFill>
              </a:rPr>
              <a:t>After each detection, automatically queries the RAG knowledge base and generates a disease-specific advisory using Groq Llama-3.3-70B.</a:t>
            </a:r>
          </a:p>
        </p:txBody>
      </p:sp>
      <p:sp>
        <p:nvSpPr>
          <p:cNvPr id="17" name="Rectangle 16"/>
          <p:cNvSpPr/>
          <p:nvPr/>
        </p:nvSpPr>
        <p:spPr>
          <a:xfrm>
            <a:off x="411480" y="3886200"/>
            <a:ext cx="64008" cy="329184"/>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66928" y="3886200"/>
            <a:ext cx="4983480" cy="256032"/>
          </a:xfrm>
          <a:prstGeom prst="rect">
            <a:avLst/>
          </a:prstGeom>
          <a:noFill/>
        </p:spPr>
        <p:txBody>
          <a:bodyPr wrap="square">
            <a:spAutoFit/>
          </a:bodyPr>
          <a:lstStyle/>
          <a:p>
            <a:pPr algn="l"/>
            <a:r>
              <a:rPr sz="1200" b="1" i="0">
                <a:solidFill>
                  <a:srgbClr val="1B3A5C"/>
                </a:solidFill>
              </a:rPr>
              <a:t>Expert Chat Tab</a:t>
            </a:r>
          </a:p>
        </p:txBody>
      </p:sp>
      <p:sp>
        <p:nvSpPr>
          <p:cNvPr id="19" name="TextBox 18"/>
          <p:cNvSpPr txBox="1"/>
          <p:nvPr/>
        </p:nvSpPr>
        <p:spPr>
          <a:xfrm>
            <a:off x="566928" y="4142232"/>
            <a:ext cx="4983480" cy="457200"/>
          </a:xfrm>
          <a:prstGeom prst="rect">
            <a:avLst/>
          </a:prstGeom>
          <a:noFill/>
        </p:spPr>
        <p:txBody>
          <a:bodyPr wrap="square">
            <a:spAutoFit/>
          </a:bodyPr>
          <a:lstStyle/>
          <a:p>
            <a:pPr algn="l"/>
            <a:r>
              <a:rPr sz="1100" b="0" i="0">
                <a:solidFill>
                  <a:srgbClr val="2C3E50"/>
                </a:solidFill>
              </a:rPr>
              <a:t>Full conversational chatbot with memory. Asks questions about any mushroom disease, treatment, or cultivation topic.</a:t>
            </a:r>
          </a:p>
        </p:txBody>
      </p:sp>
      <p:sp>
        <p:nvSpPr>
          <p:cNvPr id="20" name="Rectangle 19"/>
          <p:cNvSpPr/>
          <p:nvPr/>
        </p:nvSpPr>
        <p:spPr>
          <a:xfrm>
            <a:off x="411480" y="4709160"/>
            <a:ext cx="64008" cy="329184"/>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66928" y="4709160"/>
            <a:ext cx="4983480" cy="256032"/>
          </a:xfrm>
          <a:prstGeom prst="rect">
            <a:avLst/>
          </a:prstGeom>
          <a:noFill/>
        </p:spPr>
        <p:txBody>
          <a:bodyPr wrap="square">
            <a:spAutoFit/>
          </a:bodyPr>
          <a:lstStyle/>
          <a:p>
            <a:pPr algn="l"/>
            <a:r>
              <a:rPr sz="1200" b="1" i="0">
                <a:solidFill>
                  <a:srgbClr val="1B3A5C"/>
                </a:solidFill>
              </a:rPr>
              <a:t>Batch Analysis</a:t>
            </a:r>
          </a:p>
        </p:txBody>
      </p:sp>
      <p:sp>
        <p:nvSpPr>
          <p:cNvPr id="22" name="TextBox 21"/>
          <p:cNvSpPr txBox="1"/>
          <p:nvPr/>
        </p:nvSpPr>
        <p:spPr>
          <a:xfrm>
            <a:off x="566928" y="4965192"/>
            <a:ext cx="4983480" cy="457200"/>
          </a:xfrm>
          <a:prstGeom prst="rect">
            <a:avLst/>
          </a:prstGeom>
          <a:noFill/>
        </p:spPr>
        <p:txBody>
          <a:bodyPr wrap="square">
            <a:spAutoFit/>
          </a:bodyPr>
          <a:lstStyle/>
          <a:p>
            <a:pPr algn="l"/>
            <a:r>
              <a:rPr sz="1100" b="0" i="0">
                <a:solidFill>
                  <a:srgbClr val="2C3E50"/>
                </a:solidFill>
              </a:rPr>
              <a:t>Upload multiple images simultaneously. Results table with grade, confidence, risk level. Export to CSV for farm records.</a:t>
            </a:r>
          </a:p>
        </p:txBody>
      </p:sp>
      <p:sp>
        <p:nvSpPr>
          <p:cNvPr id="23" name="Rectangle 22"/>
          <p:cNvSpPr/>
          <p:nvPr/>
        </p:nvSpPr>
        <p:spPr>
          <a:xfrm>
            <a:off x="6035040" y="914400"/>
            <a:ext cx="5852160" cy="5623560"/>
          </a:xfrm>
          <a:prstGeom prst="rect">
            <a:avLst/>
          </a:prstGeom>
          <a:solidFill>
            <a:srgbClr val="E8F8F0"/>
          </a:solidFill>
          <a:ln w="6350">
            <a:solidFill>
              <a:srgbClr val="D5DB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035040" y="914400"/>
            <a:ext cx="5852160" cy="54864"/>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17920" y="987552"/>
            <a:ext cx="5486400" cy="347472"/>
          </a:xfrm>
          <a:prstGeom prst="rect">
            <a:avLst/>
          </a:prstGeom>
          <a:noFill/>
        </p:spPr>
        <p:txBody>
          <a:bodyPr wrap="square">
            <a:spAutoFit/>
          </a:bodyPr>
          <a:lstStyle/>
          <a:p>
            <a:pPr algn="l"/>
            <a:r>
              <a:rPr sz="1300" b="1" i="0">
                <a:solidFill>
                  <a:srgbClr val="27AE60"/>
                </a:solidFill>
              </a:rPr>
              <a:t>App Interface Overview</a:t>
            </a:r>
          </a:p>
        </p:txBody>
      </p:sp>
      <p:sp>
        <p:nvSpPr>
          <p:cNvPr id="26" name="Rectangle 25"/>
          <p:cNvSpPr/>
          <p:nvPr/>
        </p:nvSpPr>
        <p:spPr>
          <a:xfrm>
            <a:off x="6172200" y="1444752"/>
            <a:ext cx="5532120" cy="2304288"/>
          </a:xfrm>
          <a:prstGeom prst="rect">
            <a:avLst/>
          </a:prstGeom>
          <a:solidFill>
            <a:srgbClr val="FFFFFF"/>
          </a:solidFill>
          <a:ln w="6350">
            <a:solidFill>
              <a:srgbClr val="D5DB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172200" y="1444752"/>
            <a:ext cx="5532120" cy="34747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63640" y="1481328"/>
            <a:ext cx="5349240" cy="274320"/>
          </a:xfrm>
          <a:prstGeom prst="rect">
            <a:avLst/>
          </a:prstGeom>
          <a:noFill/>
        </p:spPr>
        <p:txBody>
          <a:bodyPr wrap="square">
            <a:spAutoFit/>
          </a:bodyPr>
          <a:lstStyle/>
          <a:p>
            <a:pPr algn="l"/>
            <a:r>
              <a:rPr sz="1200" b="1" i="0">
                <a:solidFill>
                  <a:srgbClr val="FFFFFF"/>
                </a:solidFill>
              </a:rPr>
              <a:t>🔬  Disease Detection Tab</a:t>
            </a:r>
          </a:p>
        </p:txBody>
      </p:sp>
      <p:sp>
        <p:nvSpPr>
          <p:cNvPr id="29" name="Rectangle 28"/>
          <p:cNvSpPr/>
          <p:nvPr/>
        </p:nvSpPr>
        <p:spPr>
          <a:xfrm>
            <a:off x="6309360" y="1984248"/>
            <a:ext cx="64008" cy="64008"/>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64808" y="1883664"/>
            <a:ext cx="5074920" cy="310896"/>
          </a:xfrm>
          <a:prstGeom prst="rect">
            <a:avLst/>
          </a:prstGeom>
          <a:noFill/>
        </p:spPr>
        <p:txBody>
          <a:bodyPr wrap="square">
            <a:spAutoFit/>
          </a:bodyPr>
          <a:lstStyle/>
          <a:p>
            <a:pPr algn="l"/>
            <a:r>
              <a:rPr sz="1150" b="0" i="0">
                <a:solidFill>
                  <a:srgbClr val="2C3E50"/>
                </a:solidFill>
              </a:rPr>
              <a:t>Upload image → Grade banner (✅ / ⚠️ / 🚨)</a:t>
            </a:r>
          </a:p>
        </p:txBody>
      </p:sp>
      <p:sp>
        <p:nvSpPr>
          <p:cNvPr id="31" name="Rectangle 30"/>
          <p:cNvSpPr/>
          <p:nvPr/>
        </p:nvSpPr>
        <p:spPr>
          <a:xfrm>
            <a:off x="6309360" y="2331720"/>
            <a:ext cx="64008" cy="64008"/>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64808" y="2231136"/>
            <a:ext cx="5074920" cy="310896"/>
          </a:xfrm>
          <a:prstGeom prst="rect">
            <a:avLst/>
          </a:prstGeom>
          <a:noFill/>
        </p:spPr>
        <p:txBody>
          <a:bodyPr wrap="square">
            <a:spAutoFit/>
          </a:bodyPr>
          <a:lstStyle/>
          <a:p>
            <a:pPr algn="l"/>
            <a:r>
              <a:rPr sz="1150" b="0" i="0">
                <a:solidFill>
                  <a:srgbClr val="2C3E50"/>
                </a:solidFill>
              </a:rPr>
              <a:t>Confidence bars per class</a:t>
            </a:r>
          </a:p>
        </p:txBody>
      </p:sp>
      <p:sp>
        <p:nvSpPr>
          <p:cNvPr id="33" name="Rectangle 32"/>
          <p:cNvSpPr/>
          <p:nvPr/>
        </p:nvSpPr>
        <p:spPr>
          <a:xfrm>
            <a:off x="6309360" y="2679191"/>
            <a:ext cx="64008" cy="64008"/>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64808" y="2578608"/>
            <a:ext cx="5074920" cy="310896"/>
          </a:xfrm>
          <a:prstGeom prst="rect">
            <a:avLst/>
          </a:prstGeom>
          <a:noFill/>
        </p:spPr>
        <p:txBody>
          <a:bodyPr wrap="square">
            <a:spAutoFit/>
          </a:bodyPr>
          <a:lstStyle/>
          <a:p>
            <a:pPr algn="l"/>
            <a:r>
              <a:rPr sz="1150" b="0" i="0">
                <a:solidFill>
                  <a:srgbClr val="2C3E50"/>
                </a:solidFill>
              </a:rPr>
              <a:t>Grad-CAM heatmap overlay</a:t>
            </a:r>
          </a:p>
        </p:txBody>
      </p:sp>
      <p:sp>
        <p:nvSpPr>
          <p:cNvPr id="35" name="Rectangle 34"/>
          <p:cNvSpPr/>
          <p:nvPr/>
        </p:nvSpPr>
        <p:spPr>
          <a:xfrm>
            <a:off x="6309360" y="3026663"/>
            <a:ext cx="64008" cy="64008"/>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464808" y="2926079"/>
            <a:ext cx="5074920" cy="310896"/>
          </a:xfrm>
          <a:prstGeom prst="rect">
            <a:avLst/>
          </a:prstGeom>
          <a:noFill/>
        </p:spPr>
        <p:txBody>
          <a:bodyPr wrap="square">
            <a:spAutoFit/>
          </a:bodyPr>
          <a:lstStyle/>
          <a:p>
            <a:pPr algn="l"/>
            <a:r>
              <a:rPr sz="1150" b="0" i="0">
                <a:solidFill>
                  <a:srgbClr val="2C3E50"/>
                </a:solidFill>
              </a:rPr>
              <a:t>Ordinal severity scale</a:t>
            </a:r>
          </a:p>
        </p:txBody>
      </p:sp>
      <p:sp>
        <p:nvSpPr>
          <p:cNvPr id="37" name="Rectangle 36"/>
          <p:cNvSpPr/>
          <p:nvPr/>
        </p:nvSpPr>
        <p:spPr>
          <a:xfrm>
            <a:off x="6172200" y="3913632"/>
            <a:ext cx="5532120" cy="2304288"/>
          </a:xfrm>
          <a:prstGeom prst="rect">
            <a:avLst/>
          </a:prstGeom>
          <a:solidFill>
            <a:srgbClr val="FFFFFF"/>
          </a:solidFill>
          <a:ln w="6350">
            <a:solidFill>
              <a:srgbClr val="D5DB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172200" y="3913632"/>
            <a:ext cx="5532120" cy="34747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263640" y="3950208"/>
            <a:ext cx="5349240" cy="274320"/>
          </a:xfrm>
          <a:prstGeom prst="rect">
            <a:avLst/>
          </a:prstGeom>
          <a:noFill/>
        </p:spPr>
        <p:txBody>
          <a:bodyPr wrap="square">
            <a:spAutoFit/>
          </a:bodyPr>
          <a:lstStyle/>
          <a:p>
            <a:pPr algn="l"/>
            <a:r>
              <a:rPr sz="1200" b="1" i="0">
                <a:solidFill>
                  <a:srgbClr val="FFFFFF"/>
                </a:solidFill>
              </a:rPr>
              <a:t>💬  Expert Chat Tab</a:t>
            </a:r>
          </a:p>
        </p:txBody>
      </p:sp>
      <p:sp>
        <p:nvSpPr>
          <p:cNvPr id="40" name="Rectangle 39"/>
          <p:cNvSpPr/>
          <p:nvPr/>
        </p:nvSpPr>
        <p:spPr>
          <a:xfrm>
            <a:off x="6309360" y="4453128"/>
            <a:ext cx="64008" cy="64008"/>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464808" y="4352544"/>
            <a:ext cx="5074920" cy="310896"/>
          </a:xfrm>
          <a:prstGeom prst="rect">
            <a:avLst/>
          </a:prstGeom>
          <a:noFill/>
        </p:spPr>
        <p:txBody>
          <a:bodyPr wrap="square">
            <a:spAutoFit/>
          </a:bodyPr>
          <a:lstStyle/>
          <a:p>
            <a:pPr algn="l"/>
            <a:r>
              <a:rPr sz="1150" b="0" i="0">
                <a:solidFill>
                  <a:srgbClr val="2C3E50"/>
                </a:solidFill>
              </a:rPr>
              <a:t>Conversational RAG chatbot</a:t>
            </a:r>
          </a:p>
        </p:txBody>
      </p:sp>
      <p:sp>
        <p:nvSpPr>
          <p:cNvPr id="42" name="Rectangle 41"/>
          <p:cNvSpPr/>
          <p:nvPr/>
        </p:nvSpPr>
        <p:spPr>
          <a:xfrm>
            <a:off x="6309360" y="4800600"/>
            <a:ext cx="64008" cy="64008"/>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464808" y="4700016"/>
            <a:ext cx="5074920" cy="310896"/>
          </a:xfrm>
          <a:prstGeom prst="rect">
            <a:avLst/>
          </a:prstGeom>
          <a:noFill/>
        </p:spPr>
        <p:txBody>
          <a:bodyPr wrap="square">
            <a:spAutoFit/>
          </a:bodyPr>
          <a:lstStyle/>
          <a:p>
            <a:pPr algn="l"/>
            <a:r>
              <a:rPr sz="1150" b="0" i="0">
                <a:solidFill>
                  <a:srgbClr val="2C3E50"/>
                </a:solidFill>
              </a:rPr>
              <a:t>Example questions (one-click)</a:t>
            </a:r>
          </a:p>
        </p:txBody>
      </p:sp>
      <p:sp>
        <p:nvSpPr>
          <p:cNvPr id="44" name="Rectangle 43"/>
          <p:cNvSpPr/>
          <p:nvPr/>
        </p:nvSpPr>
        <p:spPr>
          <a:xfrm>
            <a:off x="6309360" y="5148072"/>
            <a:ext cx="64008" cy="64008"/>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464808" y="5047488"/>
            <a:ext cx="5074920" cy="310896"/>
          </a:xfrm>
          <a:prstGeom prst="rect">
            <a:avLst/>
          </a:prstGeom>
          <a:noFill/>
        </p:spPr>
        <p:txBody>
          <a:bodyPr wrap="square">
            <a:spAutoFit/>
          </a:bodyPr>
          <a:lstStyle/>
          <a:p>
            <a:pPr algn="l"/>
            <a:r>
              <a:rPr sz="1150" b="0" i="0">
                <a:solidFill>
                  <a:srgbClr val="2C3E50"/>
                </a:solidFill>
              </a:rPr>
              <a:t>Sources shown per answer</a:t>
            </a:r>
          </a:p>
        </p:txBody>
      </p:sp>
      <p:sp>
        <p:nvSpPr>
          <p:cNvPr id="46" name="Rectangle 45"/>
          <p:cNvSpPr/>
          <p:nvPr/>
        </p:nvSpPr>
        <p:spPr>
          <a:xfrm>
            <a:off x="6309360" y="5495544"/>
            <a:ext cx="64008" cy="64008"/>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464808" y="5394959"/>
            <a:ext cx="5074920" cy="310896"/>
          </a:xfrm>
          <a:prstGeom prst="rect">
            <a:avLst/>
          </a:prstGeom>
          <a:noFill/>
        </p:spPr>
        <p:txBody>
          <a:bodyPr wrap="square">
            <a:spAutoFit/>
          </a:bodyPr>
          <a:lstStyle/>
          <a:p>
            <a:pPr algn="l"/>
            <a:r>
              <a:rPr sz="1150" b="0" i="0">
                <a:solidFill>
                  <a:srgbClr val="2C3E50"/>
                </a:solidFill>
              </a:rPr>
              <a:t>Conversation history</a:t>
            </a:r>
          </a:p>
        </p:txBody>
      </p:sp>
      <p:sp>
        <p:nvSpPr>
          <p:cNvPr id="48" name="Rectangle 47"/>
          <p:cNvSpPr/>
          <p:nvPr/>
        </p:nvSpPr>
        <p:spPr>
          <a:xfrm>
            <a:off x="6035040" y="6263640"/>
            <a:ext cx="5852160" cy="292608"/>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172200" y="6300216"/>
            <a:ext cx="5577840" cy="219456"/>
          </a:xfrm>
          <a:prstGeom prst="rect">
            <a:avLst/>
          </a:prstGeom>
          <a:noFill/>
        </p:spPr>
        <p:txBody>
          <a:bodyPr wrap="square">
            <a:spAutoFit/>
          </a:bodyPr>
          <a:lstStyle/>
          <a:p>
            <a:pPr algn="ctr"/>
            <a:r>
              <a:rPr sz="1100" b="1" i="0">
                <a:solidFill>
                  <a:srgbClr val="27AE60"/>
                </a:solidFill>
              </a:rPr>
              <a:t>Run:  streamlit run app.py  →  http://localhost:8501</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88952" cy="749808"/>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49808"/>
            <a:ext cx="12188952" cy="50292"/>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91440"/>
            <a:ext cx="11521440" cy="566928"/>
          </a:xfrm>
          <a:prstGeom prst="rect">
            <a:avLst/>
          </a:prstGeom>
          <a:noFill/>
        </p:spPr>
        <p:txBody>
          <a:bodyPr wrap="square">
            <a:spAutoFit/>
          </a:bodyPr>
          <a:lstStyle/>
          <a:p>
            <a:pPr algn="l"/>
            <a:r>
              <a:rPr sz="2600" b="1" i="0">
                <a:solidFill>
                  <a:srgbClr val="FFFFFF"/>
                </a:solidFill>
              </a:rPr>
              <a:t>Results &amp; Analysis</a:t>
            </a:r>
          </a:p>
        </p:txBody>
      </p:sp>
      <p:sp>
        <p:nvSpPr>
          <p:cNvPr id="5" name="Rectangle 4"/>
          <p:cNvSpPr/>
          <p:nvPr/>
        </p:nvSpPr>
        <p:spPr>
          <a:xfrm>
            <a:off x="274320" y="914400"/>
            <a:ext cx="2788920" cy="1005840"/>
          </a:xfrm>
          <a:prstGeom prst="rect">
            <a:avLst/>
          </a:prstGeom>
          <a:solidFill>
            <a:srgbClr val="E8F8F0"/>
          </a:solidFill>
          <a:ln w="6350">
            <a:solidFill>
              <a:srgbClr val="D5DB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914400"/>
            <a:ext cx="2788920" cy="64008"/>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1005840"/>
            <a:ext cx="2788920" cy="502920"/>
          </a:xfrm>
          <a:prstGeom prst="rect">
            <a:avLst/>
          </a:prstGeom>
          <a:noFill/>
        </p:spPr>
        <p:txBody>
          <a:bodyPr wrap="square">
            <a:spAutoFit/>
          </a:bodyPr>
          <a:lstStyle/>
          <a:p>
            <a:pPr algn="ctr"/>
            <a:r>
              <a:rPr sz="2600" b="1" i="0">
                <a:solidFill>
                  <a:srgbClr val="27AE60"/>
                </a:solidFill>
              </a:rPr>
              <a:t>88.03%</a:t>
            </a:r>
          </a:p>
        </p:txBody>
      </p:sp>
      <p:sp>
        <p:nvSpPr>
          <p:cNvPr id="8" name="TextBox 7"/>
          <p:cNvSpPr txBox="1"/>
          <p:nvPr/>
        </p:nvSpPr>
        <p:spPr>
          <a:xfrm>
            <a:off x="274320" y="1481328"/>
            <a:ext cx="2788920" cy="256032"/>
          </a:xfrm>
          <a:prstGeom prst="rect">
            <a:avLst/>
          </a:prstGeom>
          <a:noFill/>
        </p:spPr>
        <p:txBody>
          <a:bodyPr wrap="square">
            <a:spAutoFit/>
          </a:bodyPr>
          <a:lstStyle/>
          <a:p>
            <a:pPr algn="ctr"/>
            <a:r>
              <a:rPr sz="1200" b="1" i="0">
                <a:solidFill>
                  <a:srgbClr val="2C3E50"/>
                </a:solidFill>
              </a:rPr>
              <a:t>Test Accuracy</a:t>
            </a:r>
          </a:p>
        </p:txBody>
      </p:sp>
      <p:sp>
        <p:nvSpPr>
          <p:cNvPr id="9" name="TextBox 8"/>
          <p:cNvSpPr txBox="1"/>
          <p:nvPr/>
        </p:nvSpPr>
        <p:spPr>
          <a:xfrm>
            <a:off x="274320" y="1737360"/>
            <a:ext cx="2788920" cy="182880"/>
          </a:xfrm>
          <a:prstGeom prst="rect">
            <a:avLst/>
          </a:prstGeom>
          <a:noFill/>
        </p:spPr>
        <p:txBody>
          <a:bodyPr wrap="square">
            <a:spAutoFit/>
          </a:bodyPr>
          <a:lstStyle/>
          <a:p>
            <a:pPr algn="ctr"/>
            <a:r>
              <a:rPr sz="1000" b="0" i="0">
                <a:solidFill>
                  <a:srgbClr val="5D6D7E"/>
                </a:solidFill>
              </a:rPr>
              <a:t>EfficientNetV2S + CORN</a:t>
            </a:r>
          </a:p>
        </p:txBody>
      </p:sp>
      <p:sp>
        <p:nvSpPr>
          <p:cNvPr id="10" name="Rectangle 9"/>
          <p:cNvSpPr/>
          <p:nvPr/>
        </p:nvSpPr>
        <p:spPr>
          <a:xfrm>
            <a:off x="3264408" y="914400"/>
            <a:ext cx="2788920" cy="1005840"/>
          </a:xfrm>
          <a:prstGeom prst="rect">
            <a:avLst/>
          </a:prstGeom>
          <a:solidFill>
            <a:srgbClr val="EBF0F7"/>
          </a:solidFill>
          <a:ln w="6350">
            <a:solidFill>
              <a:srgbClr val="D5DB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264408" y="914400"/>
            <a:ext cx="2788920" cy="64008"/>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64408" y="1005840"/>
            <a:ext cx="2788920" cy="502920"/>
          </a:xfrm>
          <a:prstGeom prst="rect">
            <a:avLst/>
          </a:prstGeom>
          <a:noFill/>
        </p:spPr>
        <p:txBody>
          <a:bodyPr wrap="square">
            <a:spAutoFit/>
          </a:bodyPr>
          <a:lstStyle/>
          <a:p>
            <a:pPr algn="ctr"/>
            <a:r>
              <a:rPr sz="2600" b="1" i="0">
                <a:solidFill>
                  <a:srgbClr val="1B3A5C"/>
                </a:solidFill>
              </a:rPr>
              <a:t>90.27%</a:t>
            </a:r>
          </a:p>
        </p:txBody>
      </p:sp>
      <p:sp>
        <p:nvSpPr>
          <p:cNvPr id="13" name="TextBox 12"/>
          <p:cNvSpPr txBox="1"/>
          <p:nvPr/>
        </p:nvSpPr>
        <p:spPr>
          <a:xfrm>
            <a:off x="3264408" y="1481328"/>
            <a:ext cx="2788920" cy="256032"/>
          </a:xfrm>
          <a:prstGeom prst="rect">
            <a:avLst/>
          </a:prstGeom>
          <a:noFill/>
        </p:spPr>
        <p:txBody>
          <a:bodyPr wrap="square">
            <a:spAutoFit/>
          </a:bodyPr>
          <a:lstStyle/>
          <a:p>
            <a:pPr algn="ctr"/>
            <a:r>
              <a:rPr sz="1200" b="1" i="0">
                <a:solidFill>
                  <a:srgbClr val="2C3E50"/>
                </a:solidFill>
              </a:rPr>
              <a:t>Val Accuracy</a:t>
            </a:r>
          </a:p>
        </p:txBody>
      </p:sp>
      <p:sp>
        <p:nvSpPr>
          <p:cNvPr id="14" name="TextBox 13"/>
          <p:cNvSpPr txBox="1"/>
          <p:nvPr/>
        </p:nvSpPr>
        <p:spPr>
          <a:xfrm>
            <a:off x="3264408" y="1737360"/>
            <a:ext cx="2788920" cy="182880"/>
          </a:xfrm>
          <a:prstGeom prst="rect">
            <a:avLst/>
          </a:prstGeom>
          <a:noFill/>
        </p:spPr>
        <p:txBody>
          <a:bodyPr wrap="square">
            <a:spAutoFit/>
          </a:bodyPr>
          <a:lstStyle/>
          <a:p>
            <a:pPr algn="ctr"/>
            <a:r>
              <a:rPr sz="1000" b="0" i="0">
                <a:solidFill>
                  <a:srgbClr val="5D6D7E"/>
                </a:solidFill>
              </a:rPr>
              <a:t>Best epoch</a:t>
            </a:r>
          </a:p>
        </p:txBody>
      </p:sp>
      <p:sp>
        <p:nvSpPr>
          <p:cNvPr id="15" name="Rectangle 14"/>
          <p:cNvSpPr/>
          <p:nvPr/>
        </p:nvSpPr>
        <p:spPr>
          <a:xfrm>
            <a:off x="6254496" y="914400"/>
            <a:ext cx="2788920" cy="1005840"/>
          </a:xfrm>
          <a:prstGeom prst="rect">
            <a:avLst/>
          </a:prstGeom>
          <a:solidFill>
            <a:srgbClr val="E8F8F0"/>
          </a:solidFill>
          <a:ln w="6350">
            <a:solidFill>
              <a:srgbClr val="D5DB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54496" y="914400"/>
            <a:ext cx="2788920" cy="64008"/>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54496" y="1005840"/>
            <a:ext cx="2788920" cy="502920"/>
          </a:xfrm>
          <a:prstGeom prst="rect">
            <a:avLst/>
          </a:prstGeom>
          <a:noFill/>
        </p:spPr>
        <p:txBody>
          <a:bodyPr wrap="square">
            <a:spAutoFit/>
          </a:bodyPr>
          <a:lstStyle/>
          <a:p>
            <a:pPr algn="ctr"/>
            <a:r>
              <a:rPr sz="2600" b="1" i="0">
                <a:solidFill>
                  <a:srgbClr val="27AE60"/>
                </a:solidFill>
              </a:rPr>
              <a:t>0.2393</a:t>
            </a:r>
          </a:p>
        </p:txBody>
      </p:sp>
      <p:sp>
        <p:nvSpPr>
          <p:cNvPr id="18" name="TextBox 17"/>
          <p:cNvSpPr txBox="1"/>
          <p:nvPr/>
        </p:nvSpPr>
        <p:spPr>
          <a:xfrm>
            <a:off x="6254496" y="1481328"/>
            <a:ext cx="2788920" cy="256032"/>
          </a:xfrm>
          <a:prstGeom prst="rect">
            <a:avLst/>
          </a:prstGeom>
          <a:noFill/>
        </p:spPr>
        <p:txBody>
          <a:bodyPr wrap="square">
            <a:spAutoFit/>
          </a:bodyPr>
          <a:lstStyle/>
          <a:p>
            <a:pPr algn="ctr"/>
            <a:r>
              <a:rPr sz="1200" b="1" i="0">
                <a:solidFill>
                  <a:srgbClr val="2C3E50"/>
                </a:solidFill>
              </a:rPr>
              <a:t>MAE</a:t>
            </a:r>
          </a:p>
        </p:txBody>
      </p:sp>
      <p:sp>
        <p:nvSpPr>
          <p:cNvPr id="19" name="TextBox 18"/>
          <p:cNvSpPr txBox="1"/>
          <p:nvPr/>
        </p:nvSpPr>
        <p:spPr>
          <a:xfrm>
            <a:off x="6254496" y="1737360"/>
            <a:ext cx="2788920" cy="182880"/>
          </a:xfrm>
          <a:prstGeom prst="rect">
            <a:avLst/>
          </a:prstGeom>
          <a:noFill/>
        </p:spPr>
        <p:txBody>
          <a:bodyPr wrap="square">
            <a:spAutoFit/>
          </a:bodyPr>
          <a:lstStyle/>
          <a:p>
            <a:pPr algn="ctr"/>
            <a:r>
              <a:rPr sz="1000" b="0" i="0">
                <a:solidFill>
                  <a:srgbClr val="5D6D7E"/>
                </a:solidFill>
              </a:rPr>
              <a:t>Avg grade error</a:t>
            </a:r>
          </a:p>
        </p:txBody>
      </p:sp>
      <p:sp>
        <p:nvSpPr>
          <p:cNvPr id="20" name="Rectangle 19"/>
          <p:cNvSpPr/>
          <p:nvPr/>
        </p:nvSpPr>
        <p:spPr>
          <a:xfrm>
            <a:off x="9244584" y="914400"/>
            <a:ext cx="2788920" cy="1005840"/>
          </a:xfrm>
          <a:prstGeom prst="rect">
            <a:avLst/>
          </a:prstGeom>
          <a:solidFill>
            <a:srgbClr val="EBF0F7"/>
          </a:solidFill>
          <a:ln w="6350">
            <a:solidFill>
              <a:srgbClr val="D5DB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244584" y="914400"/>
            <a:ext cx="2788920" cy="64008"/>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244584" y="1005840"/>
            <a:ext cx="2788920" cy="502920"/>
          </a:xfrm>
          <a:prstGeom prst="rect">
            <a:avLst/>
          </a:prstGeom>
          <a:noFill/>
        </p:spPr>
        <p:txBody>
          <a:bodyPr wrap="square">
            <a:spAutoFit/>
          </a:bodyPr>
          <a:lstStyle/>
          <a:p>
            <a:pPr algn="ctr"/>
            <a:r>
              <a:rPr sz="2600" b="1" i="0">
                <a:solidFill>
                  <a:srgbClr val="1B3A5C"/>
                </a:solidFill>
              </a:rPr>
              <a:t>100%</a:t>
            </a:r>
          </a:p>
        </p:txBody>
      </p:sp>
      <p:sp>
        <p:nvSpPr>
          <p:cNvPr id="23" name="TextBox 22"/>
          <p:cNvSpPr txBox="1"/>
          <p:nvPr/>
        </p:nvSpPr>
        <p:spPr>
          <a:xfrm>
            <a:off x="9244584" y="1481328"/>
            <a:ext cx="2788920" cy="256032"/>
          </a:xfrm>
          <a:prstGeom prst="rect">
            <a:avLst/>
          </a:prstGeom>
          <a:noFill/>
        </p:spPr>
        <p:txBody>
          <a:bodyPr wrap="square">
            <a:spAutoFit/>
          </a:bodyPr>
          <a:lstStyle/>
          <a:p>
            <a:pPr algn="ctr"/>
            <a:r>
              <a:rPr sz="1200" b="1" i="0">
                <a:solidFill>
                  <a:srgbClr val="2C3E50"/>
                </a:solidFill>
              </a:rPr>
              <a:t>Single F1</a:t>
            </a:r>
          </a:p>
        </p:txBody>
      </p:sp>
      <p:sp>
        <p:nvSpPr>
          <p:cNvPr id="24" name="TextBox 23"/>
          <p:cNvSpPr txBox="1"/>
          <p:nvPr/>
        </p:nvSpPr>
        <p:spPr>
          <a:xfrm>
            <a:off x="9244584" y="1737360"/>
            <a:ext cx="2788920" cy="182880"/>
          </a:xfrm>
          <a:prstGeom prst="rect">
            <a:avLst/>
          </a:prstGeom>
          <a:noFill/>
        </p:spPr>
        <p:txBody>
          <a:bodyPr wrap="square">
            <a:spAutoFit/>
          </a:bodyPr>
          <a:lstStyle/>
          <a:p>
            <a:pPr algn="ctr"/>
            <a:r>
              <a:rPr sz="1000" b="0" i="0">
                <a:solidFill>
                  <a:srgbClr val="5D6D7E"/>
                </a:solidFill>
              </a:rPr>
              <a:t>Perfect class score</a:t>
            </a:r>
          </a:p>
        </p:txBody>
      </p:sp>
      <p:sp>
        <p:nvSpPr>
          <p:cNvPr id="25" name="Rectangle 24"/>
          <p:cNvSpPr/>
          <p:nvPr/>
        </p:nvSpPr>
        <p:spPr>
          <a:xfrm>
            <a:off x="274320" y="2084831"/>
            <a:ext cx="5577840" cy="4453128"/>
          </a:xfrm>
          <a:prstGeom prst="rect">
            <a:avLst/>
          </a:prstGeom>
          <a:solidFill>
            <a:srgbClr val="EBF0F7"/>
          </a:solidFill>
          <a:ln w="6350">
            <a:solidFill>
              <a:srgbClr val="D5DB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74320" y="2084831"/>
            <a:ext cx="5577840" cy="54864"/>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7200" y="2157984"/>
            <a:ext cx="5212080" cy="329184"/>
          </a:xfrm>
          <a:prstGeom prst="rect">
            <a:avLst/>
          </a:prstGeom>
          <a:noFill/>
        </p:spPr>
        <p:txBody>
          <a:bodyPr wrap="square">
            <a:spAutoFit/>
          </a:bodyPr>
          <a:lstStyle/>
          <a:p>
            <a:pPr algn="l"/>
            <a:r>
              <a:rPr sz="1200" b="1" i="0">
                <a:solidFill>
                  <a:srgbClr val="1B3A5C"/>
                </a:solidFill>
              </a:rPr>
              <a:t>Per-Class Results (Test Set — 117 images)</a:t>
            </a:r>
          </a:p>
        </p:txBody>
      </p:sp>
      <p:sp>
        <p:nvSpPr>
          <p:cNvPr id="28" name="Rectangle 27"/>
          <p:cNvSpPr/>
          <p:nvPr/>
        </p:nvSpPr>
        <p:spPr>
          <a:xfrm>
            <a:off x="320040" y="2560320"/>
            <a:ext cx="5440680" cy="34747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65759" y="2587752"/>
            <a:ext cx="1554480" cy="274320"/>
          </a:xfrm>
          <a:prstGeom prst="rect">
            <a:avLst/>
          </a:prstGeom>
          <a:noFill/>
        </p:spPr>
        <p:txBody>
          <a:bodyPr wrap="square">
            <a:spAutoFit/>
          </a:bodyPr>
          <a:lstStyle/>
          <a:p>
            <a:pPr algn="l"/>
            <a:r>
              <a:rPr sz="1100" b="1" i="0">
                <a:solidFill>
                  <a:srgbClr val="FFFFFF"/>
                </a:solidFill>
              </a:rPr>
              <a:t>Class</a:t>
            </a:r>
          </a:p>
        </p:txBody>
      </p:sp>
      <p:sp>
        <p:nvSpPr>
          <p:cNvPr id="30" name="TextBox 29"/>
          <p:cNvSpPr txBox="1"/>
          <p:nvPr/>
        </p:nvSpPr>
        <p:spPr>
          <a:xfrm>
            <a:off x="1920240" y="2587752"/>
            <a:ext cx="822960" cy="274320"/>
          </a:xfrm>
          <a:prstGeom prst="rect">
            <a:avLst/>
          </a:prstGeom>
          <a:noFill/>
        </p:spPr>
        <p:txBody>
          <a:bodyPr wrap="square">
            <a:spAutoFit/>
          </a:bodyPr>
          <a:lstStyle/>
          <a:p>
            <a:pPr algn="l"/>
            <a:r>
              <a:rPr sz="1100" b="1" i="0">
                <a:solidFill>
                  <a:srgbClr val="FFFFFF"/>
                </a:solidFill>
              </a:rPr>
              <a:t>Precision</a:t>
            </a:r>
          </a:p>
        </p:txBody>
      </p:sp>
      <p:sp>
        <p:nvSpPr>
          <p:cNvPr id="31" name="TextBox 30"/>
          <p:cNvSpPr txBox="1"/>
          <p:nvPr/>
        </p:nvSpPr>
        <p:spPr>
          <a:xfrm>
            <a:off x="2743200" y="2587752"/>
            <a:ext cx="731520" cy="274320"/>
          </a:xfrm>
          <a:prstGeom prst="rect">
            <a:avLst/>
          </a:prstGeom>
          <a:noFill/>
        </p:spPr>
        <p:txBody>
          <a:bodyPr wrap="square">
            <a:spAutoFit/>
          </a:bodyPr>
          <a:lstStyle/>
          <a:p>
            <a:pPr algn="l"/>
            <a:r>
              <a:rPr sz="1100" b="1" i="0">
                <a:solidFill>
                  <a:srgbClr val="FFFFFF"/>
                </a:solidFill>
              </a:rPr>
              <a:t>Recall</a:t>
            </a:r>
          </a:p>
        </p:txBody>
      </p:sp>
      <p:sp>
        <p:nvSpPr>
          <p:cNvPr id="32" name="TextBox 31"/>
          <p:cNvSpPr txBox="1"/>
          <p:nvPr/>
        </p:nvSpPr>
        <p:spPr>
          <a:xfrm>
            <a:off x="3474720" y="2587752"/>
            <a:ext cx="822960" cy="274320"/>
          </a:xfrm>
          <a:prstGeom prst="rect">
            <a:avLst/>
          </a:prstGeom>
          <a:noFill/>
        </p:spPr>
        <p:txBody>
          <a:bodyPr wrap="square">
            <a:spAutoFit/>
          </a:bodyPr>
          <a:lstStyle/>
          <a:p>
            <a:pPr algn="l"/>
            <a:r>
              <a:rPr sz="1100" b="1" i="0">
                <a:solidFill>
                  <a:srgbClr val="FFFFFF"/>
                </a:solidFill>
              </a:rPr>
              <a:t>F1-Score</a:t>
            </a:r>
          </a:p>
        </p:txBody>
      </p:sp>
      <p:sp>
        <p:nvSpPr>
          <p:cNvPr id="33" name="TextBox 32"/>
          <p:cNvSpPr txBox="1"/>
          <p:nvPr/>
        </p:nvSpPr>
        <p:spPr>
          <a:xfrm>
            <a:off x="4297680" y="2587752"/>
            <a:ext cx="640080" cy="274320"/>
          </a:xfrm>
          <a:prstGeom prst="rect">
            <a:avLst/>
          </a:prstGeom>
          <a:noFill/>
        </p:spPr>
        <p:txBody>
          <a:bodyPr wrap="square">
            <a:spAutoFit/>
          </a:bodyPr>
          <a:lstStyle/>
          <a:p>
            <a:pPr algn="l"/>
            <a:r>
              <a:rPr sz="1100" b="1" i="0">
                <a:solidFill>
                  <a:srgbClr val="FFFFFF"/>
                </a:solidFill>
              </a:rPr>
              <a:t>Support</a:t>
            </a:r>
          </a:p>
        </p:txBody>
      </p:sp>
      <p:sp>
        <p:nvSpPr>
          <p:cNvPr id="34" name="Rectangle 33"/>
          <p:cNvSpPr/>
          <p:nvPr/>
        </p:nvSpPr>
        <p:spPr>
          <a:xfrm>
            <a:off x="320040" y="2944368"/>
            <a:ext cx="5440680" cy="438912"/>
          </a:xfrm>
          <a:prstGeom prst="rect">
            <a:avLst/>
          </a:prstGeom>
          <a:solidFill>
            <a:srgbClr val="FFFFFF"/>
          </a:solidFill>
          <a:ln w="6350">
            <a:solidFill>
              <a:srgbClr val="D5DB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65759" y="3035808"/>
            <a:ext cx="1554480" cy="274320"/>
          </a:xfrm>
          <a:prstGeom prst="rect">
            <a:avLst/>
          </a:prstGeom>
          <a:noFill/>
        </p:spPr>
        <p:txBody>
          <a:bodyPr wrap="square">
            <a:spAutoFit/>
          </a:bodyPr>
          <a:lstStyle/>
          <a:p>
            <a:pPr algn="l"/>
            <a:r>
              <a:rPr sz="1100" b="0" i="0">
                <a:solidFill>
                  <a:srgbClr val="2C3E50"/>
                </a:solidFill>
              </a:rPr>
              <a:t>Healthy</a:t>
            </a:r>
          </a:p>
        </p:txBody>
      </p:sp>
      <p:sp>
        <p:nvSpPr>
          <p:cNvPr id="36" name="TextBox 35"/>
          <p:cNvSpPr txBox="1"/>
          <p:nvPr/>
        </p:nvSpPr>
        <p:spPr>
          <a:xfrm>
            <a:off x="1920240" y="3035808"/>
            <a:ext cx="822960" cy="274320"/>
          </a:xfrm>
          <a:prstGeom prst="rect">
            <a:avLst/>
          </a:prstGeom>
          <a:noFill/>
        </p:spPr>
        <p:txBody>
          <a:bodyPr wrap="square">
            <a:spAutoFit/>
          </a:bodyPr>
          <a:lstStyle/>
          <a:p>
            <a:pPr algn="l"/>
            <a:r>
              <a:rPr sz="1100" b="0" i="0">
                <a:solidFill>
                  <a:srgbClr val="2C3E50"/>
                </a:solidFill>
              </a:rPr>
              <a:t>0.8478</a:t>
            </a:r>
          </a:p>
        </p:txBody>
      </p:sp>
      <p:sp>
        <p:nvSpPr>
          <p:cNvPr id="37" name="TextBox 36"/>
          <p:cNvSpPr txBox="1"/>
          <p:nvPr/>
        </p:nvSpPr>
        <p:spPr>
          <a:xfrm>
            <a:off x="2743200" y="3035808"/>
            <a:ext cx="731520" cy="274320"/>
          </a:xfrm>
          <a:prstGeom prst="rect">
            <a:avLst/>
          </a:prstGeom>
          <a:noFill/>
        </p:spPr>
        <p:txBody>
          <a:bodyPr wrap="square">
            <a:spAutoFit/>
          </a:bodyPr>
          <a:lstStyle/>
          <a:p>
            <a:pPr algn="l"/>
            <a:r>
              <a:rPr sz="1100" b="0" i="0">
                <a:solidFill>
                  <a:srgbClr val="2C3E50"/>
                </a:solidFill>
              </a:rPr>
              <a:t>0.8478</a:t>
            </a:r>
          </a:p>
        </p:txBody>
      </p:sp>
      <p:sp>
        <p:nvSpPr>
          <p:cNvPr id="38" name="TextBox 37"/>
          <p:cNvSpPr txBox="1"/>
          <p:nvPr/>
        </p:nvSpPr>
        <p:spPr>
          <a:xfrm>
            <a:off x="3474720" y="3035808"/>
            <a:ext cx="822960" cy="274320"/>
          </a:xfrm>
          <a:prstGeom prst="rect">
            <a:avLst/>
          </a:prstGeom>
          <a:noFill/>
        </p:spPr>
        <p:txBody>
          <a:bodyPr wrap="square">
            <a:spAutoFit/>
          </a:bodyPr>
          <a:lstStyle/>
          <a:p>
            <a:pPr algn="l"/>
            <a:r>
              <a:rPr sz="1100" b="0" i="0">
                <a:solidFill>
                  <a:srgbClr val="2C3E50"/>
                </a:solidFill>
              </a:rPr>
              <a:t>0.8478</a:t>
            </a:r>
          </a:p>
        </p:txBody>
      </p:sp>
      <p:sp>
        <p:nvSpPr>
          <p:cNvPr id="39" name="TextBox 38"/>
          <p:cNvSpPr txBox="1"/>
          <p:nvPr/>
        </p:nvSpPr>
        <p:spPr>
          <a:xfrm>
            <a:off x="4297680" y="3035808"/>
            <a:ext cx="640080" cy="274320"/>
          </a:xfrm>
          <a:prstGeom prst="rect">
            <a:avLst/>
          </a:prstGeom>
          <a:noFill/>
        </p:spPr>
        <p:txBody>
          <a:bodyPr wrap="square">
            <a:spAutoFit/>
          </a:bodyPr>
          <a:lstStyle/>
          <a:p>
            <a:pPr algn="l"/>
            <a:r>
              <a:rPr sz="1100" b="0" i="0">
                <a:solidFill>
                  <a:srgbClr val="2C3E50"/>
                </a:solidFill>
              </a:rPr>
              <a:t>46</a:t>
            </a:r>
          </a:p>
        </p:txBody>
      </p:sp>
      <p:sp>
        <p:nvSpPr>
          <p:cNvPr id="40" name="Rectangle 39"/>
          <p:cNvSpPr/>
          <p:nvPr/>
        </p:nvSpPr>
        <p:spPr>
          <a:xfrm>
            <a:off x="320040" y="3419856"/>
            <a:ext cx="5440680" cy="438912"/>
          </a:xfrm>
          <a:prstGeom prst="rect">
            <a:avLst/>
          </a:prstGeom>
          <a:solidFill>
            <a:srgbClr val="E8F8F0"/>
          </a:solidFill>
          <a:ln w="6350">
            <a:solidFill>
              <a:srgbClr val="D5DB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65759" y="3511296"/>
            <a:ext cx="1554480" cy="274320"/>
          </a:xfrm>
          <a:prstGeom prst="rect">
            <a:avLst/>
          </a:prstGeom>
          <a:noFill/>
        </p:spPr>
        <p:txBody>
          <a:bodyPr wrap="square">
            <a:spAutoFit/>
          </a:bodyPr>
          <a:lstStyle/>
          <a:p>
            <a:pPr algn="l"/>
            <a:r>
              <a:rPr sz="1100" b="1" i="0">
                <a:solidFill>
                  <a:srgbClr val="27AE60"/>
                </a:solidFill>
              </a:rPr>
              <a:t>Single_Infected</a:t>
            </a:r>
          </a:p>
        </p:txBody>
      </p:sp>
      <p:sp>
        <p:nvSpPr>
          <p:cNvPr id="42" name="TextBox 41"/>
          <p:cNvSpPr txBox="1"/>
          <p:nvPr/>
        </p:nvSpPr>
        <p:spPr>
          <a:xfrm>
            <a:off x="1920240" y="3511296"/>
            <a:ext cx="822960" cy="274320"/>
          </a:xfrm>
          <a:prstGeom prst="rect">
            <a:avLst/>
          </a:prstGeom>
          <a:noFill/>
        </p:spPr>
        <p:txBody>
          <a:bodyPr wrap="square">
            <a:spAutoFit/>
          </a:bodyPr>
          <a:lstStyle/>
          <a:p>
            <a:pPr algn="l"/>
            <a:r>
              <a:rPr sz="1100" b="1" i="0">
                <a:solidFill>
                  <a:srgbClr val="27AE60"/>
                </a:solidFill>
              </a:rPr>
              <a:t>1.0000</a:t>
            </a:r>
          </a:p>
        </p:txBody>
      </p:sp>
      <p:sp>
        <p:nvSpPr>
          <p:cNvPr id="43" name="TextBox 42"/>
          <p:cNvSpPr txBox="1"/>
          <p:nvPr/>
        </p:nvSpPr>
        <p:spPr>
          <a:xfrm>
            <a:off x="2743200" y="3511296"/>
            <a:ext cx="731520" cy="274320"/>
          </a:xfrm>
          <a:prstGeom prst="rect">
            <a:avLst/>
          </a:prstGeom>
          <a:noFill/>
        </p:spPr>
        <p:txBody>
          <a:bodyPr wrap="square">
            <a:spAutoFit/>
          </a:bodyPr>
          <a:lstStyle/>
          <a:p>
            <a:pPr algn="l"/>
            <a:r>
              <a:rPr sz="1100" b="1" i="0">
                <a:solidFill>
                  <a:srgbClr val="27AE60"/>
                </a:solidFill>
              </a:rPr>
              <a:t>0.9565</a:t>
            </a:r>
          </a:p>
        </p:txBody>
      </p:sp>
      <p:sp>
        <p:nvSpPr>
          <p:cNvPr id="44" name="TextBox 43"/>
          <p:cNvSpPr txBox="1"/>
          <p:nvPr/>
        </p:nvSpPr>
        <p:spPr>
          <a:xfrm>
            <a:off x="3474720" y="3511296"/>
            <a:ext cx="822960" cy="274320"/>
          </a:xfrm>
          <a:prstGeom prst="rect">
            <a:avLst/>
          </a:prstGeom>
          <a:noFill/>
        </p:spPr>
        <p:txBody>
          <a:bodyPr wrap="square">
            <a:spAutoFit/>
          </a:bodyPr>
          <a:lstStyle/>
          <a:p>
            <a:pPr algn="l"/>
            <a:r>
              <a:rPr sz="1100" b="1" i="0">
                <a:solidFill>
                  <a:srgbClr val="27AE60"/>
                </a:solidFill>
              </a:rPr>
              <a:t>0.9778</a:t>
            </a:r>
          </a:p>
        </p:txBody>
      </p:sp>
      <p:sp>
        <p:nvSpPr>
          <p:cNvPr id="45" name="TextBox 44"/>
          <p:cNvSpPr txBox="1"/>
          <p:nvPr/>
        </p:nvSpPr>
        <p:spPr>
          <a:xfrm>
            <a:off x="4297680" y="3511296"/>
            <a:ext cx="640080" cy="274320"/>
          </a:xfrm>
          <a:prstGeom prst="rect">
            <a:avLst/>
          </a:prstGeom>
          <a:noFill/>
        </p:spPr>
        <p:txBody>
          <a:bodyPr wrap="square">
            <a:spAutoFit/>
          </a:bodyPr>
          <a:lstStyle/>
          <a:p>
            <a:pPr algn="l"/>
            <a:r>
              <a:rPr sz="1100" b="1" i="0">
                <a:solidFill>
                  <a:srgbClr val="27AE60"/>
                </a:solidFill>
              </a:rPr>
              <a:t>23</a:t>
            </a:r>
          </a:p>
        </p:txBody>
      </p:sp>
      <p:sp>
        <p:nvSpPr>
          <p:cNvPr id="46" name="Rectangle 45"/>
          <p:cNvSpPr/>
          <p:nvPr/>
        </p:nvSpPr>
        <p:spPr>
          <a:xfrm>
            <a:off x="320040" y="3895344"/>
            <a:ext cx="5440680" cy="438912"/>
          </a:xfrm>
          <a:prstGeom prst="rect">
            <a:avLst/>
          </a:prstGeom>
          <a:solidFill>
            <a:srgbClr val="FFFFFF"/>
          </a:solidFill>
          <a:ln w="6350">
            <a:solidFill>
              <a:srgbClr val="D5DB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65759" y="3986783"/>
            <a:ext cx="1554480" cy="274320"/>
          </a:xfrm>
          <a:prstGeom prst="rect">
            <a:avLst/>
          </a:prstGeom>
          <a:noFill/>
        </p:spPr>
        <p:txBody>
          <a:bodyPr wrap="square">
            <a:spAutoFit/>
          </a:bodyPr>
          <a:lstStyle/>
          <a:p>
            <a:pPr algn="l"/>
            <a:r>
              <a:rPr sz="1100" b="0" i="0">
                <a:solidFill>
                  <a:srgbClr val="2C3E50"/>
                </a:solidFill>
              </a:rPr>
              <a:t>Mixed_Infected</a:t>
            </a:r>
          </a:p>
        </p:txBody>
      </p:sp>
      <p:sp>
        <p:nvSpPr>
          <p:cNvPr id="48" name="TextBox 47"/>
          <p:cNvSpPr txBox="1"/>
          <p:nvPr/>
        </p:nvSpPr>
        <p:spPr>
          <a:xfrm>
            <a:off x="1920240" y="3986783"/>
            <a:ext cx="822960" cy="274320"/>
          </a:xfrm>
          <a:prstGeom prst="rect">
            <a:avLst/>
          </a:prstGeom>
          <a:noFill/>
        </p:spPr>
        <p:txBody>
          <a:bodyPr wrap="square">
            <a:spAutoFit/>
          </a:bodyPr>
          <a:lstStyle/>
          <a:p>
            <a:pPr algn="l"/>
            <a:r>
              <a:rPr sz="1100" b="0" i="0">
                <a:solidFill>
                  <a:srgbClr val="2C3E50"/>
                </a:solidFill>
              </a:rPr>
              <a:t>0.8542</a:t>
            </a:r>
          </a:p>
        </p:txBody>
      </p:sp>
      <p:sp>
        <p:nvSpPr>
          <p:cNvPr id="49" name="TextBox 48"/>
          <p:cNvSpPr txBox="1"/>
          <p:nvPr/>
        </p:nvSpPr>
        <p:spPr>
          <a:xfrm>
            <a:off x="2743200" y="3986783"/>
            <a:ext cx="731520" cy="274320"/>
          </a:xfrm>
          <a:prstGeom prst="rect">
            <a:avLst/>
          </a:prstGeom>
          <a:noFill/>
        </p:spPr>
        <p:txBody>
          <a:bodyPr wrap="square">
            <a:spAutoFit/>
          </a:bodyPr>
          <a:lstStyle/>
          <a:p>
            <a:pPr algn="l"/>
            <a:r>
              <a:rPr sz="1100" b="0" i="0">
                <a:solidFill>
                  <a:srgbClr val="2C3E50"/>
                </a:solidFill>
              </a:rPr>
              <a:t>0.8542</a:t>
            </a:r>
          </a:p>
        </p:txBody>
      </p:sp>
      <p:sp>
        <p:nvSpPr>
          <p:cNvPr id="50" name="TextBox 49"/>
          <p:cNvSpPr txBox="1"/>
          <p:nvPr/>
        </p:nvSpPr>
        <p:spPr>
          <a:xfrm>
            <a:off x="3474720" y="3986783"/>
            <a:ext cx="822960" cy="274320"/>
          </a:xfrm>
          <a:prstGeom prst="rect">
            <a:avLst/>
          </a:prstGeom>
          <a:noFill/>
        </p:spPr>
        <p:txBody>
          <a:bodyPr wrap="square">
            <a:spAutoFit/>
          </a:bodyPr>
          <a:lstStyle/>
          <a:p>
            <a:pPr algn="l"/>
            <a:r>
              <a:rPr sz="1100" b="0" i="0">
                <a:solidFill>
                  <a:srgbClr val="2C3E50"/>
                </a:solidFill>
              </a:rPr>
              <a:t>0.8542</a:t>
            </a:r>
          </a:p>
        </p:txBody>
      </p:sp>
      <p:sp>
        <p:nvSpPr>
          <p:cNvPr id="51" name="TextBox 50"/>
          <p:cNvSpPr txBox="1"/>
          <p:nvPr/>
        </p:nvSpPr>
        <p:spPr>
          <a:xfrm>
            <a:off x="4297680" y="3986783"/>
            <a:ext cx="640080" cy="274320"/>
          </a:xfrm>
          <a:prstGeom prst="rect">
            <a:avLst/>
          </a:prstGeom>
          <a:noFill/>
        </p:spPr>
        <p:txBody>
          <a:bodyPr wrap="square">
            <a:spAutoFit/>
          </a:bodyPr>
          <a:lstStyle/>
          <a:p>
            <a:pPr algn="l"/>
            <a:r>
              <a:rPr sz="1100" b="0" i="0">
                <a:solidFill>
                  <a:srgbClr val="2C3E50"/>
                </a:solidFill>
              </a:rPr>
              <a:t>48</a:t>
            </a:r>
          </a:p>
        </p:txBody>
      </p:sp>
      <p:sp>
        <p:nvSpPr>
          <p:cNvPr id="52" name="Rectangle 51"/>
          <p:cNvSpPr/>
          <p:nvPr/>
        </p:nvSpPr>
        <p:spPr>
          <a:xfrm>
            <a:off x="320040" y="4370832"/>
            <a:ext cx="5440680" cy="36576"/>
          </a:xfrm>
          <a:prstGeom prst="rect">
            <a:avLst/>
          </a:prstGeom>
          <a:solidFill>
            <a:srgbClr val="D5DB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320040" y="4846320"/>
            <a:ext cx="5440680" cy="438912"/>
          </a:xfrm>
          <a:prstGeom prst="rect">
            <a:avLst/>
          </a:prstGeom>
          <a:solidFill>
            <a:srgbClr val="FFFFFF"/>
          </a:solidFill>
          <a:ln w="6350">
            <a:solidFill>
              <a:srgbClr val="D5DB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365759" y="4937760"/>
            <a:ext cx="1554480" cy="274320"/>
          </a:xfrm>
          <a:prstGeom prst="rect">
            <a:avLst/>
          </a:prstGeom>
          <a:noFill/>
        </p:spPr>
        <p:txBody>
          <a:bodyPr wrap="square">
            <a:spAutoFit/>
          </a:bodyPr>
          <a:lstStyle/>
          <a:p>
            <a:pPr algn="l"/>
            <a:r>
              <a:rPr sz="1100" b="0" i="0">
                <a:solidFill>
                  <a:srgbClr val="1B3A5C"/>
                </a:solidFill>
              </a:rPr>
              <a:t>Macro avg</a:t>
            </a:r>
          </a:p>
        </p:txBody>
      </p:sp>
      <p:sp>
        <p:nvSpPr>
          <p:cNvPr id="55" name="TextBox 54"/>
          <p:cNvSpPr txBox="1"/>
          <p:nvPr/>
        </p:nvSpPr>
        <p:spPr>
          <a:xfrm>
            <a:off x="1920240" y="4937760"/>
            <a:ext cx="822960" cy="274320"/>
          </a:xfrm>
          <a:prstGeom prst="rect">
            <a:avLst/>
          </a:prstGeom>
          <a:noFill/>
        </p:spPr>
        <p:txBody>
          <a:bodyPr wrap="square">
            <a:spAutoFit/>
          </a:bodyPr>
          <a:lstStyle/>
          <a:p>
            <a:pPr algn="l"/>
            <a:r>
              <a:rPr sz="1100" b="0" i="0">
                <a:solidFill>
                  <a:srgbClr val="1B3A5C"/>
                </a:solidFill>
              </a:rPr>
              <a:t>0.9007</a:t>
            </a:r>
          </a:p>
        </p:txBody>
      </p:sp>
      <p:sp>
        <p:nvSpPr>
          <p:cNvPr id="56" name="TextBox 55"/>
          <p:cNvSpPr txBox="1"/>
          <p:nvPr/>
        </p:nvSpPr>
        <p:spPr>
          <a:xfrm>
            <a:off x="2743200" y="4937760"/>
            <a:ext cx="731520" cy="274320"/>
          </a:xfrm>
          <a:prstGeom prst="rect">
            <a:avLst/>
          </a:prstGeom>
          <a:noFill/>
        </p:spPr>
        <p:txBody>
          <a:bodyPr wrap="square">
            <a:spAutoFit/>
          </a:bodyPr>
          <a:lstStyle/>
          <a:p>
            <a:pPr algn="l"/>
            <a:r>
              <a:rPr sz="1100" b="0" i="0">
                <a:solidFill>
                  <a:srgbClr val="1B3A5C"/>
                </a:solidFill>
              </a:rPr>
              <a:t>0.9007</a:t>
            </a:r>
          </a:p>
        </p:txBody>
      </p:sp>
      <p:sp>
        <p:nvSpPr>
          <p:cNvPr id="57" name="TextBox 56"/>
          <p:cNvSpPr txBox="1"/>
          <p:nvPr/>
        </p:nvSpPr>
        <p:spPr>
          <a:xfrm>
            <a:off x="3474720" y="4937760"/>
            <a:ext cx="822960" cy="274320"/>
          </a:xfrm>
          <a:prstGeom prst="rect">
            <a:avLst/>
          </a:prstGeom>
          <a:noFill/>
        </p:spPr>
        <p:txBody>
          <a:bodyPr wrap="square">
            <a:spAutoFit/>
          </a:bodyPr>
          <a:lstStyle/>
          <a:p>
            <a:pPr algn="l"/>
            <a:r>
              <a:rPr sz="1100" b="0" i="0">
                <a:solidFill>
                  <a:srgbClr val="1B3A5C"/>
                </a:solidFill>
              </a:rPr>
              <a:t>0.9007</a:t>
            </a:r>
          </a:p>
        </p:txBody>
      </p:sp>
      <p:sp>
        <p:nvSpPr>
          <p:cNvPr id="58" name="TextBox 57"/>
          <p:cNvSpPr txBox="1"/>
          <p:nvPr/>
        </p:nvSpPr>
        <p:spPr>
          <a:xfrm>
            <a:off x="4297680" y="4937760"/>
            <a:ext cx="640080" cy="274320"/>
          </a:xfrm>
          <a:prstGeom prst="rect">
            <a:avLst/>
          </a:prstGeom>
          <a:noFill/>
        </p:spPr>
        <p:txBody>
          <a:bodyPr wrap="square">
            <a:spAutoFit/>
          </a:bodyPr>
          <a:lstStyle/>
          <a:p>
            <a:pPr algn="l"/>
            <a:r>
              <a:rPr sz="1100" b="0" i="0">
                <a:solidFill>
                  <a:srgbClr val="1B3A5C"/>
                </a:solidFill>
              </a:rPr>
              <a:t>117</a:t>
            </a:r>
          </a:p>
        </p:txBody>
      </p:sp>
      <p:sp>
        <p:nvSpPr>
          <p:cNvPr id="59" name="Rectangle 58"/>
          <p:cNvSpPr/>
          <p:nvPr/>
        </p:nvSpPr>
        <p:spPr>
          <a:xfrm>
            <a:off x="320040" y="5321808"/>
            <a:ext cx="5440680" cy="438912"/>
          </a:xfrm>
          <a:prstGeom prst="rect">
            <a:avLst/>
          </a:prstGeom>
          <a:solidFill>
            <a:srgbClr val="FFFFFF"/>
          </a:solidFill>
          <a:ln w="6350">
            <a:solidFill>
              <a:srgbClr val="D5DB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365759" y="5413248"/>
            <a:ext cx="1554480" cy="274320"/>
          </a:xfrm>
          <a:prstGeom prst="rect">
            <a:avLst/>
          </a:prstGeom>
          <a:noFill/>
        </p:spPr>
        <p:txBody>
          <a:bodyPr wrap="square">
            <a:spAutoFit/>
          </a:bodyPr>
          <a:lstStyle/>
          <a:p>
            <a:pPr algn="l"/>
            <a:r>
              <a:rPr sz="1100" b="0" i="0">
                <a:solidFill>
                  <a:srgbClr val="2C3E50"/>
                </a:solidFill>
              </a:rPr>
              <a:t>Weighted avg</a:t>
            </a:r>
          </a:p>
        </p:txBody>
      </p:sp>
      <p:sp>
        <p:nvSpPr>
          <p:cNvPr id="61" name="TextBox 60"/>
          <p:cNvSpPr txBox="1"/>
          <p:nvPr/>
        </p:nvSpPr>
        <p:spPr>
          <a:xfrm>
            <a:off x="1920240" y="5413248"/>
            <a:ext cx="822960" cy="274320"/>
          </a:xfrm>
          <a:prstGeom prst="rect">
            <a:avLst/>
          </a:prstGeom>
          <a:noFill/>
        </p:spPr>
        <p:txBody>
          <a:bodyPr wrap="square">
            <a:spAutoFit/>
          </a:bodyPr>
          <a:lstStyle/>
          <a:p>
            <a:pPr algn="l"/>
            <a:r>
              <a:rPr sz="1100" b="0" i="0">
                <a:solidFill>
                  <a:srgbClr val="2C3E50"/>
                </a:solidFill>
              </a:rPr>
              <a:t>0.8803</a:t>
            </a:r>
          </a:p>
        </p:txBody>
      </p:sp>
      <p:sp>
        <p:nvSpPr>
          <p:cNvPr id="62" name="TextBox 61"/>
          <p:cNvSpPr txBox="1"/>
          <p:nvPr/>
        </p:nvSpPr>
        <p:spPr>
          <a:xfrm>
            <a:off x="2743200" y="5413248"/>
            <a:ext cx="731520" cy="274320"/>
          </a:xfrm>
          <a:prstGeom prst="rect">
            <a:avLst/>
          </a:prstGeom>
          <a:noFill/>
        </p:spPr>
        <p:txBody>
          <a:bodyPr wrap="square">
            <a:spAutoFit/>
          </a:bodyPr>
          <a:lstStyle/>
          <a:p>
            <a:pPr algn="l"/>
            <a:r>
              <a:rPr sz="1100" b="0" i="0">
                <a:solidFill>
                  <a:srgbClr val="2C3E50"/>
                </a:solidFill>
              </a:rPr>
              <a:t>0.8803</a:t>
            </a:r>
          </a:p>
        </p:txBody>
      </p:sp>
      <p:sp>
        <p:nvSpPr>
          <p:cNvPr id="63" name="TextBox 62"/>
          <p:cNvSpPr txBox="1"/>
          <p:nvPr/>
        </p:nvSpPr>
        <p:spPr>
          <a:xfrm>
            <a:off x="3474720" y="5413248"/>
            <a:ext cx="822960" cy="274320"/>
          </a:xfrm>
          <a:prstGeom prst="rect">
            <a:avLst/>
          </a:prstGeom>
          <a:noFill/>
        </p:spPr>
        <p:txBody>
          <a:bodyPr wrap="square">
            <a:spAutoFit/>
          </a:bodyPr>
          <a:lstStyle/>
          <a:p>
            <a:pPr algn="l"/>
            <a:r>
              <a:rPr sz="1100" b="0" i="0">
                <a:solidFill>
                  <a:srgbClr val="2C3E50"/>
                </a:solidFill>
              </a:rPr>
              <a:t>0.8803</a:t>
            </a:r>
          </a:p>
        </p:txBody>
      </p:sp>
      <p:sp>
        <p:nvSpPr>
          <p:cNvPr id="64" name="TextBox 63"/>
          <p:cNvSpPr txBox="1"/>
          <p:nvPr/>
        </p:nvSpPr>
        <p:spPr>
          <a:xfrm>
            <a:off x="4297680" y="5413248"/>
            <a:ext cx="640080" cy="274320"/>
          </a:xfrm>
          <a:prstGeom prst="rect">
            <a:avLst/>
          </a:prstGeom>
          <a:noFill/>
        </p:spPr>
        <p:txBody>
          <a:bodyPr wrap="square">
            <a:spAutoFit/>
          </a:bodyPr>
          <a:lstStyle/>
          <a:p>
            <a:pPr algn="l"/>
            <a:r>
              <a:rPr sz="1100" b="0" i="0">
                <a:solidFill>
                  <a:srgbClr val="2C3E50"/>
                </a:solidFill>
              </a:rPr>
              <a:t>117</a:t>
            </a:r>
          </a:p>
        </p:txBody>
      </p:sp>
      <p:sp>
        <p:nvSpPr>
          <p:cNvPr id="65" name="Rectangle 64"/>
          <p:cNvSpPr/>
          <p:nvPr/>
        </p:nvSpPr>
        <p:spPr>
          <a:xfrm>
            <a:off x="6126480" y="2084831"/>
            <a:ext cx="5760720" cy="4453128"/>
          </a:xfrm>
          <a:prstGeom prst="rect">
            <a:avLst/>
          </a:prstGeom>
          <a:solidFill>
            <a:srgbClr val="E8F8F0"/>
          </a:solidFill>
          <a:ln w="6350">
            <a:solidFill>
              <a:srgbClr val="D5DB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6126480" y="2084831"/>
            <a:ext cx="5760720" cy="54864"/>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6309360" y="2157984"/>
            <a:ext cx="5486400" cy="329184"/>
          </a:xfrm>
          <a:prstGeom prst="rect">
            <a:avLst/>
          </a:prstGeom>
          <a:noFill/>
        </p:spPr>
        <p:txBody>
          <a:bodyPr wrap="square">
            <a:spAutoFit/>
          </a:bodyPr>
          <a:lstStyle/>
          <a:p>
            <a:pPr algn="l"/>
            <a:r>
              <a:rPr sz="1200" b="1" i="0">
                <a:solidFill>
                  <a:srgbClr val="27AE60"/>
                </a:solidFill>
              </a:rPr>
              <a:t>Comparison: Softmax vs CORN Loss</a:t>
            </a:r>
          </a:p>
        </p:txBody>
      </p:sp>
      <p:sp>
        <p:nvSpPr>
          <p:cNvPr id="68" name="Rectangle 67"/>
          <p:cNvSpPr/>
          <p:nvPr/>
        </p:nvSpPr>
        <p:spPr>
          <a:xfrm>
            <a:off x="6172200" y="2560320"/>
            <a:ext cx="5577840" cy="34747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6263640" y="2596896"/>
            <a:ext cx="914400" cy="256032"/>
          </a:xfrm>
          <a:prstGeom prst="rect">
            <a:avLst/>
          </a:prstGeom>
          <a:noFill/>
        </p:spPr>
        <p:txBody>
          <a:bodyPr wrap="square">
            <a:spAutoFit/>
          </a:bodyPr>
          <a:lstStyle/>
          <a:p>
            <a:pPr algn="l"/>
            <a:r>
              <a:rPr sz="1100" b="1" i="0">
                <a:solidFill>
                  <a:srgbClr val="FFFFFF"/>
                </a:solidFill>
              </a:rPr>
              <a:t>Model</a:t>
            </a:r>
          </a:p>
        </p:txBody>
      </p:sp>
      <p:sp>
        <p:nvSpPr>
          <p:cNvPr id="70" name="TextBox 69"/>
          <p:cNvSpPr txBox="1"/>
          <p:nvPr/>
        </p:nvSpPr>
        <p:spPr>
          <a:xfrm>
            <a:off x="8503920" y="2596896"/>
            <a:ext cx="914400" cy="256032"/>
          </a:xfrm>
          <a:prstGeom prst="rect">
            <a:avLst/>
          </a:prstGeom>
          <a:noFill/>
        </p:spPr>
        <p:txBody>
          <a:bodyPr wrap="square">
            <a:spAutoFit/>
          </a:bodyPr>
          <a:lstStyle/>
          <a:p>
            <a:pPr algn="l"/>
            <a:r>
              <a:rPr sz="1100" b="1" i="0">
                <a:solidFill>
                  <a:srgbClr val="FFFFFF"/>
                </a:solidFill>
              </a:rPr>
              <a:t>Val Acc</a:t>
            </a:r>
          </a:p>
        </p:txBody>
      </p:sp>
      <p:sp>
        <p:nvSpPr>
          <p:cNvPr id="71" name="TextBox 70"/>
          <p:cNvSpPr txBox="1"/>
          <p:nvPr/>
        </p:nvSpPr>
        <p:spPr>
          <a:xfrm>
            <a:off x="9509760" y="2596896"/>
            <a:ext cx="914400" cy="256032"/>
          </a:xfrm>
          <a:prstGeom prst="rect">
            <a:avLst/>
          </a:prstGeom>
          <a:noFill/>
        </p:spPr>
        <p:txBody>
          <a:bodyPr wrap="square">
            <a:spAutoFit/>
          </a:bodyPr>
          <a:lstStyle/>
          <a:p>
            <a:pPr algn="l"/>
            <a:r>
              <a:rPr sz="1100" b="1" i="0">
                <a:solidFill>
                  <a:srgbClr val="FFFFFF"/>
                </a:solidFill>
              </a:rPr>
              <a:t>Test Acc</a:t>
            </a:r>
          </a:p>
        </p:txBody>
      </p:sp>
      <p:sp>
        <p:nvSpPr>
          <p:cNvPr id="72" name="TextBox 71"/>
          <p:cNvSpPr txBox="1"/>
          <p:nvPr/>
        </p:nvSpPr>
        <p:spPr>
          <a:xfrm>
            <a:off x="10561320" y="2596896"/>
            <a:ext cx="914400" cy="256032"/>
          </a:xfrm>
          <a:prstGeom prst="rect">
            <a:avLst/>
          </a:prstGeom>
          <a:noFill/>
        </p:spPr>
        <p:txBody>
          <a:bodyPr wrap="square">
            <a:spAutoFit/>
          </a:bodyPr>
          <a:lstStyle/>
          <a:p>
            <a:pPr algn="l"/>
            <a:r>
              <a:rPr sz="1100" b="1" i="0">
                <a:solidFill>
                  <a:srgbClr val="FFFFFF"/>
                </a:solidFill>
              </a:rPr>
              <a:t>MAE</a:t>
            </a:r>
          </a:p>
        </p:txBody>
      </p:sp>
      <p:sp>
        <p:nvSpPr>
          <p:cNvPr id="73" name="Rectangle 72"/>
          <p:cNvSpPr/>
          <p:nvPr/>
        </p:nvSpPr>
        <p:spPr>
          <a:xfrm>
            <a:off x="6172200" y="2944368"/>
            <a:ext cx="5577840" cy="804672"/>
          </a:xfrm>
          <a:prstGeom prst="rect">
            <a:avLst/>
          </a:prstGeom>
          <a:solidFill>
            <a:srgbClr val="FFFFFF"/>
          </a:solidFill>
          <a:ln w="6350">
            <a:solidFill>
              <a:srgbClr val="D5DB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6263640" y="3054096"/>
            <a:ext cx="2103120" cy="594360"/>
          </a:xfrm>
          <a:prstGeom prst="rect">
            <a:avLst/>
          </a:prstGeom>
          <a:noFill/>
        </p:spPr>
        <p:txBody>
          <a:bodyPr wrap="square">
            <a:spAutoFit/>
          </a:bodyPr>
          <a:lstStyle/>
          <a:p>
            <a:pPr algn="l"/>
            <a:r>
              <a:rPr sz="1050" b="0" i="0">
                <a:solidFill>
                  <a:srgbClr val="2C3E50"/>
                </a:solidFill>
              </a:rPr>
              <a:t>EfficientNetV2S
(Softmax, Phase 3B)</a:t>
            </a:r>
          </a:p>
        </p:txBody>
      </p:sp>
      <p:sp>
        <p:nvSpPr>
          <p:cNvPr id="75" name="TextBox 74"/>
          <p:cNvSpPr txBox="1"/>
          <p:nvPr/>
        </p:nvSpPr>
        <p:spPr>
          <a:xfrm>
            <a:off x="8503920" y="3200400"/>
            <a:ext cx="914400" cy="292608"/>
          </a:xfrm>
          <a:prstGeom prst="rect">
            <a:avLst/>
          </a:prstGeom>
          <a:noFill/>
        </p:spPr>
        <p:txBody>
          <a:bodyPr wrap="square">
            <a:spAutoFit/>
          </a:bodyPr>
          <a:lstStyle/>
          <a:p>
            <a:pPr algn="l"/>
            <a:r>
              <a:rPr sz="1100" b="0" i="0">
                <a:solidFill>
                  <a:srgbClr val="2C3E50"/>
                </a:solidFill>
              </a:rPr>
              <a:t>92.92%</a:t>
            </a:r>
          </a:p>
        </p:txBody>
      </p:sp>
      <p:sp>
        <p:nvSpPr>
          <p:cNvPr id="76" name="TextBox 75"/>
          <p:cNvSpPr txBox="1"/>
          <p:nvPr/>
        </p:nvSpPr>
        <p:spPr>
          <a:xfrm>
            <a:off x="9509760" y="3200400"/>
            <a:ext cx="914400" cy="292608"/>
          </a:xfrm>
          <a:prstGeom prst="rect">
            <a:avLst/>
          </a:prstGeom>
          <a:noFill/>
        </p:spPr>
        <p:txBody>
          <a:bodyPr wrap="square">
            <a:spAutoFit/>
          </a:bodyPr>
          <a:lstStyle/>
          <a:p>
            <a:pPr algn="l"/>
            <a:r>
              <a:rPr sz="1100" b="0" i="0">
                <a:solidFill>
                  <a:srgbClr val="2C3E50"/>
                </a:solidFill>
              </a:rPr>
              <a:t>77.78%</a:t>
            </a:r>
          </a:p>
        </p:txBody>
      </p:sp>
      <p:sp>
        <p:nvSpPr>
          <p:cNvPr id="77" name="TextBox 76"/>
          <p:cNvSpPr txBox="1"/>
          <p:nvPr/>
        </p:nvSpPr>
        <p:spPr>
          <a:xfrm>
            <a:off x="10561320" y="3200400"/>
            <a:ext cx="914400" cy="292608"/>
          </a:xfrm>
          <a:prstGeom prst="rect">
            <a:avLst/>
          </a:prstGeom>
          <a:noFill/>
        </p:spPr>
        <p:txBody>
          <a:bodyPr wrap="square">
            <a:spAutoFit/>
          </a:bodyPr>
          <a:lstStyle/>
          <a:p>
            <a:pPr algn="l"/>
            <a:r>
              <a:rPr sz="1100" b="0" i="0">
                <a:solidFill>
                  <a:srgbClr val="2C3E50"/>
                </a:solidFill>
              </a:rPr>
              <a:t>—</a:t>
            </a:r>
          </a:p>
        </p:txBody>
      </p:sp>
      <p:sp>
        <p:nvSpPr>
          <p:cNvPr id="78" name="Rectangle 77"/>
          <p:cNvSpPr/>
          <p:nvPr/>
        </p:nvSpPr>
        <p:spPr>
          <a:xfrm>
            <a:off x="6172200" y="3813048"/>
            <a:ext cx="5577840" cy="804672"/>
          </a:xfrm>
          <a:prstGeom prst="rect">
            <a:avLst/>
          </a:prstGeom>
          <a:solidFill>
            <a:srgbClr val="E8F8F0"/>
          </a:solidFill>
          <a:ln w="6350">
            <a:solidFill>
              <a:srgbClr val="D5DB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6172200" y="3813048"/>
            <a:ext cx="54864" cy="804672"/>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6263640" y="3922776"/>
            <a:ext cx="2103120" cy="594360"/>
          </a:xfrm>
          <a:prstGeom prst="rect">
            <a:avLst/>
          </a:prstGeom>
          <a:noFill/>
        </p:spPr>
        <p:txBody>
          <a:bodyPr wrap="square">
            <a:spAutoFit/>
          </a:bodyPr>
          <a:lstStyle/>
          <a:p>
            <a:pPr algn="l"/>
            <a:r>
              <a:rPr sz="1050" b="1" i="0">
                <a:solidFill>
                  <a:srgbClr val="27AE60"/>
                </a:solidFill>
              </a:rPr>
              <a:t>EfficientNetV2S
+ CORN (Phase 3C)</a:t>
            </a:r>
          </a:p>
        </p:txBody>
      </p:sp>
      <p:sp>
        <p:nvSpPr>
          <p:cNvPr id="81" name="TextBox 80"/>
          <p:cNvSpPr txBox="1"/>
          <p:nvPr/>
        </p:nvSpPr>
        <p:spPr>
          <a:xfrm>
            <a:off x="8503920" y="4069080"/>
            <a:ext cx="914400" cy="292608"/>
          </a:xfrm>
          <a:prstGeom prst="rect">
            <a:avLst/>
          </a:prstGeom>
          <a:noFill/>
        </p:spPr>
        <p:txBody>
          <a:bodyPr wrap="square">
            <a:spAutoFit/>
          </a:bodyPr>
          <a:lstStyle/>
          <a:p>
            <a:pPr algn="l"/>
            <a:r>
              <a:rPr sz="1100" b="1" i="0">
                <a:solidFill>
                  <a:srgbClr val="27AE60"/>
                </a:solidFill>
              </a:rPr>
              <a:t>90.27%</a:t>
            </a:r>
          </a:p>
        </p:txBody>
      </p:sp>
      <p:sp>
        <p:nvSpPr>
          <p:cNvPr id="82" name="TextBox 81"/>
          <p:cNvSpPr txBox="1"/>
          <p:nvPr/>
        </p:nvSpPr>
        <p:spPr>
          <a:xfrm>
            <a:off x="9509760" y="4069080"/>
            <a:ext cx="914400" cy="292608"/>
          </a:xfrm>
          <a:prstGeom prst="rect">
            <a:avLst/>
          </a:prstGeom>
          <a:noFill/>
        </p:spPr>
        <p:txBody>
          <a:bodyPr wrap="square">
            <a:spAutoFit/>
          </a:bodyPr>
          <a:lstStyle/>
          <a:p>
            <a:pPr algn="l"/>
            <a:r>
              <a:rPr sz="1100" b="1" i="0">
                <a:solidFill>
                  <a:srgbClr val="27AE60"/>
                </a:solidFill>
              </a:rPr>
              <a:t>88.03%</a:t>
            </a:r>
          </a:p>
        </p:txBody>
      </p:sp>
      <p:sp>
        <p:nvSpPr>
          <p:cNvPr id="83" name="TextBox 82"/>
          <p:cNvSpPr txBox="1"/>
          <p:nvPr/>
        </p:nvSpPr>
        <p:spPr>
          <a:xfrm>
            <a:off x="10561320" y="4069080"/>
            <a:ext cx="914400" cy="292608"/>
          </a:xfrm>
          <a:prstGeom prst="rect">
            <a:avLst/>
          </a:prstGeom>
          <a:noFill/>
        </p:spPr>
        <p:txBody>
          <a:bodyPr wrap="square">
            <a:spAutoFit/>
          </a:bodyPr>
          <a:lstStyle/>
          <a:p>
            <a:pPr algn="l"/>
            <a:r>
              <a:rPr sz="1100" b="1" i="0">
                <a:solidFill>
                  <a:srgbClr val="27AE60"/>
                </a:solidFill>
              </a:rPr>
              <a:t>0.2393</a:t>
            </a:r>
          </a:p>
        </p:txBody>
      </p:sp>
      <p:sp>
        <p:nvSpPr>
          <p:cNvPr id="84" name="Rectangle 83"/>
          <p:cNvSpPr/>
          <p:nvPr/>
        </p:nvSpPr>
        <p:spPr>
          <a:xfrm>
            <a:off x="6172200" y="4681728"/>
            <a:ext cx="5577840" cy="804672"/>
          </a:xfrm>
          <a:prstGeom prst="rect">
            <a:avLst/>
          </a:prstGeom>
          <a:solidFill>
            <a:srgbClr val="FFFFFF"/>
          </a:solidFill>
          <a:ln w="6350">
            <a:solidFill>
              <a:srgbClr val="D5DB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6263640" y="4791456"/>
            <a:ext cx="2103120" cy="594360"/>
          </a:xfrm>
          <a:prstGeom prst="rect">
            <a:avLst/>
          </a:prstGeom>
          <a:noFill/>
        </p:spPr>
        <p:txBody>
          <a:bodyPr wrap="square">
            <a:spAutoFit/>
          </a:bodyPr>
          <a:lstStyle/>
          <a:p>
            <a:pPr algn="l"/>
            <a:r>
              <a:rPr sz="1050" b="0" i="0">
                <a:solidFill>
                  <a:srgbClr val="2C3E50"/>
                </a:solidFill>
              </a:rPr>
              <a:t>EfficientNetV2S
+ CORN + Diffusion</a:t>
            </a:r>
          </a:p>
        </p:txBody>
      </p:sp>
      <p:sp>
        <p:nvSpPr>
          <p:cNvPr id="86" name="TextBox 85"/>
          <p:cNvSpPr txBox="1"/>
          <p:nvPr/>
        </p:nvSpPr>
        <p:spPr>
          <a:xfrm>
            <a:off x="8503920" y="4937760"/>
            <a:ext cx="914400" cy="292608"/>
          </a:xfrm>
          <a:prstGeom prst="rect">
            <a:avLst/>
          </a:prstGeom>
          <a:noFill/>
        </p:spPr>
        <p:txBody>
          <a:bodyPr wrap="square">
            <a:spAutoFit/>
          </a:bodyPr>
          <a:lstStyle/>
          <a:p>
            <a:pPr algn="l"/>
            <a:r>
              <a:rPr sz="1100" b="0" i="0">
                <a:solidFill>
                  <a:srgbClr val="2C3E50"/>
                </a:solidFill>
              </a:rPr>
              <a:t>88.89%</a:t>
            </a:r>
          </a:p>
        </p:txBody>
      </p:sp>
      <p:sp>
        <p:nvSpPr>
          <p:cNvPr id="87" name="TextBox 86"/>
          <p:cNvSpPr txBox="1"/>
          <p:nvPr/>
        </p:nvSpPr>
        <p:spPr>
          <a:xfrm>
            <a:off x="9509760" y="4937760"/>
            <a:ext cx="914400" cy="292608"/>
          </a:xfrm>
          <a:prstGeom prst="rect">
            <a:avLst/>
          </a:prstGeom>
          <a:noFill/>
        </p:spPr>
        <p:txBody>
          <a:bodyPr wrap="square">
            <a:spAutoFit/>
          </a:bodyPr>
          <a:lstStyle/>
          <a:p>
            <a:pPr algn="l"/>
            <a:r>
              <a:rPr sz="1100" b="0" i="0">
                <a:solidFill>
                  <a:srgbClr val="2C3E50"/>
                </a:solidFill>
              </a:rPr>
              <a:t>86.32%</a:t>
            </a:r>
          </a:p>
        </p:txBody>
      </p:sp>
      <p:sp>
        <p:nvSpPr>
          <p:cNvPr id="88" name="TextBox 87"/>
          <p:cNvSpPr txBox="1"/>
          <p:nvPr/>
        </p:nvSpPr>
        <p:spPr>
          <a:xfrm>
            <a:off x="10561320" y="4937760"/>
            <a:ext cx="914400" cy="292608"/>
          </a:xfrm>
          <a:prstGeom prst="rect">
            <a:avLst/>
          </a:prstGeom>
          <a:noFill/>
        </p:spPr>
        <p:txBody>
          <a:bodyPr wrap="square">
            <a:spAutoFit/>
          </a:bodyPr>
          <a:lstStyle/>
          <a:p>
            <a:pPr algn="l"/>
            <a:r>
              <a:rPr sz="1100" b="0" i="0">
                <a:solidFill>
                  <a:srgbClr val="2C3E50"/>
                </a:solidFill>
              </a:rPr>
              <a:t>0.2650</a:t>
            </a:r>
          </a:p>
        </p:txBody>
      </p:sp>
      <p:sp>
        <p:nvSpPr>
          <p:cNvPr id="89" name="Rectangle 88"/>
          <p:cNvSpPr/>
          <p:nvPr/>
        </p:nvSpPr>
        <p:spPr>
          <a:xfrm>
            <a:off x="6172200" y="5550408"/>
            <a:ext cx="5577840" cy="804672"/>
          </a:xfrm>
          <a:prstGeom prst="rect">
            <a:avLst/>
          </a:prstGeom>
          <a:solidFill>
            <a:srgbClr val="FFFFFF"/>
          </a:solidFill>
          <a:ln w="6350">
            <a:solidFill>
              <a:srgbClr val="D5DB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6263640" y="5660136"/>
            <a:ext cx="2103120" cy="594360"/>
          </a:xfrm>
          <a:prstGeom prst="rect">
            <a:avLst/>
          </a:prstGeom>
          <a:noFill/>
        </p:spPr>
        <p:txBody>
          <a:bodyPr wrap="square">
            <a:spAutoFit/>
          </a:bodyPr>
          <a:lstStyle/>
          <a:p>
            <a:pPr algn="l"/>
            <a:r>
              <a:rPr sz="1050" b="0" i="0">
                <a:solidFill>
                  <a:srgbClr val="2C3E50"/>
                </a:solidFill>
              </a:rPr>
              <a:t>LiteViT
+ CORN (Phase 3C)</a:t>
            </a:r>
          </a:p>
        </p:txBody>
      </p:sp>
      <p:sp>
        <p:nvSpPr>
          <p:cNvPr id="91" name="TextBox 90"/>
          <p:cNvSpPr txBox="1"/>
          <p:nvPr/>
        </p:nvSpPr>
        <p:spPr>
          <a:xfrm>
            <a:off x="8503920" y="5806440"/>
            <a:ext cx="914400" cy="292608"/>
          </a:xfrm>
          <a:prstGeom prst="rect">
            <a:avLst/>
          </a:prstGeom>
          <a:noFill/>
        </p:spPr>
        <p:txBody>
          <a:bodyPr wrap="square">
            <a:spAutoFit/>
          </a:bodyPr>
          <a:lstStyle/>
          <a:p>
            <a:pPr algn="l"/>
            <a:r>
              <a:rPr sz="1100" b="0" i="0">
                <a:solidFill>
                  <a:srgbClr val="2C3E50"/>
                </a:solidFill>
              </a:rPr>
              <a:t>41.59%</a:t>
            </a:r>
          </a:p>
        </p:txBody>
      </p:sp>
      <p:sp>
        <p:nvSpPr>
          <p:cNvPr id="92" name="TextBox 91"/>
          <p:cNvSpPr txBox="1"/>
          <p:nvPr/>
        </p:nvSpPr>
        <p:spPr>
          <a:xfrm>
            <a:off x="9509760" y="5806440"/>
            <a:ext cx="914400" cy="292608"/>
          </a:xfrm>
          <a:prstGeom prst="rect">
            <a:avLst/>
          </a:prstGeom>
          <a:noFill/>
        </p:spPr>
        <p:txBody>
          <a:bodyPr wrap="square">
            <a:spAutoFit/>
          </a:bodyPr>
          <a:lstStyle/>
          <a:p>
            <a:pPr algn="l"/>
            <a:r>
              <a:rPr sz="1100" b="0" i="0">
                <a:solidFill>
                  <a:srgbClr val="2C3E50"/>
                </a:solidFill>
              </a:rPr>
              <a:t>41.03%</a:t>
            </a:r>
          </a:p>
        </p:txBody>
      </p:sp>
      <p:sp>
        <p:nvSpPr>
          <p:cNvPr id="93" name="TextBox 92"/>
          <p:cNvSpPr txBox="1"/>
          <p:nvPr/>
        </p:nvSpPr>
        <p:spPr>
          <a:xfrm>
            <a:off x="10561320" y="5806440"/>
            <a:ext cx="914400" cy="292608"/>
          </a:xfrm>
          <a:prstGeom prst="rect">
            <a:avLst/>
          </a:prstGeom>
          <a:noFill/>
        </p:spPr>
        <p:txBody>
          <a:bodyPr wrap="square">
            <a:spAutoFit/>
          </a:bodyPr>
          <a:lstStyle/>
          <a:p>
            <a:pPr algn="l"/>
            <a:r>
              <a:rPr sz="1100" b="0" i="0">
                <a:solidFill>
                  <a:srgbClr val="2C3E50"/>
                </a:solidFill>
              </a:rPr>
              <a:t>0.9829</a:t>
            </a:r>
          </a:p>
        </p:txBody>
      </p:sp>
      <p:sp>
        <p:nvSpPr>
          <p:cNvPr id="94" name="Rectangle 93"/>
          <p:cNvSpPr/>
          <p:nvPr/>
        </p:nvSpPr>
        <p:spPr>
          <a:xfrm>
            <a:off x="6172200" y="6419088"/>
            <a:ext cx="5577840" cy="109728"/>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6199632" y="6437376"/>
            <a:ext cx="5486400" cy="91440"/>
          </a:xfrm>
          <a:prstGeom prst="rect">
            <a:avLst/>
          </a:prstGeom>
          <a:noFill/>
        </p:spPr>
        <p:txBody>
          <a:bodyPr wrap="square">
            <a:spAutoFit/>
          </a:bodyPr>
          <a:lstStyle/>
          <a:p>
            <a:pPr algn="l"/>
            <a:r>
              <a:rPr sz="950" b="1" i="0">
                <a:solidFill>
                  <a:srgbClr val="FFFFFF"/>
                </a:solidFill>
              </a:rPr>
              <a:t>★ Best model: EfficientNetV2S + CORN  →  88.03% test accuracy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88952" cy="749808"/>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49808"/>
            <a:ext cx="12188952" cy="50292"/>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91440"/>
            <a:ext cx="11521440" cy="566928"/>
          </a:xfrm>
          <a:prstGeom prst="rect">
            <a:avLst/>
          </a:prstGeom>
          <a:noFill/>
        </p:spPr>
        <p:txBody>
          <a:bodyPr wrap="square">
            <a:spAutoFit/>
          </a:bodyPr>
          <a:lstStyle/>
          <a:p>
            <a:pPr algn="l"/>
            <a:r>
              <a:rPr sz="2600" b="1" i="0">
                <a:solidFill>
                  <a:srgbClr val="FFFFFF"/>
                </a:solidFill>
              </a:rPr>
              <a:t>Discussion</a:t>
            </a:r>
          </a:p>
        </p:txBody>
      </p:sp>
      <p:sp>
        <p:nvSpPr>
          <p:cNvPr id="5" name="Rectangle 4"/>
          <p:cNvSpPr/>
          <p:nvPr/>
        </p:nvSpPr>
        <p:spPr>
          <a:xfrm>
            <a:off x="274320" y="960120"/>
            <a:ext cx="5669280" cy="2578608"/>
          </a:xfrm>
          <a:prstGeom prst="rect">
            <a:avLst/>
          </a:prstGeom>
          <a:solidFill>
            <a:srgbClr val="E8F8F0"/>
          </a:solidFill>
          <a:ln w="6350">
            <a:solidFill>
              <a:srgbClr val="D5DB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960120"/>
            <a:ext cx="64008" cy="2578608"/>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960120"/>
            <a:ext cx="5669280" cy="64008"/>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051560"/>
            <a:ext cx="5303520" cy="411480"/>
          </a:xfrm>
          <a:prstGeom prst="rect">
            <a:avLst/>
          </a:prstGeom>
          <a:noFill/>
        </p:spPr>
        <p:txBody>
          <a:bodyPr wrap="square">
            <a:spAutoFit/>
          </a:bodyPr>
          <a:lstStyle/>
          <a:p>
            <a:pPr algn="l"/>
            <a:r>
              <a:rPr sz="1300" b="1" i="0">
                <a:solidFill>
                  <a:srgbClr val="27AE60"/>
                </a:solidFill>
              </a:rPr>
              <a:t>CORN Loss Significantly Improved Generalisation</a:t>
            </a:r>
          </a:p>
        </p:txBody>
      </p:sp>
      <p:sp>
        <p:nvSpPr>
          <p:cNvPr id="9" name="Rectangle 8"/>
          <p:cNvSpPr/>
          <p:nvPr/>
        </p:nvSpPr>
        <p:spPr>
          <a:xfrm>
            <a:off x="457200" y="1490472"/>
            <a:ext cx="5303520" cy="36576"/>
          </a:xfrm>
          <a:prstGeom prst="rect">
            <a:avLst/>
          </a:prstGeom>
          <a:solidFill>
            <a:srgbClr val="D5DB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1600200"/>
            <a:ext cx="5303520" cy="1828800"/>
          </a:xfrm>
          <a:prstGeom prst="rect">
            <a:avLst/>
          </a:prstGeom>
          <a:noFill/>
        </p:spPr>
        <p:txBody>
          <a:bodyPr wrap="square">
            <a:spAutoFit/>
          </a:bodyPr>
          <a:lstStyle/>
          <a:p>
            <a:pPr algn="l"/>
            <a:r>
              <a:rPr sz="1200" b="0" i="0">
                <a:solidFill>
                  <a:srgbClr val="2C3E50"/>
                </a:solidFill>
              </a:rPr>
              <a:t>Switching from cross-entropy (softmax) to CORN ordinal loss increased test accuracy from 77.78% to 88.03% (+10.25%). The ordinal structure forces the model to learn that Grade 2 is 'more infected' than Grade 1, which regularises predictions on unseen images.</a:t>
            </a:r>
          </a:p>
        </p:txBody>
      </p:sp>
      <p:sp>
        <p:nvSpPr>
          <p:cNvPr id="11" name="Rectangle 10"/>
          <p:cNvSpPr/>
          <p:nvPr/>
        </p:nvSpPr>
        <p:spPr>
          <a:xfrm>
            <a:off x="6263640" y="960120"/>
            <a:ext cx="5669280" cy="2578608"/>
          </a:xfrm>
          <a:prstGeom prst="rect">
            <a:avLst/>
          </a:prstGeom>
          <a:solidFill>
            <a:srgbClr val="EBF0F7"/>
          </a:solidFill>
          <a:ln w="6350">
            <a:solidFill>
              <a:srgbClr val="D5DB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63640" y="960120"/>
            <a:ext cx="64008" cy="2578608"/>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960120"/>
            <a:ext cx="5669280" cy="64008"/>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1051560"/>
            <a:ext cx="5303520" cy="411480"/>
          </a:xfrm>
          <a:prstGeom prst="rect">
            <a:avLst/>
          </a:prstGeom>
          <a:noFill/>
        </p:spPr>
        <p:txBody>
          <a:bodyPr wrap="square">
            <a:spAutoFit/>
          </a:bodyPr>
          <a:lstStyle/>
          <a:p>
            <a:pPr algn="l"/>
            <a:r>
              <a:rPr sz="1300" b="1" i="0">
                <a:solidFill>
                  <a:srgbClr val="1B3A5C"/>
                </a:solidFill>
              </a:rPr>
              <a:t>Diffusion Augmentation Did Not Help</a:t>
            </a:r>
          </a:p>
        </p:txBody>
      </p:sp>
      <p:sp>
        <p:nvSpPr>
          <p:cNvPr id="15" name="Rectangle 14"/>
          <p:cNvSpPr/>
          <p:nvPr/>
        </p:nvSpPr>
        <p:spPr>
          <a:xfrm>
            <a:off x="6446520" y="1490472"/>
            <a:ext cx="5303520" cy="36576"/>
          </a:xfrm>
          <a:prstGeom prst="rect">
            <a:avLst/>
          </a:prstGeom>
          <a:solidFill>
            <a:srgbClr val="D5DB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46520" y="1600200"/>
            <a:ext cx="5303520" cy="1828800"/>
          </a:xfrm>
          <a:prstGeom prst="rect">
            <a:avLst/>
          </a:prstGeom>
          <a:noFill/>
        </p:spPr>
        <p:txBody>
          <a:bodyPr wrap="square">
            <a:spAutoFit/>
          </a:bodyPr>
          <a:lstStyle/>
          <a:p>
            <a:pPr algn="l"/>
            <a:r>
              <a:rPr sz="1200" b="0" i="0">
                <a:solidFill>
                  <a:srgbClr val="2C3E50"/>
                </a:solidFill>
              </a:rPr>
              <a:t>DDPM synthetic images (64×64 upscaled to 224×224) slightly hurt performance (88.03% → 86.32%). The low resolution introduced blurry artefacts that acted as noise. Higher-resolution DDPM (256×256) is needed for meaningful improvement.</a:t>
            </a:r>
          </a:p>
        </p:txBody>
      </p:sp>
      <p:sp>
        <p:nvSpPr>
          <p:cNvPr id="17" name="Rectangle 16"/>
          <p:cNvSpPr/>
          <p:nvPr/>
        </p:nvSpPr>
        <p:spPr>
          <a:xfrm>
            <a:off x="274320" y="3749039"/>
            <a:ext cx="5669280" cy="2578608"/>
          </a:xfrm>
          <a:prstGeom prst="rect">
            <a:avLst/>
          </a:prstGeom>
          <a:solidFill>
            <a:srgbClr val="E8F8F0"/>
          </a:solidFill>
          <a:ln w="6350">
            <a:solidFill>
              <a:srgbClr val="D5DB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74320" y="3749039"/>
            <a:ext cx="64008" cy="2578608"/>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74320" y="3749039"/>
            <a:ext cx="5669280" cy="64008"/>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3840479"/>
            <a:ext cx="5303520" cy="411480"/>
          </a:xfrm>
          <a:prstGeom prst="rect">
            <a:avLst/>
          </a:prstGeom>
          <a:noFill/>
        </p:spPr>
        <p:txBody>
          <a:bodyPr wrap="square">
            <a:spAutoFit/>
          </a:bodyPr>
          <a:lstStyle/>
          <a:p>
            <a:pPr algn="l"/>
            <a:r>
              <a:rPr sz="1300" b="1" i="0">
                <a:solidFill>
                  <a:srgbClr val="27AE60"/>
                </a:solidFill>
              </a:rPr>
              <a:t>LiteViT Failed — Gradient Explosion</a:t>
            </a:r>
          </a:p>
        </p:txBody>
      </p:sp>
      <p:sp>
        <p:nvSpPr>
          <p:cNvPr id="21" name="Rectangle 20"/>
          <p:cNvSpPr/>
          <p:nvPr/>
        </p:nvSpPr>
        <p:spPr>
          <a:xfrm>
            <a:off x="457200" y="4279392"/>
            <a:ext cx="5303520" cy="36576"/>
          </a:xfrm>
          <a:prstGeom prst="rect">
            <a:avLst/>
          </a:prstGeom>
          <a:solidFill>
            <a:srgbClr val="D5DB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200" y="4389120"/>
            <a:ext cx="5303520" cy="1828800"/>
          </a:xfrm>
          <a:prstGeom prst="rect">
            <a:avLst/>
          </a:prstGeom>
          <a:noFill/>
        </p:spPr>
        <p:txBody>
          <a:bodyPr wrap="square">
            <a:spAutoFit/>
          </a:bodyPr>
          <a:lstStyle/>
          <a:p>
            <a:pPr algn="l"/>
            <a:r>
              <a:rPr sz="1200" b="0" i="0">
                <a:solidFill>
                  <a:srgbClr val="2C3E50"/>
                </a:solidFill>
              </a:rPr>
              <a:t>The lightweight ViT (LiteViT) collapsed to 41% accuracy due to vanishing/exploding gradients without proper initialisation and pre-training. Transformers require much larger datasets to outperform CNN transfer learning on small real-world datasets.</a:t>
            </a:r>
          </a:p>
        </p:txBody>
      </p:sp>
      <p:sp>
        <p:nvSpPr>
          <p:cNvPr id="23" name="Rectangle 22"/>
          <p:cNvSpPr/>
          <p:nvPr/>
        </p:nvSpPr>
        <p:spPr>
          <a:xfrm>
            <a:off x="6263640" y="3749039"/>
            <a:ext cx="5669280" cy="2578608"/>
          </a:xfrm>
          <a:prstGeom prst="rect">
            <a:avLst/>
          </a:prstGeom>
          <a:solidFill>
            <a:srgbClr val="EBF0F7"/>
          </a:solidFill>
          <a:ln w="6350">
            <a:solidFill>
              <a:srgbClr val="D5DB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63640" y="3749039"/>
            <a:ext cx="64008" cy="2578608"/>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63640" y="3749039"/>
            <a:ext cx="5669280" cy="64008"/>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46520" y="3840479"/>
            <a:ext cx="5303520" cy="411480"/>
          </a:xfrm>
          <a:prstGeom prst="rect">
            <a:avLst/>
          </a:prstGeom>
          <a:noFill/>
        </p:spPr>
        <p:txBody>
          <a:bodyPr wrap="square">
            <a:spAutoFit/>
          </a:bodyPr>
          <a:lstStyle/>
          <a:p>
            <a:pPr algn="l"/>
            <a:r>
              <a:rPr sz="1300" b="1" i="0">
                <a:solidFill>
                  <a:srgbClr val="1B3A5C"/>
                </a:solidFill>
              </a:rPr>
              <a:t>Single_Infected Class Achieved Perfect Score</a:t>
            </a:r>
          </a:p>
        </p:txBody>
      </p:sp>
      <p:sp>
        <p:nvSpPr>
          <p:cNvPr id="27" name="Rectangle 26"/>
          <p:cNvSpPr/>
          <p:nvPr/>
        </p:nvSpPr>
        <p:spPr>
          <a:xfrm>
            <a:off x="6446520" y="4279392"/>
            <a:ext cx="5303520" cy="36576"/>
          </a:xfrm>
          <a:prstGeom prst="rect">
            <a:avLst/>
          </a:prstGeom>
          <a:solidFill>
            <a:srgbClr val="D5DB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46520" y="4389120"/>
            <a:ext cx="5303520" cy="1828800"/>
          </a:xfrm>
          <a:prstGeom prst="rect">
            <a:avLst/>
          </a:prstGeom>
          <a:noFill/>
        </p:spPr>
        <p:txBody>
          <a:bodyPr wrap="square">
            <a:spAutoFit/>
          </a:bodyPr>
          <a:lstStyle/>
          <a:p>
            <a:pPr algn="l"/>
            <a:r>
              <a:rPr sz="1200" b="0" i="0">
                <a:solidFill>
                  <a:srgbClr val="2C3E50"/>
                </a:solidFill>
              </a:rPr>
              <a:t>100% precision and 95.65% recall on Single_Infected is a strong result. This class has the most distinct visual signatures (single-colour mold patches), which the CORN ordinal structure models well as the intermediate severity grade.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88952" cy="749808"/>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49808"/>
            <a:ext cx="12188952" cy="50292"/>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91440"/>
            <a:ext cx="11521440" cy="566928"/>
          </a:xfrm>
          <a:prstGeom prst="rect">
            <a:avLst/>
          </a:prstGeom>
          <a:noFill/>
        </p:spPr>
        <p:txBody>
          <a:bodyPr wrap="square">
            <a:spAutoFit/>
          </a:bodyPr>
          <a:lstStyle/>
          <a:p>
            <a:pPr algn="l"/>
            <a:r>
              <a:rPr sz="2600" b="1" i="0">
                <a:solidFill>
                  <a:srgbClr val="FFFFFF"/>
                </a:solidFill>
              </a:rPr>
              <a:t>Limitations</a:t>
            </a:r>
          </a:p>
        </p:txBody>
      </p:sp>
      <p:sp>
        <p:nvSpPr>
          <p:cNvPr id="5" name="Rectangle 4"/>
          <p:cNvSpPr/>
          <p:nvPr/>
        </p:nvSpPr>
        <p:spPr>
          <a:xfrm>
            <a:off x="274320" y="960120"/>
            <a:ext cx="5669280" cy="1719072"/>
          </a:xfrm>
          <a:prstGeom prst="rect">
            <a:avLst/>
          </a:prstGeom>
          <a:solidFill>
            <a:srgbClr val="EBF0F7"/>
          </a:solidFill>
          <a:ln w="6350">
            <a:solidFill>
              <a:srgbClr val="D5DB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960120"/>
            <a:ext cx="5669280" cy="54864"/>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960120"/>
            <a:ext cx="54864" cy="171907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84048" y="1143000"/>
            <a:ext cx="475488" cy="475488"/>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84048" y="1143000"/>
            <a:ext cx="475488" cy="475488"/>
          </a:xfrm>
          <a:prstGeom prst="rect">
            <a:avLst/>
          </a:prstGeom>
          <a:noFill/>
        </p:spPr>
        <p:txBody>
          <a:bodyPr wrap="square">
            <a:spAutoFit/>
          </a:bodyPr>
          <a:lstStyle/>
          <a:p>
            <a:pPr algn="ctr"/>
            <a:r>
              <a:rPr sz="1400" b="1" i="0">
                <a:solidFill>
                  <a:srgbClr val="FFFFFF"/>
                </a:solidFill>
              </a:rPr>
              <a:t>1</a:t>
            </a:r>
          </a:p>
        </p:txBody>
      </p:sp>
      <p:sp>
        <p:nvSpPr>
          <p:cNvPr id="10" name="TextBox 9"/>
          <p:cNvSpPr txBox="1"/>
          <p:nvPr/>
        </p:nvSpPr>
        <p:spPr>
          <a:xfrm>
            <a:off x="987552" y="1051560"/>
            <a:ext cx="4754880" cy="347472"/>
          </a:xfrm>
          <a:prstGeom prst="rect">
            <a:avLst/>
          </a:prstGeom>
          <a:noFill/>
        </p:spPr>
        <p:txBody>
          <a:bodyPr wrap="square">
            <a:spAutoFit/>
          </a:bodyPr>
          <a:lstStyle/>
          <a:p>
            <a:pPr algn="l"/>
            <a:r>
              <a:rPr sz="1300" b="1" i="0">
                <a:solidFill>
                  <a:srgbClr val="1B3A5C"/>
                </a:solidFill>
              </a:rPr>
              <a:t>Small Dataset</a:t>
            </a:r>
          </a:p>
        </p:txBody>
      </p:sp>
      <p:sp>
        <p:nvSpPr>
          <p:cNvPr id="11" name="TextBox 10"/>
          <p:cNvSpPr txBox="1"/>
          <p:nvPr/>
        </p:nvSpPr>
        <p:spPr>
          <a:xfrm>
            <a:off x="987552" y="1435608"/>
            <a:ext cx="4754880" cy="1170432"/>
          </a:xfrm>
          <a:prstGeom prst="rect">
            <a:avLst/>
          </a:prstGeom>
          <a:noFill/>
        </p:spPr>
        <p:txBody>
          <a:bodyPr wrap="square">
            <a:spAutoFit/>
          </a:bodyPr>
          <a:lstStyle/>
          <a:p>
            <a:pPr algn="l"/>
            <a:r>
              <a:rPr sz="1100" b="0" i="0">
                <a:solidFill>
                  <a:srgbClr val="2C3E50"/>
                </a:solidFill>
              </a:rPr>
              <a:t>Only 761 images from a single location (MDI Savar). Deep learning models typically require thousands of samples for robust generalisation. Performance on images from other farms or regions is untested.</a:t>
            </a:r>
          </a:p>
        </p:txBody>
      </p:sp>
      <p:sp>
        <p:nvSpPr>
          <p:cNvPr id="12" name="Rectangle 11"/>
          <p:cNvSpPr/>
          <p:nvPr/>
        </p:nvSpPr>
        <p:spPr>
          <a:xfrm>
            <a:off x="6400800" y="960120"/>
            <a:ext cx="5669280" cy="1719072"/>
          </a:xfrm>
          <a:prstGeom prst="rect">
            <a:avLst/>
          </a:prstGeom>
          <a:solidFill>
            <a:srgbClr val="EBF0F7"/>
          </a:solidFill>
          <a:ln w="6350">
            <a:solidFill>
              <a:srgbClr val="D5DB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400800" y="960120"/>
            <a:ext cx="5669280" cy="54864"/>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400800" y="960120"/>
            <a:ext cx="54864" cy="171907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510528" y="1143000"/>
            <a:ext cx="475488" cy="475488"/>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10528" y="1143000"/>
            <a:ext cx="475488" cy="475488"/>
          </a:xfrm>
          <a:prstGeom prst="rect">
            <a:avLst/>
          </a:prstGeom>
          <a:noFill/>
        </p:spPr>
        <p:txBody>
          <a:bodyPr wrap="square">
            <a:spAutoFit/>
          </a:bodyPr>
          <a:lstStyle/>
          <a:p>
            <a:pPr algn="ctr"/>
            <a:r>
              <a:rPr sz="1400" b="1" i="0">
                <a:solidFill>
                  <a:srgbClr val="FFFFFF"/>
                </a:solidFill>
              </a:rPr>
              <a:t>2</a:t>
            </a:r>
          </a:p>
        </p:txBody>
      </p:sp>
      <p:sp>
        <p:nvSpPr>
          <p:cNvPr id="17" name="TextBox 16"/>
          <p:cNvSpPr txBox="1"/>
          <p:nvPr/>
        </p:nvSpPr>
        <p:spPr>
          <a:xfrm>
            <a:off x="7114032" y="1051560"/>
            <a:ext cx="4754880" cy="347472"/>
          </a:xfrm>
          <a:prstGeom prst="rect">
            <a:avLst/>
          </a:prstGeom>
          <a:noFill/>
        </p:spPr>
        <p:txBody>
          <a:bodyPr wrap="square">
            <a:spAutoFit/>
          </a:bodyPr>
          <a:lstStyle/>
          <a:p>
            <a:pPr algn="l"/>
            <a:r>
              <a:rPr sz="1300" b="1" i="0">
                <a:solidFill>
                  <a:srgbClr val="1B3A5C"/>
                </a:solidFill>
              </a:rPr>
              <a:t>Single Farm Location</a:t>
            </a:r>
          </a:p>
        </p:txBody>
      </p:sp>
      <p:sp>
        <p:nvSpPr>
          <p:cNvPr id="18" name="TextBox 17"/>
          <p:cNvSpPr txBox="1"/>
          <p:nvPr/>
        </p:nvSpPr>
        <p:spPr>
          <a:xfrm>
            <a:off x="7114032" y="1435608"/>
            <a:ext cx="4754880" cy="1170432"/>
          </a:xfrm>
          <a:prstGeom prst="rect">
            <a:avLst/>
          </a:prstGeom>
          <a:noFill/>
        </p:spPr>
        <p:txBody>
          <a:bodyPr wrap="square">
            <a:spAutoFit/>
          </a:bodyPr>
          <a:lstStyle/>
          <a:p>
            <a:pPr algn="l"/>
            <a:r>
              <a:rPr sz="1100" b="0" i="0">
                <a:solidFill>
                  <a:srgbClr val="2C3E50"/>
                </a:solidFill>
              </a:rPr>
              <a:t>All images captured at one facility with similar lighting, equipment, and substrate. The model may not generalise to farms with different camera setups or substrate compositions.</a:t>
            </a:r>
          </a:p>
        </p:txBody>
      </p:sp>
      <p:sp>
        <p:nvSpPr>
          <p:cNvPr id="19" name="Rectangle 18"/>
          <p:cNvSpPr/>
          <p:nvPr/>
        </p:nvSpPr>
        <p:spPr>
          <a:xfrm>
            <a:off x="274320" y="2834639"/>
            <a:ext cx="5669280" cy="1719072"/>
          </a:xfrm>
          <a:prstGeom prst="rect">
            <a:avLst/>
          </a:prstGeom>
          <a:solidFill>
            <a:srgbClr val="EBF0F7"/>
          </a:solidFill>
          <a:ln w="6350">
            <a:solidFill>
              <a:srgbClr val="D5DB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74320" y="2834639"/>
            <a:ext cx="5669280" cy="54864"/>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74320" y="2834639"/>
            <a:ext cx="54864" cy="171907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84048" y="3017520"/>
            <a:ext cx="475488" cy="475488"/>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84048" y="3017520"/>
            <a:ext cx="475488" cy="475488"/>
          </a:xfrm>
          <a:prstGeom prst="rect">
            <a:avLst/>
          </a:prstGeom>
          <a:noFill/>
        </p:spPr>
        <p:txBody>
          <a:bodyPr wrap="square">
            <a:spAutoFit/>
          </a:bodyPr>
          <a:lstStyle/>
          <a:p>
            <a:pPr algn="ctr"/>
            <a:r>
              <a:rPr sz="1400" b="1" i="0">
                <a:solidFill>
                  <a:srgbClr val="FFFFFF"/>
                </a:solidFill>
              </a:rPr>
              <a:t>3</a:t>
            </a:r>
          </a:p>
        </p:txBody>
      </p:sp>
      <p:sp>
        <p:nvSpPr>
          <p:cNvPr id="24" name="TextBox 23"/>
          <p:cNvSpPr txBox="1"/>
          <p:nvPr/>
        </p:nvSpPr>
        <p:spPr>
          <a:xfrm>
            <a:off x="987552" y="2926079"/>
            <a:ext cx="4754880" cy="347472"/>
          </a:xfrm>
          <a:prstGeom prst="rect">
            <a:avLst/>
          </a:prstGeom>
          <a:noFill/>
        </p:spPr>
        <p:txBody>
          <a:bodyPr wrap="square">
            <a:spAutoFit/>
          </a:bodyPr>
          <a:lstStyle/>
          <a:p>
            <a:pPr algn="l"/>
            <a:r>
              <a:rPr sz="1300" b="1" i="0">
                <a:solidFill>
                  <a:srgbClr val="1B3A5C"/>
                </a:solidFill>
              </a:rPr>
              <a:t>Diffusion Resolution</a:t>
            </a:r>
          </a:p>
        </p:txBody>
      </p:sp>
      <p:sp>
        <p:nvSpPr>
          <p:cNvPr id="25" name="TextBox 24"/>
          <p:cNvSpPr txBox="1"/>
          <p:nvPr/>
        </p:nvSpPr>
        <p:spPr>
          <a:xfrm>
            <a:off x="987552" y="3310127"/>
            <a:ext cx="4754880" cy="1170432"/>
          </a:xfrm>
          <a:prstGeom prst="rect">
            <a:avLst/>
          </a:prstGeom>
          <a:noFill/>
        </p:spPr>
        <p:txBody>
          <a:bodyPr wrap="square">
            <a:spAutoFit/>
          </a:bodyPr>
          <a:lstStyle/>
          <a:p>
            <a:pPr algn="l"/>
            <a:r>
              <a:rPr sz="1100" b="0" i="0">
                <a:solidFill>
                  <a:srgbClr val="2C3E50"/>
                </a:solidFill>
              </a:rPr>
              <a:t>DDPM was trained at 64×64 and upscaled to 224×224. The resulting synthetic images are blurry and may not represent real disease textures accurately, reducing their utility as training data.</a:t>
            </a:r>
          </a:p>
        </p:txBody>
      </p:sp>
      <p:sp>
        <p:nvSpPr>
          <p:cNvPr id="26" name="Rectangle 25"/>
          <p:cNvSpPr/>
          <p:nvPr/>
        </p:nvSpPr>
        <p:spPr>
          <a:xfrm>
            <a:off x="6400800" y="2834639"/>
            <a:ext cx="5669280" cy="1719072"/>
          </a:xfrm>
          <a:prstGeom prst="rect">
            <a:avLst/>
          </a:prstGeom>
          <a:solidFill>
            <a:srgbClr val="EBF0F7"/>
          </a:solidFill>
          <a:ln w="6350">
            <a:solidFill>
              <a:srgbClr val="D5DB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400800" y="2834639"/>
            <a:ext cx="5669280" cy="54864"/>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400800" y="2834639"/>
            <a:ext cx="54864" cy="171907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510528" y="3017520"/>
            <a:ext cx="475488" cy="475488"/>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10528" y="3017520"/>
            <a:ext cx="475488" cy="475488"/>
          </a:xfrm>
          <a:prstGeom prst="rect">
            <a:avLst/>
          </a:prstGeom>
          <a:noFill/>
        </p:spPr>
        <p:txBody>
          <a:bodyPr wrap="square">
            <a:spAutoFit/>
          </a:bodyPr>
          <a:lstStyle/>
          <a:p>
            <a:pPr algn="ctr"/>
            <a:r>
              <a:rPr sz="1400" b="1" i="0">
                <a:solidFill>
                  <a:srgbClr val="FFFFFF"/>
                </a:solidFill>
              </a:rPr>
              <a:t>4</a:t>
            </a:r>
          </a:p>
        </p:txBody>
      </p:sp>
      <p:sp>
        <p:nvSpPr>
          <p:cNvPr id="31" name="TextBox 30"/>
          <p:cNvSpPr txBox="1"/>
          <p:nvPr/>
        </p:nvSpPr>
        <p:spPr>
          <a:xfrm>
            <a:off x="7114032" y="2926079"/>
            <a:ext cx="4754880" cy="347472"/>
          </a:xfrm>
          <a:prstGeom prst="rect">
            <a:avLst/>
          </a:prstGeom>
          <a:noFill/>
        </p:spPr>
        <p:txBody>
          <a:bodyPr wrap="square">
            <a:spAutoFit/>
          </a:bodyPr>
          <a:lstStyle/>
          <a:p>
            <a:pPr algn="l"/>
            <a:r>
              <a:rPr sz="1300" b="1" i="0">
                <a:solidFill>
                  <a:srgbClr val="1B3A5C"/>
                </a:solidFill>
              </a:rPr>
              <a:t>LiteViT Architecture</a:t>
            </a:r>
          </a:p>
        </p:txBody>
      </p:sp>
      <p:sp>
        <p:nvSpPr>
          <p:cNvPr id="32" name="TextBox 31"/>
          <p:cNvSpPr txBox="1"/>
          <p:nvPr/>
        </p:nvSpPr>
        <p:spPr>
          <a:xfrm>
            <a:off x="7114032" y="3310127"/>
            <a:ext cx="4754880" cy="1170432"/>
          </a:xfrm>
          <a:prstGeom prst="rect">
            <a:avLst/>
          </a:prstGeom>
          <a:noFill/>
        </p:spPr>
        <p:txBody>
          <a:bodyPr wrap="square">
            <a:spAutoFit/>
          </a:bodyPr>
          <a:lstStyle/>
          <a:p>
            <a:pPr algn="l"/>
            <a:r>
              <a:rPr sz="1100" b="0" i="0">
                <a:solidFill>
                  <a:srgbClr val="2C3E50"/>
                </a:solidFill>
              </a:rPr>
              <a:t>The ViT model trained from scratch without pre-training failed entirely (41% accuracy). A proper ViT-B/16 with HuggingFace weights was not installable in the current environment.</a:t>
            </a:r>
          </a:p>
        </p:txBody>
      </p:sp>
      <p:sp>
        <p:nvSpPr>
          <p:cNvPr id="33" name="Rectangle 32"/>
          <p:cNvSpPr/>
          <p:nvPr/>
        </p:nvSpPr>
        <p:spPr>
          <a:xfrm>
            <a:off x="274320" y="4709159"/>
            <a:ext cx="5669280" cy="1719072"/>
          </a:xfrm>
          <a:prstGeom prst="rect">
            <a:avLst/>
          </a:prstGeom>
          <a:solidFill>
            <a:srgbClr val="EBF0F7"/>
          </a:solidFill>
          <a:ln w="6350">
            <a:solidFill>
              <a:srgbClr val="D5DB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274320" y="4709159"/>
            <a:ext cx="5669280" cy="54864"/>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274320" y="4709159"/>
            <a:ext cx="54864" cy="171907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84048" y="4892040"/>
            <a:ext cx="475488" cy="475488"/>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84048" y="4892040"/>
            <a:ext cx="475488" cy="475488"/>
          </a:xfrm>
          <a:prstGeom prst="rect">
            <a:avLst/>
          </a:prstGeom>
          <a:noFill/>
        </p:spPr>
        <p:txBody>
          <a:bodyPr wrap="square">
            <a:spAutoFit/>
          </a:bodyPr>
          <a:lstStyle/>
          <a:p>
            <a:pPr algn="ctr"/>
            <a:r>
              <a:rPr sz="1400" b="1" i="0">
                <a:solidFill>
                  <a:srgbClr val="FFFFFF"/>
                </a:solidFill>
              </a:rPr>
              <a:t>5</a:t>
            </a:r>
          </a:p>
        </p:txBody>
      </p:sp>
      <p:sp>
        <p:nvSpPr>
          <p:cNvPr id="38" name="TextBox 37"/>
          <p:cNvSpPr txBox="1"/>
          <p:nvPr/>
        </p:nvSpPr>
        <p:spPr>
          <a:xfrm>
            <a:off x="987552" y="4800599"/>
            <a:ext cx="4754880" cy="347472"/>
          </a:xfrm>
          <a:prstGeom prst="rect">
            <a:avLst/>
          </a:prstGeom>
          <a:noFill/>
        </p:spPr>
        <p:txBody>
          <a:bodyPr wrap="square">
            <a:spAutoFit/>
          </a:bodyPr>
          <a:lstStyle/>
          <a:p>
            <a:pPr algn="l"/>
            <a:r>
              <a:rPr sz="1300" b="1" i="0">
                <a:solidFill>
                  <a:srgbClr val="1B3A5C"/>
                </a:solidFill>
              </a:rPr>
              <a:t>Grad-CAM Reliability</a:t>
            </a:r>
          </a:p>
        </p:txBody>
      </p:sp>
      <p:sp>
        <p:nvSpPr>
          <p:cNvPr id="39" name="TextBox 38"/>
          <p:cNvSpPr txBox="1"/>
          <p:nvPr/>
        </p:nvSpPr>
        <p:spPr>
          <a:xfrm>
            <a:off x="987552" y="5184648"/>
            <a:ext cx="4754880" cy="1170432"/>
          </a:xfrm>
          <a:prstGeom prst="rect">
            <a:avLst/>
          </a:prstGeom>
          <a:noFill/>
        </p:spPr>
        <p:txBody>
          <a:bodyPr wrap="square">
            <a:spAutoFit/>
          </a:bodyPr>
          <a:lstStyle/>
          <a:p>
            <a:pPr algn="l"/>
            <a:r>
              <a:rPr sz="1100" b="0" i="0">
                <a:solidFill>
                  <a:srgbClr val="2C3E50"/>
                </a:solidFill>
              </a:rPr>
              <a:t>Due to the Phase 3C model's internal rescaling layer, standard Grad-CAM requires graph tracing workarounds. A saliency fallback is used, which is less precise than true class-activation mapping.</a:t>
            </a:r>
          </a:p>
        </p:txBody>
      </p:sp>
      <p:sp>
        <p:nvSpPr>
          <p:cNvPr id="40" name="Rectangle 39"/>
          <p:cNvSpPr/>
          <p:nvPr/>
        </p:nvSpPr>
        <p:spPr>
          <a:xfrm>
            <a:off x="6400800" y="4709159"/>
            <a:ext cx="5669280" cy="1719072"/>
          </a:xfrm>
          <a:prstGeom prst="rect">
            <a:avLst/>
          </a:prstGeom>
          <a:solidFill>
            <a:srgbClr val="EBF0F7"/>
          </a:solidFill>
          <a:ln w="6350">
            <a:solidFill>
              <a:srgbClr val="D5DB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400800" y="4709159"/>
            <a:ext cx="5669280" cy="54864"/>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400800" y="4709159"/>
            <a:ext cx="54864" cy="171907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510528" y="4892040"/>
            <a:ext cx="475488" cy="475488"/>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510528" y="4892040"/>
            <a:ext cx="475488" cy="475488"/>
          </a:xfrm>
          <a:prstGeom prst="rect">
            <a:avLst/>
          </a:prstGeom>
          <a:noFill/>
        </p:spPr>
        <p:txBody>
          <a:bodyPr wrap="square">
            <a:spAutoFit/>
          </a:bodyPr>
          <a:lstStyle/>
          <a:p>
            <a:pPr algn="ctr"/>
            <a:r>
              <a:rPr sz="1400" b="1" i="0">
                <a:solidFill>
                  <a:srgbClr val="FFFFFF"/>
                </a:solidFill>
              </a:rPr>
              <a:t>6</a:t>
            </a:r>
          </a:p>
        </p:txBody>
      </p:sp>
      <p:sp>
        <p:nvSpPr>
          <p:cNvPr id="45" name="TextBox 44"/>
          <p:cNvSpPr txBox="1"/>
          <p:nvPr/>
        </p:nvSpPr>
        <p:spPr>
          <a:xfrm>
            <a:off x="7114032" y="4800599"/>
            <a:ext cx="4754880" cy="347472"/>
          </a:xfrm>
          <a:prstGeom prst="rect">
            <a:avLst/>
          </a:prstGeom>
          <a:noFill/>
        </p:spPr>
        <p:txBody>
          <a:bodyPr wrap="square">
            <a:spAutoFit/>
          </a:bodyPr>
          <a:lstStyle/>
          <a:p>
            <a:pPr algn="l"/>
            <a:r>
              <a:rPr sz="1300" b="1" i="0">
                <a:solidFill>
                  <a:srgbClr val="1B3A5C"/>
                </a:solidFill>
              </a:rPr>
              <a:t>RAG Knowledge Coverage</a:t>
            </a:r>
          </a:p>
        </p:txBody>
      </p:sp>
      <p:sp>
        <p:nvSpPr>
          <p:cNvPr id="46" name="TextBox 45"/>
          <p:cNvSpPr txBox="1"/>
          <p:nvPr/>
        </p:nvSpPr>
        <p:spPr>
          <a:xfrm>
            <a:off x="7114032" y="5184648"/>
            <a:ext cx="4754880" cy="1170432"/>
          </a:xfrm>
          <a:prstGeom prst="rect">
            <a:avLst/>
          </a:prstGeom>
          <a:noFill/>
        </p:spPr>
        <p:txBody>
          <a:bodyPr wrap="square">
            <a:spAutoFit/>
          </a:bodyPr>
          <a:lstStyle/>
          <a:p>
            <a:pPr algn="l"/>
            <a:r>
              <a:rPr sz="1100" b="0" i="0">
                <a:solidFill>
                  <a:srgbClr val="2C3E50"/>
                </a:solidFill>
              </a:rPr>
              <a:t>The knowledge base is scraped from public web sources. Some specialised disease protocols for Bangladesh's specific oyster mushroom varieties may not be well represented.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88952" cy="749808"/>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49808"/>
            <a:ext cx="12188952" cy="50292"/>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91440"/>
            <a:ext cx="11521440" cy="566928"/>
          </a:xfrm>
          <a:prstGeom prst="rect">
            <a:avLst/>
          </a:prstGeom>
          <a:noFill/>
        </p:spPr>
        <p:txBody>
          <a:bodyPr wrap="square">
            <a:spAutoFit/>
          </a:bodyPr>
          <a:lstStyle/>
          <a:p>
            <a:pPr algn="l"/>
            <a:r>
              <a:rPr sz="2600" b="1" i="0">
                <a:solidFill>
                  <a:srgbClr val="FFFFFF"/>
                </a:solidFill>
              </a:rPr>
              <a:t>Future Work</a:t>
            </a:r>
          </a:p>
        </p:txBody>
      </p:sp>
      <p:sp>
        <p:nvSpPr>
          <p:cNvPr id="5" name="Rectangle 4"/>
          <p:cNvSpPr/>
          <p:nvPr/>
        </p:nvSpPr>
        <p:spPr>
          <a:xfrm>
            <a:off x="274320" y="960120"/>
            <a:ext cx="5669280" cy="1719072"/>
          </a:xfrm>
          <a:prstGeom prst="rect">
            <a:avLst/>
          </a:prstGeom>
          <a:solidFill>
            <a:srgbClr val="E8F8F0"/>
          </a:solidFill>
          <a:ln w="6350">
            <a:solidFill>
              <a:srgbClr val="D5DB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960120"/>
            <a:ext cx="64008" cy="1719072"/>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84048" y="1051560"/>
            <a:ext cx="5394960" cy="347472"/>
          </a:xfrm>
          <a:prstGeom prst="rect">
            <a:avLst/>
          </a:prstGeom>
          <a:noFill/>
        </p:spPr>
        <p:txBody>
          <a:bodyPr wrap="square">
            <a:spAutoFit/>
          </a:bodyPr>
          <a:lstStyle/>
          <a:p>
            <a:pPr algn="l"/>
            <a:r>
              <a:rPr sz="1300" b="1" i="0">
                <a:solidFill>
                  <a:srgbClr val="27AE60"/>
                </a:solidFill>
              </a:rPr>
              <a:t>  1.  Larger &amp; Diverse Dataset</a:t>
            </a:r>
          </a:p>
        </p:txBody>
      </p:sp>
      <p:sp>
        <p:nvSpPr>
          <p:cNvPr id="8" name="Rectangle 7"/>
          <p:cNvSpPr/>
          <p:nvPr/>
        </p:nvSpPr>
        <p:spPr>
          <a:xfrm>
            <a:off x="384048" y="1435608"/>
            <a:ext cx="5394960" cy="36576"/>
          </a:xfrm>
          <a:prstGeom prst="rect">
            <a:avLst/>
          </a:prstGeom>
          <a:solidFill>
            <a:srgbClr val="D5DB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84048" y="1527048"/>
            <a:ext cx="5394960" cy="1078992"/>
          </a:xfrm>
          <a:prstGeom prst="rect">
            <a:avLst/>
          </a:prstGeom>
          <a:noFill/>
        </p:spPr>
        <p:txBody>
          <a:bodyPr wrap="square">
            <a:spAutoFit/>
          </a:bodyPr>
          <a:lstStyle/>
          <a:p>
            <a:pPr algn="l"/>
            <a:r>
              <a:rPr sz="1150" b="0" i="0">
                <a:solidFill>
                  <a:srgbClr val="2C3E50"/>
                </a:solidFill>
              </a:rPr>
              <a:t>Collect 5,000+ images from multiple farms across Bangladesh. Include seasonal variation, different substrate types, and multiple camera setups to build a robust, generalisable model.</a:t>
            </a:r>
          </a:p>
        </p:txBody>
      </p:sp>
      <p:sp>
        <p:nvSpPr>
          <p:cNvPr id="10" name="Rectangle 9"/>
          <p:cNvSpPr/>
          <p:nvPr/>
        </p:nvSpPr>
        <p:spPr>
          <a:xfrm>
            <a:off x="6263640" y="960120"/>
            <a:ext cx="5669280" cy="1719072"/>
          </a:xfrm>
          <a:prstGeom prst="rect">
            <a:avLst/>
          </a:prstGeom>
          <a:solidFill>
            <a:srgbClr val="EBF0F7"/>
          </a:solidFill>
          <a:ln w="6350">
            <a:solidFill>
              <a:srgbClr val="D5DB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63640" y="960120"/>
            <a:ext cx="64008" cy="171907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73368" y="1051560"/>
            <a:ext cx="5394960" cy="347472"/>
          </a:xfrm>
          <a:prstGeom prst="rect">
            <a:avLst/>
          </a:prstGeom>
          <a:noFill/>
        </p:spPr>
        <p:txBody>
          <a:bodyPr wrap="square">
            <a:spAutoFit/>
          </a:bodyPr>
          <a:lstStyle/>
          <a:p>
            <a:pPr algn="l"/>
            <a:r>
              <a:rPr sz="1300" b="1" i="0">
                <a:solidFill>
                  <a:srgbClr val="1B3A5C"/>
                </a:solidFill>
              </a:rPr>
              <a:t>  2.  High-Resolution Diffusion (256×256)</a:t>
            </a:r>
          </a:p>
        </p:txBody>
      </p:sp>
      <p:sp>
        <p:nvSpPr>
          <p:cNvPr id="13" name="Rectangle 12"/>
          <p:cNvSpPr/>
          <p:nvPr/>
        </p:nvSpPr>
        <p:spPr>
          <a:xfrm>
            <a:off x="6373368" y="1435608"/>
            <a:ext cx="5394960" cy="36576"/>
          </a:xfrm>
          <a:prstGeom prst="rect">
            <a:avLst/>
          </a:prstGeom>
          <a:solidFill>
            <a:srgbClr val="D5DB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73368" y="1527048"/>
            <a:ext cx="5394960" cy="1078992"/>
          </a:xfrm>
          <a:prstGeom prst="rect">
            <a:avLst/>
          </a:prstGeom>
          <a:noFill/>
        </p:spPr>
        <p:txBody>
          <a:bodyPr wrap="square">
            <a:spAutoFit/>
          </a:bodyPr>
          <a:lstStyle/>
          <a:p>
            <a:pPr algn="l"/>
            <a:r>
              <a:rPr sz="1150" b="0" i="0">
                <a:solidFill>
                  <a:srgbClr val="2C3E50"/>
                </a:solidFill>
              </a:rPr>
              <a:t>Retrain DDPM at 256×256 or use Stable Diffusion fine-tuned on mushroom disease images. High-resolution synthetic data is expected to meaningfully augment training.</a:t>
            </a:r>
          </a:p>
        </p:txBody>
      </p:sp>
      <p:sp>
        <p:nvSpPr>
          <p:cNvPr id="15" name="Rectangle 14"/>
          <p:cNvSpPr/>
          <p:nvPr/>
        </p:nvSpPr>
        <p:spPr>
          <a:xfrm>
            <a:off x="274320" y="2834639"/>
            <a:ext cx="5669280" cy="1719072"/>
          </a:xfrm>
          <a:prstGeom prst="rect">
            <a:avLst/>
          </a:prstGeom>
          <a:solidFill>
            <a:srgbClr val="E8F8F0"/>
          </a:solidFill>
          <a:ln w="6350">
            <a:solidFill>
              <a:srgbClr val="D5DB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74320" y="2834639"/>
            <a:ext cx="64008" cy="1719072"/>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84048" y="2926079"/>
            <a:ext cx="5394960" cy="347472"/>
          </a:xfrm>
          <a:prstGeom prst="rect">
            <a:avLst/>
          </a:prstGeom>
          <a:noFill/>
        </p:spPr>
        <p:txBody>
          <a:bodyPr wrap="square">
            <a:spAutoFit/>
          </a:bodyPr>
          <a:lstStyle/>
          <a:p>
            <a:pPr algn="l"/>
            <a:r>
              <a:rPr sz="1300" b="1" i="0">
                <a:solidFill>
                  <a:srgbClr val="27AE60"/>
                </a:solidFill>
              </a:rPr>
              <a:t>  3.  ViT with Pre-trained Weights</a:t>
            </a:r>
          </a:p>
        </p:txBody>
      </p:sp>
      <p:sp>
        <p:nvSpPr>
          <p:cNvPr id="18" name="Rectangle 17"/>
          <p:cNvSpPr/>
          <p:nvPr/>
        </p:nvSpPr>
        <p:spPr>
          <a:xfrm>
            <a:off x="384048" y="3310127"/>
            <a:ext cx="5394960" cy="36576"/>
          </a:xfrm>
          <a:prstGeom prst="rect">
            <a:avLst/>
          </a:prstGeom>
          <a:solidFill>
            <a:srgbClr val="D5DB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84048" y="3401568"/>
            <a:ext cx="5394960" cy="1078992"/>
          </a:xfrm>
          <a:prstGeom prst="rect">
            <a:avLst/>
          </a:prstGeom>
          <a:noFill/>
        </p:spPr>
        <p:txBody>
          <a:bodyPr wrap="square">
            <a:spAutoFit/>
          </a:bodyPr>
          <a:lstStyle/>
          <a:p>
            <a:pPr algn="l"/>
            <a:r>
              <a:rPr sz="1150" b="0" i="0">
                <a:solidFill>
                  <a:srgbClr val="2C3E50"/>
                </a:solidFill>
              </a:rPr>
              <a:t>Integrate ViT-B/16 (HuggingFace) properly via PyTorch backend and build a dual-branch EfficientNetV2S + ViT fusion model with shared CORN head.</a:t>
            </a:r>
          </a:p>
        </p:txBody>
      </p:sp>
      <p:sp>
        <p:nvSpPr>
          <p:cNvPr id="20" name="Rectangle 19"/>
          <p:cNvSpPr/>
          <p:nvPr/>
        </p:nvSpPr>
        <p:spPr>
          <a:xfrm>
            <a:off x="6263640" y="2834639"/>
            <a:ext cx="5669280" cy="1719072"/>
          </a:xfrm>
          <a:prstGeom prst="rect">
            <a:avLst/>
          </a:prstGeom>
          <a:solidFill>
            <a:srgbClr val="EBF0F7"/>
          </a:solidFill>
          <a:ln w="6350">
            <a:solidFill>
              <a:srgbClr val="D5DB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63640" y="2834639"/>
            <a:ext cx="64008" cy="171907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73368" y="2926079"/>
            <a:ext cx="5394960" cy="347472"/>
          </a:xfrm>
          <a:prstGeom prst="rect">
            <a:avLst/>
          </a:prstGeom>
          <a:noFill/>
        </p:spPr>
        <p:txBody>
          <a:bodyPr wrap="square">
            <a:spAutoFit/>
          </a:bodyPr>
          <a:lstStyle/>
          <a:p>
            <a:pPr algn="l"/>
            <a:r>
              <a:rPr sz="1300" b="1" i="0">
                <a:solidFill>
                  <a:srgbClr val="1B3A5C"/>
                </a:solidFill>
              </a:rPr>
              <a:t>  4.  Mobile App Deployment</a:t>
            </a:r>
          </a:p>
        </p:txBody>
      </p:sp>
      <p:sp>
        <p:nvSpPr>
          <p:cNvPr id="23" name="Rectangle 22"/>
          <p:cNvSpPr/>
          <p:nvPr/>
        </p:nvSpPr>
        <p:spPr>
          <a:xfrm>
            <a:off x="6373368" y="3310127"/>
            <a:ext cx="5394960" cy="36576"/>
          </a:xfrm>
          <a:prstGeom prst="rect">
            <a:avLst/>
          </a:prstGeom>
          <a:solidFill>
            <a:srgbClr val="D5DB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73368" y="3401568"/>
            <a:ext cx="5394960" cy="1078992"/>
          </a:xfrm>
          <a:prstGeom prst="rect">
            <a:avLst/>
          </a:prstGeom>
          <a:noFill/>
        </p:spPr>
        <p:txBody>
          <a:bodyPr wrap="square">
            <a:spAutoFit/>
          </a:bodyPr>
          <a:lstStyle/>
          <a:p>
            <a:pPr algn="l"/>
            <a:r>
              <a:rPr sz="1150" b="0" i="0">
                <a:solidFill>
                  <a:srgbClr val="2C3E50"/>
                </a:solidFill>
              </a:rPr>
              <a:t>Convert the model to TensorFlow Lite (INT8 quantised) and deploy a mobile app so farmers can classify disease directly from smartphone photos in the field.</a:t>
            </a:r>
          </a:p>
        </p:txBody>
      </p:sp>
      <p:sp>
        <p:nvSpPr>
          <p:cNvPr id="25" name="Rectangle 24"/>
          <p:cNvSpPr/>
          <p:nvPr/>
        </p:nvSpPr>
        <p:spPr>
          <a:xfrm>
            <a:off x="274320" y="4709159"/>
            <a:ext cx="5669280" cy="1719072"/>
          </a:xfrm>
          <a:prstGeom prst="rect">
            <a:avLst/>
          </a:prstGeom>
          <a:solidFill>
            <a:srgbClr val="E8F8F0"/>
          </a:solidFill>
          <a:ln w="6350">
            <a:solidFill>
              <a:srgbClr val="D5DB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74320" y="4709159"/>
            <a:ext cx="64008" cy="1719072"/>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84048" y="4800599"/>
            <a:ext cx="5394960" cy="347472"/>
          </a:xfrm>
          <a:prstGeom prst="rect">
            <a:avLst/>
          </a:prstGeom>
          <a:noFill/>
        </p:spPr>
        <p:txBody>
          <a:bodyPr wrap="square">
            <a:spAutoFit/>
          </a:bodyPr>
          <a:lstStyle/>
          <a:p>
            <a:pPr algn="l"/>
            <a:r>
              <a:rPr sz="1300" b="1" i="0">
                <a:solidFill>
                  <a:srgbClr val="27AE60"/>
                </a:solidFill>
              </a:rPr>
              <a:t>  5.  Automated Early Warning System</a:t>
            </a:r>
          </a:p>
        </p:txBody>
      </p:sp>
      <p:sp>
        <p:nvSpPr>
          <p:cNvPr id="28" name="Rectangle 27"/>
          <p:cNvSpPr/>
          <p:nvPr/>
        </p:nvSpPr>
        <p:spPr>
          <a:xfrm>
            <a:off x="384048" y="5184648"/>
            <a:ext cx="5394960" cy="36576"/>
          </a:xfrm>
          <a:prstGeom prst="rect">
            <a:avLst/>
          </a:prstGeom>
          <a:solidFill>
            <a:srgbClr val="D5DB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84048" y="5276088"/>
            <a:ext cx="5394960" cy="1078992"/>
          </a:xfrm>
          <a:prstGeom prst="rect">
            <a:avLst/>
          </a:prstGeom>
          <a:noFill/>
        </p:spPr>
        <p:txBody>
          <a:bodyPr wrap="square">
            <a:spAutoFit/>
          </a:bodyPr>
          <a:lstStyle/>
          <a:p>
            <a:pPr algn="l"/>
            <a:r>
              <a:rPr sz="1150" b="0" i="0">
                <a:solidFill>
                  <a:srgbClr val="2C3E50"/>
                </a:solidFill>
              </a:rPr>
              <a:t>Install cameras in growing rooms for continuous monitoring. Alert farmers via SMS/app when Grade 1 disease is first detected, enabling intervention before escalation to Grade 2.</a:t>
            </a:r>
          </a:p>
        </p:txBody>
      </p:sp>
      <p:sp>
        <p:nvSpPr>
          <p:cNvPr id="30" name="Rectangle 29"/>
          <p:cNvSpPr/>
          <p:nvPr/>
        </p:nvSpPr>
        <p:spPr>
          <a:xfrm>
            <a:off x="6263640" y="4709159"/>
            <a:ext cx="5669280" cy="1719072"/>
          </a:xfrm>
          <a:prstGeom prst="rect">
            <a:avLst/>
          </a:prstGeom>
          <a:solidFill>
            <a:srgbClr val="EBF0F7"/>
          </a:solidFill>
          <a:ln w="6350">
            <a:solidFill>
              <a:srgbClr val="D5DB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263640" y="4709159"/>
            <a:ext cx="64008" cy="171907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373368" y="4800599"/>
            <a:ext cx="5394960" cy="347472"/>
          </a:xfrm>
          <a:prstGeom prst="rect">
            <a:avLst/>
          </a:prstGeom>
          <a:noFill/>
        </p:spPr>
        <p:txBody>
          <a:bodyPr wrap="square">
            <a:spAutoFit/>
          </a:bodyPr>
          <a:lstStyle/>
          <a:p>
            <a:pPr algn="l"/>
            <a:r>
              <a:rPr sz="1300" b="1" i="0">
                <a:solidFill>
                  <a:srgbClr val="1B3A5C"/>
                </a:solidFill>
              </a:rPr>
              <a:t>  6.  Clinical Validation Study</a:t>
            </a:r>
          </a:p>
        </p:txBody>
      </p:sp>
      <p:sp>
        <p:nvSpPr>
          <p:cNvPr id="33" name="Rectangle 32"/>
          <p:cNvSpPr/>
          <p:nvPr/>
        </p:nvSpPr>
        <p:spPr>
          <a:xfrm>
            <a:off x="6373368" y="5184648"/>
            <a:ext cx="5394960" cy="36576"/>
          </a:xfrm>
          <a:prstGeom prst="rect">
            <a:avLst/>
          </a:prstGeom>
          <a:solidFill>
            <a:srgbClr val="D5DB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373368" y="5276088"/>
            <a:ext cx="5394960" cy="1078992"/>
          </a:xfrm>
          <a:prstGeom prst="rect">
            <a:avLst/>
          </a:prstGeom>
          <a:noFill/>
        </p:spPr>
        <p:txBody>
          <a:bodyPr wrap="square">
            <a:spAutoFit/>
          </a:bodyPr>
          <a:lstStyle/>
          <a:p>
            <a:pPr algn="l"/>
            <a:r>
              <a:rPr sz="1150" b="0" i="0">
                <a:solidFill>
                  <a:srgbClr val="2C3E50"/>
                </a:solidFill>
              </a:rPr>
              <a:t>Conduct a formal accuracy study with mycologists at MDI Savar. Compare model grades with expert annotations for statistical validation and prepare results for journal publication.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88952" cy="749808"/>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49808"/>
            <a:ext cx="12188952" cy="50292"/>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91440"/>
            <a:ext cx="11521440" cy="566928"/>
          </a:xfrm>
          <a:prstGeom prst="rect">
            <a:avLst/>
          </a:prstGeom>
          <a:noFill/>
        </p:spPr>
        <p:txBody>
          <a:bodyPr wrap="square">
            <a:spAutoFit/>
          </a:bodyPr>
          <a:lstStyle/>
          <a:p>
            <a:pPr algn="l"/>
            <a:r>
              <a:rPr sz="2600" b="1" i="0">
                <a:solidFill>
                  <a:srgbClr val="FFFFFF"/>
                </a:solidFill>
              </a:rPr>
              <a:t>Conclusion</a:t>
            </a:r>
          </a:p>
        </p:txBody>
      </p:sp>
      <p:sp>
        <p:nvSpPr>
          <p:cNvPr id="5" name="Rectangle 4"/>
          <p:cNvSpPr/>
          <p:nvPr/>
        </p:nvSpPr>
        <p:spPr>
          <a:xfrm>
            <a:off x="274320" y="960120"/>
            <a:ext cx="11640312" cy="1261872"/>
          </a:xfrm>
          <a:prstGeom prst="rect">
            <a:avLst/>
          </a:prstGeom>
          <a:solidFill>
            <a:srgbClr val="E8F8F0"/>
          </a:solidFill>
          <a:ln w="6350">
            <a:solidFill>
              <a:srgbClr val="D5DB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960120"/>
            <a:ext cx="64008" cy="1261872"/>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1234440"/>
            <a:ext cx="502920" cy="502920"/>
          </a:xfrm>
          <a:prstGeom prst="rect">
            <a:avLst/>
          </a:prstGeom>
          <a:noFill/>
        </p:spPr>
        <p:txBody>
          <a:bodyPr wrap="square">
            <a:spAutoFit/>
          </a:bodyPr>
          <a:lstStyle/>
          <a:p>
            <a:pPr algn="ctr"/>
            <a:r>
              <a:rPr sz="1800" b="1" i="0">
                <a:solidFill>
                  <a:srgbClr val="27AE60"/>
                </a:solidFill>
              </a:rPr>
              <a:t>✓</a:t>
            </a:r>
          </a:p>
        </p:txBody>
      </p:sp>
      <p:sp>
        <p:nvSpPr>
          <p:cNvPr id="8" name="TextBox 7"/>
          <p:cNvSpPr txBox="1"/>
          <p:nvPr/>
        </p:nvSpPr>
        <p:spPr>
          <a:xfrm>
            <a:off x="1005840" y="1051560"/>
            <a:ext cx="10789920" cy="365760"/>
          </a:xfrm>
          <a:prstGeom prst="rect">
            <a:avLst/>
          </a:prstGeom>
          <a:noFill/>
        </p:spPr>
        <p:txBody>
          <a:bodyPr wrap="square">
            <a:spAutoFit/>
          </a:bodyPr>
          <a:lstStyle/>
          <a:p>
            <a:pPr algn="l"/>
            <a:r>
              <a:rPr sz="1400" b="1" i="0">
                <a:solidFill>
                  <a:srgbClr val="27AE60"/>
                </a:solidFill>
              </a:rPr>
              <a:t>First Ordinal Grading System for Mushroom Disease</a:t>
            </a:r>
          </a:p>
        </p:txBody>
      </p:sp>
      <p:sp>
        <p:nvSpPr>
          <p:cNvPr id="9" name="TextBox 8"/>
          <p:cNvSpPr txBox="1"/>
          <p:nvPr/>
        </p:nvSpPr>
        <p:spPr>
          <a:xfrm>
            <a:off x="1005840" y="1453896"/>
            <a:ext cx="10789920" cy="713232"/>
          </a:xfrm>
          <a:prstGeom prst="rect">
            <a:avLst/>
          </a:prstGeom>
          <a:noFill/>
        </p:spPr>
        <p:txBody>
          <a:bodyPr wrap="square">
            <a:spAutoFit/>
          </a:bodyPr>
          <a:lstStyle/>
          <a:p>
            <a:pPr algn="l"/>
            <a:r>
              <a:rPr sz="1200" b="0" i="0">
                <a:solidFill>
                  <a:srgbClr val="2C3E50"/>
                </a:solidFill>
              </a:rPr>
              <a:t>We built the first system that classifies substrate bag contamination as Grade 0 (Healthy), Grade 1 (Single Infected), or Grade 2 (Mixed Infected) — addressing a severity dimension absent from all related work.</a:t>
            </a:r>
          </a:p>
        </p:txBody>
      </p:sp>
      <p:sp>
        <p:nvSpPr>
          <p:cNvPr id="10" name="Rectangle 9"/>
          <p:cNvSpPr/>
          <p:nvPr/>
        </p:nvSpPr>
        <p:spPr>
          <a:xfrm>
            <a:off x="274320" y="2377440"/>
            <a:ext cx="11640312" cy="1261872"/>
          </a:xfrm>
          <a:prstGeom prst="rect">
            <a:avLst/>
          </a:prstGeom>
          <a:solidFill>
            <a:srgbClr val="EBF0F7"/>
          </a:solidFill>
          <a:ln w="6350">
            <a:solidFill>
              <a:srgbClr val="D5DB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74320" y="2377440"/>
            <a:ext cx="64008" cy="126187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1480" y="2651760"/>
            <a:ext cx="502920" cy="502920"/>
          </a:xfrm>
          <a:prstGeom prst="rect">
            <a:avLst/>
          </a:prstGeom>
          <a:noFill/>
        </p:spPr>
        <p:txBody>
          <a:bodyPr wrap="square">
            <a:spAutoFit/>
          </a:bodyPr>
          <a:lstStyle/>
          <a:p>
            <a:pPr algn="ctr"/>
            <a:r>
              <a:rPr sz="1800" b="1" i="0">
                <a:solidFill>
                  <a:srgbClr val="1B3A5C"/>
                </a:solidFill>
              </a:rPr>
              <a:t>✓</a:t>
            </a:r>
          </a:p>
        </p:txBody>
      </p:sp>
      <p:sp>
        <p:nvSpPr>
          <p:cNvPr id="13" name="TextBox 12"/>
          <p:cNvSpPr txBox="1"/>
          <p:nvPr/>
        </p:nvSpPr>
        <p:spPr>
          <a:xfrm>
            <a:off x="1005840" y="2468880"/>
            <a:ext cx="10789920" cy="365760"/>
          </a:xfrm>
          <a:prstGeom prst="rect">
            <a:avLst/>
          </a:prstGeom>
          <a:noFill/>
        </p:spPr>
        <p:txBody>
          <a:bodyPr wrap="square">
            <a:spAutoFit/>
          </a:bodyPr>
          <a:lstStyle/>
          <a:p>
            <a:pPr algn="l"/>
            <a:r>
              <a:rPr sz="1400" b="1" i="0">
                <a:solidFill>
                  <a:srgbClr val="1B3A5C"/>
                </a:solidFill>
              </a:rPr>
              <a:t>CORN Loss Outperforms Softmax by +10.25%</a:t>
            </a:r>
          </a:p>
        </p:txBody>
      </p:sp>
      <p:sp>
        <p:nvSpPr>
          <p:cNvPr id="14" name="TextBox 13"/>
          <p:cNvSpPr txBox="1"/>
          <p:nvPr/>
        </p:nvSpPr>
        <p:spPr>
          <a:xfrm>
            <a:off x="1005840" y="2871216"/>
            <a:ext cx="10789920" cy="713232"/>
          </a:xfrm>
          <a:prstGeom prst="rect">
            <a:avLst/>
          </a:prstGeom>
          <a:noFill/>
        </p:spPr>
        <p:txBody>
          <a:bodyPr wrap="square">
            <a:spAutoFit/>
          </a:bodyPr>
          <a:lstStyle/>
          <a:p>
            <a:pPr algn="l"/>
            <a:r>
              <a:rPr sz="1200" b="0" i="0">
                <a:solidFill>
                  <a:srgbClr val="2C3E50"/>
                </a:solidFill>
              </a:rPr>
              <a:t>EfficientNetV2S with CORN ordinal loss achieved 88.03% test accuracy vs. 77.78% with standard cross-entropy. Ordinal structure improves generalisation by encoding the severity relationship between classes.</a:t>
            </a:r>
          </a:p>
        </p:txBody>
      </p:sp>
      <p:sp>
        <p:nvSpPr>
          <p:cNvPr id="15" name="Rectangle 14"/>
          <p:cNvSpPr/>
          <p:nvPr/>
        </p:nvSpPr>
        <p:spPr>
          <a:xfrm>
            <a:off x="274320" y="3794760"/>
            <a:ext cx="11640312" cy="1261872"/>
          </a:xfrm>
          <a:prstGeom prst="rect">
            <a:avLst/>
          </a:prstGeom>
          <a:solidFill>
            <a:srgbClr val="E8F8F0"/>
          </a:solidFill>
          <a:ln w="6350">
            <a:solidFill>
              <a:srgbClr val="D5DB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74320" y="3794760"/>
            <a:ext cx="64008" cy="1261872"/>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11480" y="4069080"/>
            <a:ext cx="502920" cy="502920"/>
          </a:xfrm>
          <a:prstGeom prst="rect">
            <a:avLst/>
          </a:prstGeom>
          <a:noFill/>
        </p:spPr>
        <p:txBody>
          <a:bodyPr wrap="square">
            <a:spAutoFit/>
          </a:bodyPr>
          <a:lstStyle/>
          <a:p>
            <a:pPr algn="ctr"/>
            <a:r>
              <a:rPr sz="1800" b="1" i="0">
                <a:solidFill>
                  <a:srgbClr val="27AE60"/>
                </a:solidFill>
              </a:rPr>
              <a:t>✓</a:t>
            </a:r>
          </a:p>
        </p:txBody>
      </p:sp>
      <p:sp>
        <p:nvSpPr>
          <p:cNvPr id="18" name="TextBox 17"/>
          <p:cNvSpPr txBox="1"/>
          <p:nvPr/>
        </p:nvSpPr>
        <p:spPr>
          <a:xfrm>
            <a:off x="1005840" y="3886200"/>
            <a:ext cx="10789920" cy="365760"/>
          </a:xfrm>
          <a:prstGeom prst="rect">
            <a:avLst/>
          </a:prstGeom>
          <a:noFill/>
        </p:spPr>
        <p:txBody>
          <a:bodyPr wrap="square">
            <a:spAutoFit/>
          </a:bodyPr>
          <a:lstStyle/>
          <a:p>
            <a:pPr algn="l"/>
            <a:r>
              <a:rPr sz="1400" b="1" i="0">
                <a:solidFill>
                  <a:srgbClr val="27AE60"/>
                </a:solidFill>
              </a:rPr>
              <a:t>Integrated Advisory System Deployed</a:t>
            </a:r>
          </a:p>
        </p:txBody>
      </p:sp>
      <p:sp>
        <p:nvSpPr>
          <p:cNvPr id="19" name="TextBox 18"/>
          <p:cNvSpPr txBox="1"/>
          <p:nvPr/>
        </p:nvSpPr>
        <p:spPr>
          <a:xfrm>
            <a:off x="1005840" y="4288536"/>
            <a:ext cx="10789920" cy="713232"/>
          </a:xfrm>
          <a:prstGeom prst="rect">
            <a:avLst/>
          </a:prstGeom>
          <a:noFill/>
        </p:spPr>
        <p:txBody>
          <a:bodyPr wrap="square">
            <a:spAutoFit/>
          </a:bodyPr>
          <a:lstStyle/>
          <a:p>
            <a:pPr algn="l"/>
            <a:r>
              <a:rPr sz="1200" b="0" i="0">
                <a:solidFill>
                  <a:srgbClr val="2C3E50"/>
                </a:solidFill>
              </a:rPr>
              <a:t>A Streamlit web application combining disease detection (Grad-CAM), confidence scoring, and a RAG-powered expert chatbot provides end-to-end support from image upload to actionable farm management advice.</a:t>
            </a:r>
          </a:p>
        </p:txBody>
      </p:sp>
      <p:sp>
        <p:nvSpPr>
          <p:cNvPr id="20" name="Rectangle 19"/>
          <p:cNvSpPr/>
          <p:nvPr/>
        </p:nvSpPr>
        <p:spPr>
          <a:xfrm>
            <a:off x="274320" y="5212080"/>
            <a:ext cx="11640312" cy="1261872"/>
          </a:xfrm>
          <a:prstGeom prst="rect">
            <a:avLst/>
          </a:prstGeom>
          <a:solidFill>
            <a:srgbClr val="EBF0F7"/>
          </a:solidFill>
          <a:ln w="6350">
            <a:solidFill>
              <a:srgbClr val="D5DB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74320" y="5212080"/>
            <a:ext cx="64008" cy="126187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11480" y="5486400"/>
            <a:ext cx="502920" cy="502920"/>
          </a:xfrm>
          <a:prstGeom prst="rect">
            <a:avLst/>
          </a:prstGeom>
          <a:noFill/>
        </p:spPr>
        <p:txBody>
          <a:bodyPr wrap="square">
            <a:spAutoFit/>
          </a:bodyPr>
          <a:lstStyle/>
          <a:p>
            <a:pPr algn="ctr"/>
            <a:r>
              <a:rPr sz="1800" b="1" i="0">
                <a:solidFill>
                  <a:srgbClr val="1B3A5C"/>
                </a:solidFill>
              </a:rPr>
              <a:t>✓</a:t>
            </a:r>
          </a:p>
        </p:txBody>
      </p:sp>
      <p:sp>
        <p:nvSpPr>
          <p:cNvPr id="23" name="TextBox 22"/>
          <p:cNvSpPr txBox="1"/>
          <p:nvPr/>
        </p:nvSpPr>
        <p:spPr>
          <a:xfrm>
            <a:off x="1005840" y="5303520"/>
            <a:ext cx="10789920" cy="365760"/>
          </a:xfrm>
          <a:prstGeom prst="rect">
            <a:avLst/>
          </a:prstGeom>
          <a:noFill/>
        </p:spPr>
        <p:txBody>
          <a:bodyPr wrap="square">
            <a:spAutoFit/>
          </a:bodyPr>
          <a:lstStyle/>
          <a:p>
            <a:pPr algn="l"/>
            <a:r>
              <a:rPr sz="1400" b="1" i="0">
                <a:solidFill>
                  <a:srgbClr val="1B3A5C"/>
                </a:solidFill>
              </a:rPr>
              <a:t>Real Dataset from Bangladesh</a:t>
            </a:r>
          </a:p>
        </p:txBody>
      </p:sp>
      <p:sp>
        <p:nvSpPr>
          <p:cNvPr id="24" name="TextBox 23"/>
          <p:cNvSpPr txBox="1"/>
          <p:nvPr/>
        </p:nvSpPr>
        <p:spPr>
          <a:xfrm>
            <a:off x="1005840" y="5705856"/>
            <a:ext cx="10789920" cy="713232"/>
          </a:xfrm>
          <a:prstGeom prst="rect">
            <a:avLst/>
          </a:prstGeom>
          <a:noFill/>
        </p:spPr>
        <p:txBody>
          <a:bodyPr wrap="square">
            <a:spAutoFit/>
          </a:bodyPr>
          <a:lstStyle/>
          <a:p>
            <a:pPr algn="l"/>
            <a:r>
              <a:rPr sz="1200" b="0" i="0">
                <a:solidFill>
                  <a:srgbClr val="2C3E50"/>
                </a:solidFill>
              </a:rPr>
              <a:t>761 images captured at MDI Savar, Dhaka — a real operational mushroom farm. This dataset, with its novel Mixed Infected class, is a contribution to the community and forms the basis for future clinical validation.</a:t>
            </a:r>
          </a:p>
        </p:txBody>
      </p:sp>
      <p:sp>
        <p:nvSpPr>
          <p:cNvPr id="25" name="Rectangle 24"/>
          <p:cNvSpPr/>
          <p:nvPr/>
        </p:nvSpPr>
        <p:spPr>
          <a:xfrm>
            <a:off x="274320" y="6565392"/>
            <a:ext cx="11640312" cy="237744"/>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11480" y="6583680"/>
            <a:ext cx="11338560" cy="201168"/>
          </a:xfrm>
          <a:prstGeom prst="rect">
            <a:avLst/>
          </a:prstGeom>
          <a:noFill/>
        </p:spPr>
        <p:txBody>
          <a:bodyPr wrap="square">
            <a:spAutoFit/>
          </a:bodyPr>
          <a:lstStyle/>
          <a:p>
            <a:pPr algn="ctr"/>
            <a:r>
              <a:rPr sz="1100" b="1" i="0">
                <a:solidFill>
                  <a:srgbClr val="FFFFFF"/>
                </a:solidFill>
              </a:rPr>
              <a:t>EfficientNetV2S + CORN  ·  88.03% Test Accuracy  ·  MAE 0.2393  ·  Streamlit App  ·  RAG Advisory  ·  RTX 5060 GPU</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88952" cy="749808"/>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49808"/>
            <a:ext cx="12188952" cy="50292"/>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91440"/>
            <a:ext cx="11521440" cy="566928"/>
          </a:xfrm>
          <a:prstGeom prst="rect">
            <a:avLst/>
          </a:prstGeom>
          <a:noFill/>
        </p:spPr>
        <p:txBody>
          <a:bodyPr wrap="square">
            <a:spAutoFit/>
          </a:bodyPr>
          <a:lstStyle/>
          <a:p>
            <a:pPr algn="l"/>
            <a:r>
              <a:rPr sz="2600" b="1" i="0">
                <a:solidFill>
                  <a:srgbClr val="FFFFFF"/>
                </a:solidFill>
              </a:rPr>
              <a:t>References</a:t>
            </a:r>
          </a:p>
        </p:txBody>
      </p:sp>
      <p:sp>
        <p:nvSpPr>
          <p:cNvPr id="5" name="Rectangle 4"/>
          <p:cNvSpPr/>
          <p:nvPr/>
        </p:nvSpPr>
        <p:spPr>
          <a:xfrm>
            <a:off x="274320" y="960120"/>
            <a:ext cx="475488" cy="566928"/>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1051560"/>
            <a:ext cx="475488" cy="384048"/>
          </a:xfrm>
          <a:prstGeom prst="rect">
            <a:avLst/>
          </a:prstGeom>
          <a:noFill/>
        </p:spPr>
        <p:txBody>
          <a:bodyPr wrap="square">
            <a:spAutoFit/>
          </a:bodyPr>
          <a:lstStyle/>
          <a:p>
            <a:pPr algn="ctr"/>
            <a:r>
              <a:rPr sz="1200" b="1" i="0">
                <a:solidFill>
                  <a:srgbClr val="FFFFFF"/>
                </a:solidFill>
              </a:rPr>
              <a:t>[1]</a:t>
            </a:r>
          </a:p>
        </p:txBody>
      </p:sp>
      <p:sp>
        <p:nvSpPr>
          <p:cNvPr id="7" name="Rectangle 6"/>
          <p:cNvSpPr/>
          <p:nvPr/>
        </p:nvSpPr>
        <p:spPr>
          <a:xfrm>
            <a:off x="795528" y="960120"/>
            <a:ext cx="11155680" cy="566928"/>
          </a:xfrm>
          <a:prstGeom prst="rect">
            <a:avLst/>
          </a:prstGeom>
          <a:solidFill>
            <a:srgbClr val="EBF0F7"/>
          </a:solidFill>
          <a:ln w="6350">
            <a:solidFill>
              <a:srgbClr val="D5DB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051560"/>
            <a:ext cx="10972800" cy="457200"/>
          </a:xfrm>
          <a:prstGeom prst="rect">
            <a:avLst/>
          </a:prstGeom>
          <a:noFill/>
        </p:spPr>
        <p:txBody>
          <a:bodyPr wrap="square">
            <a:spAutoFit/>
          </a:bodyPr>
          <a:lstStyle/>
          <a:p>
            <a:pPr algn="l"/>
            <a:r>
              <a:rPr sz="1150" b="0" i="0">
                <a:solidFill>
                  <a:srgbClr val="2C3E50"/>
                </a:solidFill>
              </a:rPr>
              <a:t>Vidanapathirana, D. et al. (2023). "Transfer Learning-Based Mushroom Disease Classification." IEEE Access. VGG16, ResNet50, InceptionV3 benchmarks.</a:t>
            </a:r>
          </a:p>
        </p:txBody>
      </p:sp>
      <p:sp>
        <p:nvSpPr>
          <p:cNvPr id="9" name="Rectangle 8"/>
          <p:cNvSpPr/>
          <p:nvPr/>
        </p:nvSpPr>
        <p:spPr>
          <a:xfrm>
            <a:off x="274320" y="1655064"/>
            <a:ext cx="475488" cy="566928"/>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1746504"/>
            <a:ext cx="475488" cy="384048"/>
          </a:xfrm>
          <a:prstGeom prst="rect">
            <a:avLst/>
          </a:prstGeom>
          <a:noFill/>
        </p:spPr>
        <p:txBody>
          <a:bodyPr wrap="square">
            <a:spAutoFit/>
          </a:bodyPr>
          <a:lstStyle/>
          <a:p>
            <a:pPr algn="ctr"/>
            <a:r>
              <a:rPr sz="1200" b="1" i="0">
                <a:solidFill>
                  <a:srgbClr val="FFFFFF"/>
                </a:solidFill>
              </a:rPr>
              <a:t>[2]</a:t>
            </a:r>
          </a:p>
        </p:txBody>
      </p:sp>
      <p:sp>
        <p:nvSpPr>
          <p:cNvPr id="11" name="Rectangle 10"/>
          <p:cNvSpPr/>
          <p:nvPr/>
        </p:nvSpPr>
        <p:spPr>
          <a:xfrm>
            <a:off x="795528" y="1655064"/>
            <a:ext cx="11155680" cy="566928"/>
          </a:xfrm>
          <a:prstGeom prst="rect">
            <a:avLst/>
          </a:prstGeom>
          <a:solidFill>
            <a:srgbClr val="EBF0F7"/>
          </a:solidFill>
          <a:ln w="6350">
            <a:solidFill>
              <a:srgbClr val="D5DB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1746504"/>
            <a:ext cx="10972800" cy="457200"/>
          </a:xfrm>
          <a:prstGeom prst="rect">
            <a:avLst/>
          </a:prstGeom>
          <a:noFill/>
        </p:spPr>
        <p:txBody>
          <a:bodyPr wrap="square">
            <a:spAutoFit/>
          </a:bodyPr>
          <a:lstStyle/>
          <a:p>
            <a:pPr algn="l"/>
            <a:r>
              <a:rPr sz="1150" b="0" i="0">
                <a:solidFill>
                  <a:srgbClr val="2C3E50"/>
                </a:solidFill>
              </a:rPr>
              <a:t>Wongpanya, P. et al. (2025). "Oyster Mushroom Disease Detection Using DenseNet201." Computers and Electronics in Agriculture. 92.5% accuracy.</a:t>
            </a:r>
          </a:p>
        </p:txBody>
      </p:sp>
      <p:sp>
        <p:nvSpPr>
          <p:cNvPr id="13" name="Rectangle 12"/>
          <p:cNvSpPr/>
          <p:nvPr/>
        </p:nvSpPr>
        <p:spPr>
          <a:xfrm>
            <a:off x="274320" y="2350008"/>
            <a:ext cx="475488" cy="566928"/>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4320" y="2441448"/>
            <a:ext cx="475488" cy="384048"/>
          </a:xfrm>
          <a:prstGeom prst="rect">
            <a:avLst/>
          </a:prstGeom>
          <a:noFill/>
        </p:spPr>
        <p:txBody>
          <a:bodyPr wrap="square">
            <a:spAutoFit/>
          </a:bodyPr>
          <a:lstStyle/>
          <a:p>
            <a:pPr algn="ctr"/>
            <a:r>
              <a:rPr sz="1200" b="1" i="0">
                <a:solidFill>
                  <a:srgbClr val="FFFFFF"/>
                </a:solidFill>
              </a:rPr>
              <a:t>[3]</a:t>
            </a:r>
          </a:p>
        </p:txBody>
      </p:sp>
      <p:sp>
        <p:nvSpPr>
          <p:cNvPr id="15" name="Rectangle 14"/>
          <p:cNvSpPr/>
          <p:nvPr/>
        </p:nvSpPr>
        <p:spPr>
          <a:xfrm>
            <a:off x="795528" y="2350008"/>
            <a:ext cx="11155680" cy="566928"/>
          </a:xfrm>
          <a:prstGeom prst="rect">
            <a:avLst/>
          </a:prstGeom>
          <a:solidFill>
            <a:srgbClr val="EBF0F7"/>
          </a:solidFill>
          <a:ln w="6350">
            <a:solidFill>
              <a:srgbClr val="D5DB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2441448"/>
            <a:ext cx="10972800" cy="457200"/>
          </a:xfrm>
          <a:prstGeom prst="rect">
            <a:avLst/>
          </a:prstGeom>
          <a:noFill/>
        </p:spPr>
        <p:txBody>
          <a:bodyPr wrap="square">
            <a:spAutoFit/>
          </a:bodyPr>
          <a:lstStyle/>
          <a:p>
            <a:pPr algn="l"/>
            <a:r>
              <a:rPr sz="1150" b="0" i="0">
                <a:solidFill>
                  <a:srgbClr val="2C3E50"/>
                </a:solidFill>
              </a:rPr>
              <a:t>Guragain, R. et al. (2024). "Mushroom Disease Classification with Custom CNN and DenseNet." Applied Sciences. 98.33% accuracy on controlled dataset.</a:t>
            </a:r>
          </a:p>
        </p:txBody>
      </p:sp>
      <p:sp>
        <p:nvSpPr>
          <p:cNvPr id="17" name="Rectangle 16"/>
          <p:cNvSpPr/>
          <p:nvPr/>
        </p:nvSpPr>
        <p:spPr>
          <a:xfrm>
            <a:off x="274320" y="3044952"/>
            <a:ext cx="475488" cy="566928"/>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4320" y="3136392"/>
            <a:ext cx="475488" cy="384048"/>
          </a:xfrm>
          <a:prstGeom prst="rect">
            <a:avLst/>
          </a:prstGeom>
          <a:noFill/>
        </p:spPr>
        <p:txBody>
          <a:bodyPr wrap="square">
            <a:spAutoFit/>
          </a:bodyPr>
          <a:lstStyle/>
          <a:p>
            <a:pPr algn="ctr"/>
            <a:r>
              <a:rPr sz="1200" b="1" i="0">
                <a:solidFill>
                  <a:srgbClr val="FFFFFF"/>
                </a:solidFill>
              </a:rPr>
              <a:t>[4]</a:t>
            </a:r>
          </a:p>
        </p:txBody>
      </p:sp>
      <p:sp>
        <p:nvSpPr>
          <p:cNvPr id="19" name="Rectangle 18"/>
          <p:cNvSpPr/>
          <p:nvPr/>
        </p:nvSpPr>
        <p:spPr>
          <a:xfrm>
            <a:off x="795528" y="3044952"/>
            <a:ext cx="11155680" cy="566928"/>
          </a:xfrm>
          <a:prstGeom prst="rect">
            <a:avLst/>
          </a:prstGeom>
          <a:solidFill>
            <a:srgbClr val="EBF0F7"/>
          </a:solidFill>
          <a:ln w="6350">
            <a:solidFill>
              <a:srgbClr val="D5DB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3136392"/>
            <a:ext cx="10972800" cy="457200"/>
          </a:xfrm>
          <a:prstGeom prst="rect">
            <a:avLst/>
          </a:prstGeom>
          <a:noFill/>
        </p:spPr>
        <p:txBody>
          <a:bodyPr wrap="square">
            <a:spAutoFit/>
          </a:bodyPr>
          <a:lstStyle/>
          <a:p>
            <a:pPr algn="l"/>
            <a:r>
              <a:rPr sz="1150" b="0" i="0">
                <a:solidFill>
                  <a:srgbClr val="2C3E50"/>
                </a:solidFill>
              </a:rPr>
              <a:t>Shilpashree, B. M. et al. (2025). "YOLOv5-Based Mushroom Disease Detection." Pattern Recognition Letters. 90% detection accuracy.</a:t>
            </a:r>
          </a:p>
        </p:txBody>
      </p:sp>
      <p:sp>
        <p:nvSpPr>
          <p:cNvPr id="21" name="Rectangle 20"/>
          <p:cNvSpPr/>
          <p:nvPr/>
        </p:nvSpPr>
        <p:spPr>
          <a:xfrm>
            <a:off x="274320" y="3739896"/>
            <a:ext cx="475488" cy="566928"/>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74320" y="3831335"/>
            <a:ext cx="475488" cy="384048"/>
          </a:xfrm>
          <a:prstGeom prst="rect">
            <a:avLst/>
          </a:prstGeom>
          <a:noFill/>
        </p:spPr>
        <p:txBody>
          <a:bodyPr wrap="square">
            <a:spAutoFit/>
          </a:bodyPr>
          <a:lstStyle/>
          <a:p>
            <a:pPr algn="ctr"/>
            <a:r>
              <a:rPr sz="1200" b="1" i="0">
                <a:solidFill>
                  <a:srgbClr val="FFFFFF"/>
                </a:solidFill>
              </a:rPr>
              <a:t>[5]</a:t>
            </a:r>
          </a:p>
        </p:txBody>
      </p:sp>
      <p:sp>
        <p:nvSpPr>
          <p:cNvPr id="23" name="Rectangle 22"/>
          <p:cNvSpPr/>
          <p:nvPr/>
        </p:nvSpPr>
        <p:spPr>
          <a:xfrm>
            <a:off x="795528" y="3739896"/>
            <a:ext cx="11155680" cy="566928"/>
          </a:xfrm>
          <a:prstGeom prst="rect">
            <a:avLst/>
          </a:prstGeom>
          <a:solidFill>
            <a:srgbClr val="EBF0F7"/>
          </a:solidFill>
          <a:ln w="6350">
            <a:solidFill>
              <a:srgbClr val="D5DB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3831335"/>
            <a:ext cx="10972800" cy="457200"/>
          </a:xfrm>
          <a:prstGeom prst="rect">
            <a:avLst/>
          </a:prstGeom>
          <a:noFill/>
        </p:spPr>
        <p:txBody>
          <a:bodyPr wrap="square">
            <a:spAutoFit/>
          </a:bodyPr>
          <a:lstStyle/>
          <a:p>
            <a:pPr algn="l"/>
            <a:r>
              <a:rPr sz="1150" b="0" i="0">
                <a:solidFill>
                  <a:srgbClr val="2C3E50"/>
                </a:solidFill>
              </a:rPr>
              <a:t>Cao, W. et al. (2020). "Rank Consistent Ordinal Regression for Neural Networks (CORN)." Pattern Recognition Letters. Ordinal regression loss function.</a:t>
            </a:r>
          </a:p>
        </p:txBody>
      </p:sp>
      <p:sp>
        <p:nvSpPr>
          <p:cNvPr id="25" name="Rectangle 24"/>
          <p:cNvSpPr/>
          <p:nvPr/>
        </p:nvSpPr>
        <p:spPr>
          <a:xfrm>
            <a:off x="274320" y="4434840"/>
            <a:ext cx="475488" cy="566928"/>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74320" y="4526279"/>
            <a:ext cx="475488" cy="384048"/>
          </a:xfrm>
          <a:prstGeom prst="rect">
            <a:avLst/>
          </a:prstGeom>
          <a:noFill/>
        </p:spPr>
        <p:txBody>
          <a:bodyPr wrap="square">
            <a:spAutoFit/>
          </a:bodyPr>
          <a:lstStyle/>
          <a:p>
            <a:pPr algn="ctr"/>
            <a:r>
              <a:rPr sz="1200" b="1" i="0">
                <a:solidFill>
                  <a:srgbClr val="FFFFFF"/>
                </a:solidFill>
              </a:rPr>
              <a:t>[6]</a:t>
            </a:r>
          </a:p>
        </p:txBody>
      </p:sp>
      <p:sp>
        <p:nvSpPr>
          <p:cNvPr id="27" name="Rectangle 26"/>
          <p:cNvSpPr/>
          <p:nvPr/>
        </p:nvSpPr>
        <p:spPr>
          <a:xfrm>
            <a:off x="795528" y="4434840"/>
            <a:ext cx="11155680" cy="566928"/>
          </a:xfrm>
          <a:prstGeom prst="rect">
            <a:avLst/>
          </a:prstGeom>
          <a:solidFill>
            <a:srgbClr val="EBF0F7"/>
          </a:solidFill>
          <a:ln w="6350">
            <a:solidFill>
              <a:srgbClr val="D5DB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4400" y="4526279"/>
            <a:ext cx="10972800" cy="457200"/>
          </a:xfrm>
          <a:prstGeom prst="rect">
            <a:avLst/>
          </a:prstGeom>
          <a:noFill/>
        </p:spPr>
        <p:txBody>
          <a:bodyPr wrap="square">
            <a:spAutoFit/>
          </a:bodyPr>
          <a:lstStyle/>
          <a:p>
            <a:pPr algn="l"/>
            <a:r>
              <a:rPr sz="1150" b="0" i="0">
                <a:solidFill>
                  <a:srgbClr val="2C3E50"/>
                </a:solidFill>
              </a:rPr>
              <a:t>Tan, M. &amp; Le, Q. (2021). "EfficientNetV2: Smaller Models and Faster Training." ICML 2021. Backbone architecture used in this work.</a:t>
            </a:r>
          </a:p>
        </p:txBody>
      </p:sp>
      <p:sp>
        <p:nvSpPr>
          <p:cNvPr id="29" name="Rectangle 28"/>
          <p:cNvSpPr/>
          <p:nvPr/>
        </p:nvSpPr>
        <p:spPr>
          <a:xfrm>
            <a:off x="274320" y="5129784"/>
            <a:ext cx="475488" cy="566928"/>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74320" y="5221224"/>
            <a:ext cx="475488" cy="384048"/>
          </a:xfrm>
          <a:prstGeom prst="rect">
            <a:avLst/>
          </a:prstGeom>
          <a:noFill/>
        </p:spPr>
        <p:txBody>
          <a:bodyPr wrap="square">
            <a:spAutoFit/>
          </a:bodyPr>
          <a:lstStyle/>
          <a:p>
            <a:pPr algn="ctr"/>
            <a:r>
              <a:rPr sz="1200" b="1" i="0">
                <a:solidFill>
                  <a:srgbClr val="FFFFFF"/>
                </a:solidFill>
              </a:rPr>
              <a:t>[7]</a:t>
            </a:r>
          </a:p>
        </p:txBody>
      </p:sp>
      <p:sp>
        <p:nvSpPr>
          <p:cNvPr id="31" name="Rectangle 30"/>
          <p:cNvSpPr/>
          <p:nvPr/>
        </p:nvSpPr>
        <p:spPr>
          <a:xfrm>
            <a:off x="795528" y="5129784"/>
            <a:ext cx="11155680" cy="566928"/>
          </a:xfrm>
          <a:prstGeom prst="rect">
            <a:avLst/>
          </a:prstGeom>
          <a:solidFill>
            <a:srgbClr val="EBF0F7"/>
          </a:solidFill>
          <a:ln w="6350">
            <a:solidFill>
              <a:srgbClr val="D5DB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14400" y="5221224"/>
            <a:ext cx="10972800" cy="457200"/>
          </a:xfrm>
          <a:prstGeom prst="rect">
            <a:avLst/>
          </a:prstGeom>
          <a:noFill/>
        </p:spPr>
        <p:txBody>
          <a:bodyPr wrap="square">
            <a:spAutoFit/>
          </a:bodyPr>
          <a:lstStyle/>
          <a:p>
            <a:pPr algn="l"/>
            <a:r>
              <a:rPr sz="1150" b="0" i="0">
                <a:solidFill>
                  <a:srgbClr val="2C3E50"/>
                </a:solidFill>
              </a:rPr>
              <a:t>Ho, J. et al. (2020). "Denoising Diffusion Probabilistic Models (DDPM)." NeurIPS 2020. Synthetic data augmentation method applied.</a:t>
            </a:r>
          </a:p>
        </p:txBody>
      </p:sp>
      <p:sp>
        <p:nvSpPr>
          <p:cNvPr id="33" name="Rectangle 32"/>
          <p:cNvSpPr/>
          <p:nvPr/>
        </p:nvSpPr>
        <p:spPr>
          <a:xfrm>
            <a:off x="274320" y="5824728"/>
            <a:ext cx="475488" cy="566928"/>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74320" y="5916168"/>
            <a:ext cx="475488" cy="384048"/>
          </a:xfrm>
          <a:prstGeom prst="rect">
            <a:avLst/>
          </a:prstGeom>
          <a:noFill/>
        </p:spPr>
        <p:txBody>
          <a:bodyPr wrap="square">
            <a:spAutoFit/>
          </a:bodyPr>
          <a:lstStyle/>
          <a:p>
            <a:pPr algn="ctr"/>
            <a:r>
              <a:rPr sz="1200" b="1" i="0">
                <a:solidFill>
                  <a:srgbClr val="FFFFFF"/>
                </a:solidFill>
              </a:rPr>
              <a:t>[8]</a:t>
            </a:r>
          </a:p>
        </p:txBody>
      </p:sp>
      <p:sp>
        <p:nvSpPr>
          <p:cNvPr id="35" name="Rectangle 34"/>
          <p:cNvSpPr/>
          <p:nvPr/>
        </p:nvSpPr>
        <p:spPr>
          <a:xfrm>
            <a:off x="795528" y="5824728"/>
            <a:ext cx="11155680" cy="566928"/>
          </a:xfrm>
          <a:prstGeom prst="rect">
            <a:avLst/>
          </a:prstGeom>
          <a:solidFill>
            <a:srgbClr val="EBF0F7"/>
          </a:solidFill>
          <a:ln w="6350">
            <a:solidFill>
              <a:srgbClr val="D5DB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14400" y="5916168"/>
            <a:ext cx="10972800" cy="457200"/>
          </a:xfrm>
          <a:prstGeom prst="rect">
            <a:avLst/>
          </a:prstGeom>
          <a:noFill/>
        </p:spPr>
        <p:txBody>
          <a:bodyPr wrap="square">
            <a:spAutoFit/>
          </a:bodyPr>
          <a:lstStyle/>
          <a:p>
            <a:pPr algn="l"/>
            <a:r>
              <a:rPr sz="1150" b="0" i="0">
                <a:solidFill>
                  <a:srgbClr val="2C3E50"/>
                </a:solidFill>
              </a:rPr>
              <a:t>Lewis, P. et al. (2020). "Retrieval-Augmented Generation (RAG) for Knowledge-Intensive NLP." NeurIPS 2020. Foundation of the advisory chatbot pipeline.</a:t>
            </a:r>
          </a:p>
        </p:txBody>
      </p:sp>
      <p:sp>
        <p:nvSpPr>
          <p:cNvPr id="37" name="Rectangle 36"/>
          <p:cNvSpPr/>
          <p:nvPr/>
        </p:nvSpPr>
        <p:spPr>
          <a:xfrm>
            <a:off x="274320" y="6565392"/>
            <a:ext cx="11640312" cy="237744"/>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65760" y="6583680"/>
            <a:ext cx="11430000" cy="201168"/>
          </a:xfrm>
          <a:prstGeom prst="rect">
            <a:avLst/>
          </a:prstGeom>
          <a:noFill/>
        </p:spPr>
        <p:txBody>
          <a:bodyPr wrap="square">
            <a:spAutoFit/>
          </a:bodyPr>
          <a:lstStyle/>
          <a:p>
            <a:pPr algn="ctr"/>
            <a:r>
              <a:rPr sz="1100" b="0" i="0">
                <a:solidFill>
                  <a:srgbClr val="ABC4DA"/>
                </a:solidFill>
              </a:rPr>
              <a:t>Nafis Karim · Susmita Goswami · Ridwan Siddique  |  CSE 499B  |  Supervisor: KAS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