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457200" cy="6638544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109728"/>
            <a:ext cx="54864" cy="6638544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10332720" cy="34747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097280"/>
            <a:ext cx="73152" cy="347472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Mushroom Disease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402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B98A"/>
                </a:solidFill>
              </a:rPr>
              <a:t>Deep Learning &amp; Transfer Learning on Real Farm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D6E0"/>
                </a:solidFill>
              </a:rPr>
              <a:t>Healthy  |  Single Infected  |  Mixed Infected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429000"/>
            <a:ext cx="9601200" cy="36576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478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Mushroom Development Institute, Savar, Dhaka, Bangladesh  |  April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136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761 Images   |   TensorFlow 2.x   |   Google Colab T4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D6E0"/>
                </a:solidFill>
              </a:rPr>
              <a:t>CPU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GPU Redo (Best)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937760"/>
            <a:ext cx="2377440" cy="64008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937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Custom CNN
85.84%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4937760"/>
            <a:ext cx="2377440" cy="64008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4937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InceptionV3
83.19%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937760"/>
            <a:ext cx="237744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37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ResNet50
92.92%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4937760"/>
            <a:ext cx="237744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9377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EfficientNetB3
90.27%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663440"/>
            <a:ext cx="36576" cy="109728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→  +7.08%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2976372" cy="36576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394960" cy="53949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394960" cy="41148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761 total images  (JPG, iPhone 11 Pro Max)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Location: MDI, Savar, Dhaka, Bangladesh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Captured: April 2025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CLASS DISTRIBUTION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Healthy           →  299 images  (39.3%)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Single Infected   →  147 images  (19.3%)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Mixed Infected    →  315 images  (41.4%)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Imbalance ratio: 2.14×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STRATIFIED SPLIT  (70 / 15 / 15)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Train  →  531  (augmented to 2,400)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Val    →  113 images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Test   →  117 images  (held out)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Novel: Mixed Infected class not in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   any of the 4 reference papers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669280" cy="539496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669280" cy="4114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05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 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PHASE 1 — Data Preparation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Audit 761 images (0 corrupt found)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Stratified 70/15/15 split per class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PHASE 2 — Augmentation (9 techniques)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Flip, Rotate ±30°, Zoom, Shear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Brightness, Contrast, Noise, Shift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531 → 2,400 training images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PHASE 3 — Transfer Learning Strategy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Stage 1: Freeze base, train head (15 ep)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Stage 2: Unfreeze last 50 layers (85 ep)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Focal Loss + Label Smoothing (0.1)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Warmup + Cosine LR Decay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Mixed Precision (fp16) on GPU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Batch size: 32  |  Optimizer: Adam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Accuracy Improvement: CPU Baseline → GPU Redo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6377940" cy="36576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394960" cy="4572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0"/>
                </a:solidFill>
              </a:rPr>
              <a:t>  Phase 3 CPU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394960" cy="621792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184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Custom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618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D1B2A"/>
                </a:solidFill>
              </a:rPr>
              <a:t>85.84%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08760"/>
            <a:ext cx="54864" cy="6217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67128"/>
            <a:ext cx="539496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768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InceptionV3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768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83.19%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25496"/>
            <a:ext cx="539496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352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DenseNet201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93522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73.45%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83864"/>
            <a:ext cx="539496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935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ResNet50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593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67.26%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142231"/>
            <a:ext cx="539496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519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EfficientNetB0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25195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44.25%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00600"/>
            <a:ext cx="539496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10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VGG16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910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SKIPPED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1005840"/>
            <a:ext cx="109728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1280160"/>
            <a:ext cx="1005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A261"/>
                </a:solidFill>
              </a:rPr>
              <a:t>Preprocessing
bug fixed
GPU training
Focal Loss
More epochs
Better head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1005840"/>
            <a:ext cx="512064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1005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  Phase 3 Redo (GPU — Colab T4)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1508760"/>
            <a:ext cx="5120640" cy="6217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16184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ResNet50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16184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D1B2A"/>
                </a:solidFill>
              </a:rPr>
              <a:t>92.92%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2167128"/>
            <a:ext cx="512064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22768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VGG16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227685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91.15%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2825496"/>
            <a:ext cx="512064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29352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EfficientNetB3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293522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90.27%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3483864"/>
            <a:ext cx="512064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0" y="35935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InceptionV3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3593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89.38%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4142231"/>
            <a:ext cx="512064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425195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DenseNet201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25195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87.61%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4800600"/>
            <a:ext cx="5120640" cy="62179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0" y="49103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Custom CNN v2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4910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69.91%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080760"/>
            <a:ext cx="11612880" cy="53035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1081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Best result improved from  85.84%  (Custom CNN, CPU)  →  92.92%  (ResNet50, GPU)    +7.08% improvement    Key fix: correct preprocessing for each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 &amp;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3259836" cy="36576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715000" cy="2514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7150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54864" cy="2514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15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Preprocessing Bug Fixed (+48% for EfficientNet)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36192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EfficientNetB0 got only 44.25% on CPU — it was receiving [0,1] inputs when it internally expects [0,255]. After fixing, EfficientNetB3 reached 90.27%. This was the single biggest accuracy gain in the project.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715000" cy="2514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005840"/>
            <a:ext cx="5715000" cy="54864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05840"/>
            <a:ext cx="54864" cy="251460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15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B98A"/>
                </a:solidFill>
              </a:rPr>
              <a:t>ResNet50 Emerged as Best Model (92.92%)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536192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Surprisingly, ResNet50 outperformed DenseNet201 (ref paper: 92.5%) on this dataset. Residual connections handle the small, visually similar classes (mold textures) well. With proper GPU training, transfer learning fully matched reference paper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715000" cy="2514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571500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54864" cy="2514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61"/>
                </a:solidFill>
              </a:rPr>
              <a:t>Mixed Infected Class is Novel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79392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None of the 4 reference papers (Vidanapathirana, Shilpashree, Wongpanya, Guragain) address a mixed contamination class. Our 3-class dataset from Bangladesh fills this gap and is directly applicable to real farm scenarios.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749039"/>
            <a:ext cx="5715000" cy="251460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49039"/>
            <a:ext cx="5715000" cy="54864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749039"/>
            <a:ext cx="54864" cy="251460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8587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4B9FF"/>
                </a:solidFill>
              </a:rPr>
              <a:t>Ensemble of Top-3 Models Expected ~94-95%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79392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Soft-voting ensemble of ResNet50 + VGG16 + EfficientNetB3 will be evaluated on the test set. Typically adds +2-3% over best single model. Full test set evaluation with confusion matrix, ROC-AUC and Grad-CAM is the next phase.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510528"/>
            <a:ext cx="11612880" cy="201168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19672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</a:rPr>
              <a:t>Framework: TensorFlow 2.19  |  GPU: Colab T4  |  Train: 2,400 imgs  |  Val: 113  |  Test: 117  |  Focal Loss + Warmup-Cosine LR + Mixed Precision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Research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3968496" cy="36576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904" y="1197864"/>
            <a:ext cx="1828800" cy="118872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828800" cy="118872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" y="1188720"/>
            <a:ext cx="329184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11704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B98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1545336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Raw Dataset
761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6362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B98A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1197864"/>
            <a:ext cx="1828800" cy="118872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9464" y="1143000"/>
            <a:ext cx="1828800" cy="118872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15184" y="1188720"/>
            <a:ext cx="329184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11704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4B9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1545336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Preprocessing
224×224 / RGB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156362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B98A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3751" y="1197864"/>
            <a:ext cx="1828800" cy="118872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18888" y="1143000"/>
            <a:ext cx="1828800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64607" y="1188720"/>
            <a:ext cx="329184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7" y="11704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261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7" y="1545336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Augmentation
2,400 imgs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7" y="156362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B98A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23175" y="1197864"/>
            <a:ext cx="1828800" cy="118872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68312" y="1143000"/>
            <a:ext cx="1828800" cy="1188720"/>
          </a:xfrm>
          <a:prstGeom prst="rect">
            <a:avLst/>
          </a:prstGeom>
          <a:solidFill>
            <a:srgbClr val="A2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14031" y="1188720"/>
            <a:ext cx="329184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1" y="11704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29BF8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1545336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GPU Training
6 Architectures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1563624"/>
            <a:ext cx="329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B98A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1197864"/>
            <a:ext cx="1828800" cy="118872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17736" y="1143000"/>
            <a:ext cx="1828800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63456" y="1188720"/>
            <a:ext cx="329184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117043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6" y="1545336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Evaluation
F1 / Grad-CAM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468880"/>
            <a:ext cx="1828800" cy="1417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2468880"/>
            <a:ext cx="1828800" cy="36576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258775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Healthy / Single /
Mixed folders
Folder-based labels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9464" y="2468880"/>
            <a:ext cx="1828800" cy="1417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69464" y="2468880"/>
            <a:ext cx="1828800" cy="36576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42616" y="258775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Resize + Normalize
RGB Conversion
PIL / OpenCV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888" y="2468880"/>
            <a:ext cx="1828800" cy="1417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18888" y="2468880"/>
            <a:ext cx="182880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258775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9 Augmentation
Techniques
Keras tf.data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68312" y="2468880"/>
            <a:ext cx="1828800" cy="1417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68312" y="2468880"/>
            <a:ext cx="1828800" cy="36576"/>
          </a:xfrm>
          <a:prstGeom prst="rect">
            <a:avLst/>
          </a:prstGeom>
          <a:solidFill>
            <a:srgbClr val="A2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41464" y="258775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Transfer Learning
2-stage fine-tune
Focal Loss + GPU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17736" y="2468880"/>
            <a:ext cx="1828800" cy="1417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17736" y="2468880"/>
            <a:ext cx="18288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2587752"/>
            <a:ext cx="1691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Test Set 117 imgs
Confusion Matrix
Grad-CAM Heatmap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114800"/>
            <a:ext cx="11521440" cy="36576"/>
          </a:xfrm>
          <a:prstGeom prst="rect">
            <a:avLst/>
          </a:prstGeom>
          <a:solidFill>
            <a:srgbClr val="2A3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224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B98A"/>
                </a:solidFill>
              </a:rPr>
              <a:t>Models Compared: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14600" y="4233672"/>
            <a:ext cx="1481328" cy="347472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14600" y="423367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Custom CNN v2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33087" y="4233672"/>
            <a:ext cx="1481328" cy="347472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33087" y="423367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EfficientNetB3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51576" y="4233672"/>
            <a:ext cx="1481328" cy="347472"/>
          </a:xfrm>
          <a:prstGeom prst="rect">
            <a:avLst/>
          </a:prstGeom>
          <a:solidFill>
            <a:srgbClr val="A2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51576" y="423367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DenseNet201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70064" y="4233672"/>
            <a:ext cx="1481328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70064" y="423367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InceptionV3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88552" y="4233672"/>
            <a:ext cx="1481328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423367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ResNet50 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07040" y="4233672"/>
            <a:ext cx="1481328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07040" y="423367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VGG16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754880"/>
            <a:ext cx="11521440" cy="1417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4754880"/>
            <a:ext cx="11521440" cy="36576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4846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Reference Papers: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52120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 Vidanapathirana et al. (2023) — VGG16 / ResNet50 / InceptionV3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5687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 Shilpashree et al. (2025) — YOLOv5 detection, 90% acc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52120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 Wongpanya et al. (2025) — DenseNet201, 92.5% acc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56875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 Guragain et al. (2024) — Custom CNN + DenseNet, 98.33% acc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Work: RAG-Based Mushroom Disease Q&amp;A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6944868" cy="36576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914400"/>
            <a:ext cx="11612880" cy="5029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4864" cy="50292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 Retrieval-Augmented Generation (RAG) agent that answers any question about mushroom diseases, recommends treatments, and integrates with the CNN classifier.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59" y="1572768"/>
            <a:ext cx="1828800" cy="91440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1828800" cy="914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08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User Query
or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1737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572768"/>
            <a:ext cx="1828800" cy="91440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1508760"/>
            <a:ext cx="18288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1508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CNN Classifier
(ResNet50)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737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1999" y="1572768"/>
            <a:ext cx="1828800" cy="91440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79" y="1508760"/>
            <a:ext cx="1828800" cy="91440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508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Vector DB
(ChromaDB)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7" y="1737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19" y="1572768"/>
            <a:ext cx="1828800" cy="91440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399" y="1508760"/>
            <a:ext cx="1828800" cy="914400"/>
          </a:xfrm>
          <a:prstGeom prst="rect">
            <a:avLst/>
          </a:prstGeom>
          <a:solidFill>
            <a:srgbClr val="A2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399" y="1508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LLM
(Claude API)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1737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1572768"/>
            <a:ext cx="1828800" cy="914400"/>
          </a:xfrm>
          <a:prstGeom prst="rect">
            <a:avLst/>
          </a:prstGeom>
          <a:solidFill>
            <a:srgbClr val="05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32519" y="1508760"/>
            <a:ext cx="1828800" cy="91440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19" y="1508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Answer +
Citations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78608"/>
            <a:ext cx="11612880" cy="34747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61518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A261"/>
                </a:solidFill>
              </a:rPr>
              <a:t>Knowledge Base:  4 reference papers (PDFs)  +  Disease descriptions  +  Treatment protocols  +  Phase 3/4 results  +  Farm management guides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017520"/>
            <a:ext cx="2743200" cy="32918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017520"/>
            <a:ext cx="2743200" cy="54864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017520"/>
            <a:ext cx="54864" cy="329184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063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B98A"/>
                </a:solidFill>
              </a:rPr>
              <a:t>Phase 1
Knowledge 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6118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Collect &amp; parse: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4 reference PDFs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Disease descriptions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Treatment guides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Our dataset results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4408" y="3017520"/>
            <a:ext cx="2743200" cy="32918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3017520"/>
            <a:ext cx="2743200" cy="54864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64408" y="3017520"/>
            <a:ext cx="54864" cy="329184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47288" y="3063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B9FF"/>
                </a:solidFill>
              </a:rPr>
              <a:t>Phase 2
Embed &amp; Index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47288" y="36118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Chunk documents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Generate embeddings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(sentence-transformers)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Store in ChromaDB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Build FAISS index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54496" y="3017520"/>
            <a:ext cx="2743200" cy="32918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4496" y="3017520"/>
            <a:ext cx="2743200" cy="54864"/>
          </a:xfrm>
          <a:prstGeom prst="rect">
            <a:avLst/>
          </a:prstGeom>
          <a:solidFill>
            <a:srgbClr val="A2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54496" y="3017520"/>
            <a:ext cx="54864" cy="3291840"/>
          </a:xfrm>
          <a:prstGeom prst="rect">
            <a:avLst/>
          </a:prstGeom>
          <a:solidFill>
            <a:srgbClr val="A2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3063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9BF8"/>
                </a:solidFill>
              </a:rPr>
              <a:t>Phase 3
RAG Pipeline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7376" y="36118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Query → Retrieve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Top-K similar chunks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Build LLM prompt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Call Claude API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Return grounded answer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44584" y="3017520"/>
            <a:ext cx="2743200" cy="32918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44584" y="3017520"/>
            <a:ext cx="274320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44584" y="3017520"/>
            <a:ext cx="54864" cy="3291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27464" y="3063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Phase 4
Streamlit App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7464" y="36118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Chat interface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Image upload → CNN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Grad-CAM overlay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Citation display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CD6E0"/>
                </a:solidFill>
              </a:rPr>
              <a:t>Export Q&amp;A report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464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B98A"/>
                </a:solidFill>
              </a:rPr>
              <a:t>Tech Stack:  Python  |  LangChain / LlamaIndex  |  ChromaDB / FAISS  |  sentence-transformers  |  Claude API (claude-sonnet-4-6)  | 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22960"/>
            <a:ext cx="3259836" cy="36576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5394960" cy="521208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394960" cy="41148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 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3-class mushroom disease classification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   successfully built end-to-end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CPU baseline: Custom CNN  85.84%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GPU redo:     ResNet50    92.92%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Improvement:  +7.08%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Root cause identified: preprocessing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   mismatch caused EfficientNet to fail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   (44% → 90% after fix)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Mixed Infected class is novel —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   not addressed in any reference paper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Real farm dataset from Bangladesh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   (761 images, MDI Savar, April 2025)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▸  Full test set evaluation pending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   (117 images, Phase 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669280" cy="5212080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66928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05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  NEXT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508760"/>
            <a:ext cx="54864" cy="7772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27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Phase 4 — Test Set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56231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Confusion matrix, ROC-AUC, per-class F1
Ensemble top-3 models (~94-95% expected)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423160"/>
            <a:ext cx="54864" cy="77724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414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B98A"/>
                </a:solidFill>
              </a:rPr>
              <a:t>Grad-CAM Visualisation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706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Heatmaps showing which regions the model
focuses on — validates mold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337560"/>
            <a:ext cx="54864" cy="77724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3558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B9FF"/>
                </a:solidFill>
              </a:rPr>
              <a:t>Streamlit Web App (Phase 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850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Upload image → prediction + confidence
Grad-CAM overlay for farmer 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251960"/>
            <a:ext cx="54864" cy="777240"/>
          </a:xfrm>
          <a:prstGeom prst="rect">
            <a:avLst/>
          </a:prstGeom>
          <a:solidFill>
            <a:srgbClr val="A29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270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29BF8"/>
                </a:solidFill>
              </a:rPr>
              <a:t>RAG Q&amp;A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994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LangChain + ChromaDB + Claude API
Answer any mushroom disease question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166360"/>
            <a:ext cx="54864" cy="777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184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Paper Writing &amp; Submission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51383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Document 6-model comparison, novel
Mixed class, GPU improvement story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309360"/>
            <a:ext cx="11612880" cy="438912"/>
          </a:xfrm>
          <a:prstGeom prst="rect">
            <a:avLst/>
          </a:prstGeom>
          <a:solidFill>
            <a:srgbClr val="1E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6309360"/>
            <a:ext cx="11612880" cy="45720"/>
          </a:xfrm>
          <a:prstGeom prst="rect">
            <a:avLst/>
          </a:prstGeom>
          <a:solidFill>
            <a:srgbClr val="1E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373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B98A"/>
                </a:solidFill>
              </a:rPr>
              <a:t>Best Model: ResNet50  92.92%  |  Dataset: MDI Savar, Dhaka 2025  |  TensorFlow 2.19  |  Colab T4 GPU  |  6 Models Trained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